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09" r:id="rId1"/>
  </p:sldMasterIdLst>
  <p:notesMasterIdLst>
    <p:notesMasterId r:id="rId54"/>
  </p:notesMasterIdLst>
  <p:sldIdLst>
    <p:sldId id="488" r:id="rId2"/>
    <p:sldId id="302" r:id="rId3"/>
    <p:sldId id="390" r:id="rId4"/>
    <p:sldId id="290" r:id="rId5"/>
    <p:sldId id="313" r:id="rId6"/>
    <p:sldId id="489" r:id="rId7"/>
    <p:sldId id="393" r:id="rId8"/>
    <p:sldId id="490" r:id="rId9"/>
    <p:sldId id="391" r:id="rId10"/>
    <p:sldId id="394" r:id="rId11"/>
    <p:sldId id="292" r:id="rId12"/>
    <p:sldId id="351" r:id="rId13"/>
    <p:sldId id="293" r:id="rId14"/>
    <p:sldId id="352" r:id="rId15"/>
    <p:sldId id="353" r:id="rId16"/>
    <p:sldId id="354" r:id="rId17"/>
    <p:sldId id="355" r:id="rId18"/>
    <p:sldId id="356" r:id="rId19"/>
    <p:sldId id="357" r:id="rId20"/>
    <p:sldId id="358" r:id="rId21"/>
    <p:sldId id="359" r:id="rId22"/>
    <p:sldId id="360" r:id="rId23"/>
    <p:sldId id="361" r:id="rId24"/>
    <p:sldId id="362" r:id="rId25"/>
    <p:sldId id="363" r:id="rId26"/>
    <p:sldId id="364" r:id="rId27"/>
    <p:sldId id="365" r:id="rId28"/>
    <p:sldId id="310" r:id="rId29"/>
    <p:sldId id="366" r:id="rId30"/>
    <p:sldId id="367" r:id="rId31"/>
    <p:sldId id="368" r:id="rId32"/>
    <p:sldId id="369" r:id="rId33"/>
    <p:sldId id="370" r:id="rId34"/>
    <p:sldId id="348" r:id="rId35"/>
    <p:sldId id="349" r:id="rId36"/>
    <p:sldId id="350" r:id="rId37"/>
    <p:sldId id="371" r:id="rId38"/>
    <p:sldId id="277" r:id="rId39"/>
    <p:sldId id="279" r:id="rId40"/>
    <p:sldId id="280" r:id="rId41"/>
    <p:sldId id="283" r:id="rId42"/>
    <p:sldId id="284" r:id="rId43"/>
    <p:sldId id="285" r:id="rId44"/>
    <p:sldId id="286" r:id="rId45"/>
    <p:sldId id="287" r:id="rId46"/>
    <p:sldId id="288" r:id="rId47"/>
    <p:sldId id="289" r:id="rId48"/>
    <p:sldId id="386" r:id="rId49"/>
    <p:sldId id="387" r:id="rId50"/>
    <p:sldId id="388" r:id="rId51"/>
    <p:sldId id="344" r:id="rId52"/>
    <p:sldId id="389" r:id="rId53"/>
  </p:sldIdLst>
  <p:sldSz cx="9144000" cy="6858000" type="screen4x3"/>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CEC9"/>
    <a:srgbClr val="FF9933"/>
    <a:srgbClr val="FF6600"/>
    <a:srgbClr val="00FF00"/>
    <a:srgbClr val="FFFF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197" autoAdjust="0"/>
  </p:normalViewPr>
  <p:slideViewPr>
    <p:cSldViewPr>
      <p:cViewPr varScale="1">
        <p:scale>
          <a:sx n="103" d="100"/>
          <a:sy n="103" d="100"/>
        </p:scale>
        <p:origin x="185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653D390-D64A-4AF9-86B9-346C73D313F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a:solidFill>
                  <a:schemeClr val="tx1"/>
                </a:solidFill>
              </a:defRPr>
            </a:lvl1pPr>
          </a:lstStyle>
          <a:p>
            <a:pPr>
              <a:defRPr/>
            </a:pPr>
            <a:endParaRPr lang="en-GB"/>
          </a:p>
        </p:txBody>
      </p:sp>
      <p:sp>
        <p:nvSpPr>
          <p:cNvPr id="3075" name="Rectangle 3">
            <a:extLst>
              <a:ext uri="{FF2B5EF4-FFF2-40B4-BE49-F238E27FC236}">
                <a16:creationId xmlns:a16="http://schemas.microsoft.com/office/drawing/2014/main" id="{9ED86755-AED7-4D8B-BA86-1AF0A110622B}"/>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solidFill>
                  <a:schemeClr val="tx1"/>
                </a:solidFill>
              </a:defRPr>
            </a:lvl1pPr>
          </a:lstStyle>
          <a:p>
            <a:pPr>
              <a:defRPr/>
            </a:pPr>
            <a:endParaRPr lang="en-GB"/>
          </a:p>
        </p:txBody>
      </p:sp>
      <p:sp>
        <p:nvSpPr>
          <p:cNvPr id="74756" name="Rectangle 4">
            <a:extLst>
              <a:ext uri="{FF2B5EF4-FFF2-40B4-BE49-F238E27FC236}">
                <a16:creationId xmlns:a16="http://schemas.microsoft.com/office/drawing/2014/main" id="{32CE1E0A-6E81-4363-A008-5AFDB9D376C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30737579-632D-4ED5-9714-94DF31C1E9B5}"/>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078" name="Rectangle 6">
            <a:extLst>
              <a:ext uri="{FF2B5EF4-FFF2-40B4-BE49-F238E27FC236}">
                <a16:creationId xmlns:a16="http://schemas.microsoft.com/office/drawing/2014/main" id="{73A3A18E-9B89-4C14-8792-C6DD50DF623F}"/>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a:solidFill>
                  <a:schemeClr val="tx1"/>
                </a:solidFill>
              </a:defRPr>
            </a:lvl1pPr>
          </a:lstStyle>
          <a:p>
            <a:pPr>
              <a:defRPr/>
            </a:pPr>
            <a:endParaRPr lang="en-GB"/>
          </a:p>
        </p:txBody>
      </p:sp>
      <p:sp>
        <p:nvSpPr>
          <p:cNvPr id="3079" name="Rectangle 7">
            <a:extLst>
              <a:ext uri="{FF2B5EF4-FFF2-40B4-BE49-F238E27FC236}">
                <a16:creationId xmlns:a16="http://schemas.microsoft.com/office/drawing/2014/main" id="{3BCA9D50-ECC1-4D1B-AC60-FCE2E5B25029}"/>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fld id="{1349C8C3-8B88-4412-9755-BAB53CFC3A9F}" type="slidenum">
              <a:rPr lang="en-GB" altLang="sr-Latn-RS"/>
              <a:pPr/>
              <a:t>‹#›</a:t>
            </a:fld>
            <a:endParaRPr lang="en-GB" altLang="sr-Latn-R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53400AD9-0F5D-E114-2589-A0040D513A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2DE0A59-7A52-4D62-9A97-8AD8EF6ADB54}" type="slidenum">
              <a:rPr lang="en-GB" altLang="sr-Latn-RS" smtClean="0"/>
              <a:pPr>
                <a:spcBef>
                  <a:spcPct val="0"/>
                </a:spcBef>
              </a:pPr>
              <a:t>11</a:t>
            </a:fld>
            <a:endParaRPr lang="en-GB" altLang="sr-Latn-RS"/>
          </a:p>
        </p:txBody>
      </p:sp>
      <p:sp>
        <p:nvSpPr>
          <p:cNvPr id="95235" name="Rectangle 2">
            <a:extLst>
              <a:ext uri="{FF2B5EF4-FFF2-40B4-BE49-F238E27FC236}">
                <a16:creationId xmlns:a16="http://schemas.microsoft.com/office/drawing/2014/main" id="{A696A4C0-DC94-6E2D-C5AC-28E05684A0D4}"/>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0867ED59-9467-251C-EA3C-B1C8A4F6C6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247A6F4C-4DD5-3CC8-53A2-FEF6A9D610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5CB2DD7-02A3-48E4-8A7E-0A7D5468B2D5}" type="slidenum">
              <a:rPr lang="en-GB" altLang="sr-Latn-RS" smtClean="0"/>
              <a:pPr>
                <a:spcBef>
                  <a:spcPct val="0"/>
                </a:spcBef>
              </a:pPr>
              <a:t>12</a:t>
            </a:fld>
            <a:endParaRPr lang="en-GB" altLang="sr-Latn-RS"/>
          </a:p>
        </p:txBody>
      </p:sp>
      <p:sp>
        <p:nvSpPr>
          <p:cNvPr id="97283" name="Rectangle 2">
            <a:extLst>
              <a:ext uri="{FF2B5EF4-FFF2-40B4-BE49-F238E27FC236}">
                <a16:creationId xmlns:a16="http://schemas.microsoft.com/office/drawing/2014/main" id="{5A4236A7-A198-DB40-EC65-4F9A151F3C0E}"/>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7A305D92-1B02-E1D3-D9FC-F94759B605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EE1C123E-DA27-21C7-29F7-59D33DA5ED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C9060BB-4774-4FEA-B0CC-5118033F938D}" type="slidenum">
              <a:rPr lang="en-GB" altLang="sr-Latn-RS" smtClean="0"/>
              <a:pPr>
                <a:spcBef>
                  <a:spcPct val="0"/>
                </a:spcBef>
              </a:pPr>
              <a:t>13</a:t>
            </a:fld>
            <a:endParaRPr lang="en-GB" altLang="sr-Latn-RS"/>
          </a:p>
        </p:txBody>
      </p:sp>
      <p:sp>
        <p:nvSpPr>
          <p:cNvPr id="99331" name="Rectangle 2">
            <a:extLst>
              <a:ext uri="{FF2B5EF4-FFF2-40B4-BE49-F238E27FC236}">
                <a16:creationId xmlns:a16="http://schemas.microsoft.com/office/drawing/2014/main" id="{6F610177-348F-D3C2-218A-934406A8BDAF}"/>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825D750E-16ED-6691-782F-B01005EFE2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6AFF0444-FA66-8D34-17D8-70A3C2BB85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9645B24-A316-4D36-BCC8-88F92975A1B6}" type="slidenum">
              <a:rPr lang="en-GB" altLang="sr-Latn-RS" smtClean="0"/>
              <a:pPr>
                <a:spcBef>
                  <a:spcPct val="0"/>
                </a:spcBef>
              </a:pPr>
              <a:t>14</a:t>
            </a:fld>
            <a:endParaRPr lang="en-GB" altLang="sr-Latn-RS"/>
          </a:p>
        </p:txBody>
      </p:sp>
      <p:sp>
        <p:nvSpPr>
          <p:cNvPr id="101379" name="Rectangle 2">
            <a:extLst>
              <a:ext uri="{FF2B5EF4-FFF2-40B4-BE49-F238E27FC236}">
                <a16:creationId xmlns:a16="http://schemas.microsoft.com/office/drawing/2014/main" id="{E759F06C-87A9-0D10-2586-081AC05A96A0}"/>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34E75790-5FFD-8023-5577-7065F90177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E8E35195-D02C-EED5-0DF2-6CE9FDDC13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5868987-C4DD-4DEA-8B58-40EF34B7F412}" type="slidenum">
              <a:rPr lang="en-GB" altLang="sr-Latn-RS" smtClean="0"/>
              <a:pPr>
                <a:spcBef>
                  <a:spcPct val="0"/>
                </a:spcBef>
              </a:pPr>
              <a:t>15</a:t>
            </a:fld>
            <a:endParaRPr lang="en-GB" altLang="sr-Latn-RS"/>
          </a:p>
        </p:txBody>
      </p:sp>
      <p:sp>
        <p:nvSpPr>
          <p:cNvPr id="103427" name="Rectangle 2">
            <a:extLst>
              <a:ext uri="{FF2B5EF4-FFF2-40B4-BE49-F238E27FC236}">
                <a16:creationId xmlns:a16="http://schemas.microsoft.com/office/drawing/2014/main" id="{63C088ED-1B31-4A00-E30C-6116E7EAE4BC}"/>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BE6D3A9A-FB36-210D-BAF0-95CD1D4693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52313C15-4A07-48FC-DCA8-7FB320A682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830205-C300-4720-9EA5-73367E5027A0}" type="slidenum">
              <a:rPr lang="en-GB" altLang="sr-Latn-RS" smtClean="0"/>
              <a:pPr>
                <a:spcBef>
                  <a:spcPct val="0"/>
                </a:spcBef>
              </a:pPr>
              <a:t>16</a:t>
            </a:fld>
            <a:endParaRPr lang="en-GB" altLang="sr-Latn-RS"/>
          </a:p>
        </p:txBody>
      </p:sp>
      <p:sp>
        <p:nvSpPr>
          <p:cNvPr id="105475" name="Rectangle 2">
            <a:extLst>
              <a:ext uri="{FF2B5EF4-FFF2-40B4-BE49-F238E27FC236}">
                <a16:creationId xmlns:a16="http://schemas.microsoft.com/office/drawing/2014/main" id="{92839B6C-FF41-D9FC-436B-3B2F9F8EC56C}"/>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DC06EDBC-4D7B-4B4E-00AA-BCA62CE347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A83A2554-4FBB-5698-9092-1BD6071E1D4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55D55D6-6439-47D2-9707-058F0B3CA34E}" type="slidenum">
              <a:rPr lang="en-GB" altLang="sr-Latn-RS" smtClean="0"/>
              <a:pPr>
                <a:spcBef>
                  <a:spcPct val="0"/>
                </a:spcBef>
              </a:pPr>
              <a:t>17</a:t>
            </a:fld>
            <a:endParaRPr lang="en-GB" altLang="sr-Latn-RS"/>
          </a:p>
        </p:txBody>
      </p:sp>
      <p:sp>
        <p:nvSpPr>
          <p:cNvPr id="107523" name="Rectangle 2">
            <a:extLst>
              <a:ext uri="{FF2B5EF4-FFF2-40B4-BE49-F238E27FC236}">
                <a16:creationId xmlns:a16="http://schemas.microsoft.com/office/drawing/2014/main" id="{DB72FEEE-72E7-E2E9-2F99-DB784C6ACC45}"/>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92A6339D-A245-8F99-28EF-129A4E76FD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5F568E83-3251-5C7F-0224-BFDD0CF86B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B36A14F-BFB0-41E9-886E-344E2414B26B}" type="slidenum">
              <a:rPr lang="en-GB" altLang="sr-Latn-RS" smtClean="0"/>
              <a:pPr>
                <a:spcBef>
                  <a:spcPct val="0"/>
                </a:spcBef>
              </a:pPr>
              <a:t>18</a:t>
            </a:fld>
            <a:endParaRPr lang="en-GB" altLang="sr-Latn-RS"/>
          </a:p>
        </p:txBody>
      </p:sp>
      <p:sp>
        <p:nvSpPr>
          <p:cNvPr id="109571" name="Rectangle 2">
            <a:extLst>
              <a:ext uri="{FF2B5EF4-FFF2-40B4-BE49-F238E27FC236}">
                <a16:creationId xmlns:a16="http://schemas.microsoft.com/office/drawing/2014/main" id="{E305396E-840A-B736-122A-949CB495BECA}"/>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9308B739-9404-F436-0DB8-205E41B344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FCAC06FB-8B23-072C-5BBF-00DDC62BC1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9F4E728-61AE-4E39-B7A3-28D392C974FE}" type="slidenum">
              <a:rPr lang="en-GB" altLang="sr-Latn-RS" smtClean="0"/>
              <a:pPr>
                <a:spcBef>
                  <a:spcPct val="0"/>
                </a:spcBef>
              </a:pPr>
              <a:t>19</a:t>
            </a:fld>
            <a:endParaRPr lang="en-GB" altLang="sr-Latn-RS"/>
          </a:p>
        </p:txBody>
      </p:sp>
      <p:sp>
        <p:nvSpPr>
          <p:cNvPr id="111619" name="Rectangle 2">
            <a:extLst>
              <a:ext uri="{FF2B5EF4-FFF2-40B4-BE49-F238E27FC236}">
                <a16:creationId xmlns:a16="http://schemas.microsoft.com/office/drawing/2014/main" id="{57B16680-F599-9EB6-E3C8-F8339BBEB2AB}"/>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D45CBDA8-BB01-9219-4726-AD38204AA8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9B09877D-6FB7-FB0F-7218-B9DFE40466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4FA9E8F-27C6-4C32-B7AB-ED285C3A5961}" type="slidenum">
              <a:rPr lang="en-GB" altLang="sr-Latn-RS" smtClean="0"/>
              <a:pPr>
                <a:spcBef>
                  <a:spcPct val="0"/>
                </a:spcBef>
              </a:pPr>
              <a:t>20</a:t>
            </a:fld>
            <a:endParaRPr lang="en-GB" altLang="sr-Latn-RS"/>
          </a:p>
        </p:txBody>
      </p:sp>
      <p:sp>
        <p:nvSpPr>
          <p:cNvPr id="113667" name="Rectangle 2">
            <a:extLst>
              <a:ext uri="{FF2B5EF4-FFF2-40B4-BE49-F238E27FC236}">
                <a16:creationId xmlns:a16="http://schemas.microsoft.com/office/drawing/2014/main" id="{7E03BA44-9E8B-93C0-1AE1-69B568654E20}"/>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9C0899D6-D76E-3AB6-8D89-20541A2995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140DFBC4-BADD-9AC8-1934-48A824D216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F4F67DF-BB5F-4D85-BE48-854E8D3DAC10}" type="slidenum">
              <a:rPr lang="en-GB" altLang="sr-Latn-RS" smtClean="0"/>
              <a:pPr>
                <a:spcBef>
                  <a:spcPct val="0"/>
                </a:spcBef>
              </a:pPr>
              <a:t>21</a:t>
            </a:fld>
            <a:endParaRPr lang="en-GB" altLang="sr-Latn-RS"/>
          </a:p>
        </p:txBody>
      </p:sp>
      <p:sp>
        <p:nvSpPr>
          <p:cNvPr id="115715" name="Rectangle 2">
            <a:extLst>
              <a:ext uri="{FF2B5EF4-FFF2-40B4-BE49-F238E27FC236}">
                <a16:creationId xmlns:a16="http://schemas.microsoft.com/office/drawing/2014/main" id="{1A91BB53-9CA5-FB25-259F-38A0EB97E62D}"/>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1FA93BF8-F8F7-633D-D8D2-EAC57213C3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9CCC02AA-AAB4-FBF5-99A6-E936571724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EF7C2B5-22B5-4D0E-9B18-43604A87ADE2}" type="slidenum">
              <a:rPr lang="en-GB" altLang="sr-Latn-RS" smtClean="0"/>
              <a:pPr>
                <a:spcBef>
                  <a:spcPct val="0"/>
                </a:spcBef>
              </a:pPr>
              <a:t>22</a:t>
            </a:fld>
            <a:endParaRPr lang="en-GB" altLang="sr-Latn-RS"/>
          </a:p>
        </p:txBody>
      </p:sp>
      <p:sp>
        <p:nvSpPr>
          <p:cNvPr id="117763" name="Rectangle 2">
            <a:extLst>
              <a:ext uri="{FF2B5EF4-FFF2-40B4-BE49-F238E27FC236}">
                <a16:creationId xmlns:a16="http://schemas.microsoft.com/office/drawing/2014/main" id="{FD12CEDD-20E2-CE50-2ED0-BBBA22DE5449}"/>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B43A78A0-2E1E-5D18-E2D7-CA7983FF8F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28158E0F-AFFF-CF3C-7DF0-03715893B6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8ABB578-0609-4D25-8C1D-8B910E4221CA}" type="slidenum">
              <a:rPr lang="en-GB" altLang="sr-Latn-RS" smtClean="0"/>
              <a:pPr>
                <a:spcBef>
                  <a:spcPct val="0"/>
                </a:spcBef>
              </a:pPr>
              <a:t>23</a:t>
            </a:fld>
            <a:endParaRPr lang="en-GB" altLang="sr-Latn-RS"/>
          </a:p>
        </p:txBody>
      </p:sp>
      <p:sp>
        <p:nvSpPr>
          <p:cNvPr id="119811" name="Rectangle 2">
            <a:extLst>
              <a:ext uri="{FF2B5EF4-FFF2-40B4-BE49-F238E27FC236}">
                <a16:creationId xmlns:a16="http://schemas.microsoft.com/office/drawing/2014/main" id="{7EAC9B34-5571-99E5-5A79-DBBE6439346A}"/>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0FBD8045-2D47-A253-21E7-96EF859906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1D2038BD-7451-ED30-5BDF-0BABCE8433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D39C6BB-8A5B-41C2-AA47-BC5CA1E76410}" type="slidenum">
              <a:rPr lang="en-GB" altLang="sr-Latn-RS" smtClean="0"/>
              <a:pPr>
                <a:spcBef>
                  <a:spcPct val="0"/>
                </a:spcBef>
              </a:pPr>
              <a:t>24</a:t>
            </a:fld>
            <a:endParaRPr lang="en-GB" altLang="sr-Latn-RS"/>
          </a:p>
        </p:txBody>
      </p:sp>
      <p:sp>
        <p:nvSpPr>
          <p:cNvPr id="121859" name="Rectangle 2">
            <a:extLst>
              <a:ext uri="{FF2B5EF4-FFF2-40B4-BE49-F238E27FC236}">
                <a16:creationId xmlns:a16="http://schemas.microsoft.com/office/drawing/2014/main" id="{809B99B3-9622-0C81-2DCD-1ED509D374B1}"/>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240BBF03-56CD-DE1E-1FA8-DE987E4E5B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1A91439B-D59C-8E7D-3B59-E181B3D5F4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2875FC8-BBC3-4F63-A0FA-78DA9611F81B}" type="slidenum">
              <a:rPr lang="en-GB" altLang="sr-Latn-RS" smtClean="0"/>
              <a:pPr>
                <a:spcBef>
                  <a:spcPct val="0"/>
                </a:spcBef>
              </a:pPr>
              <a:t>25</a:t>
            </a:fld>
            <a:endParaRPr lang="en-GB" altLang="sr-Latn-RS"/>
          </a:p>
        </p:txBody>
      </p:sp>
      <p:sp>
        <p:nvSpPr>
          <p:cNvPr id="123907" name="Rectangle 2">
            <a:extLst>
              <a:ext uri="{FF2B5EF4-FFF2-40B4-BE49-F238E27FC236}">
                <a16:creationId xmlns:a16="http://schemas.microsoft.com/office/drawing/2014/main" id="{8859EE58-ED87-9043-6602-24B12C33D5F2}"/>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0A3BA1D8-1993-E3B1-8785-F53F70640B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7A1B124E-D074-09B2-5CE8-81432BAB99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63C8704-9866-42BF-9C94-30293C87ADAE}" type="slidenum">
              <a:rPr lang="en-GB" altLang="sr-Latn-RS" smtClean="0"/>
              <a:pPr>
                <a:spcBef>
                  <a:spcPct val="0"/>
                </a:spcBef>
              </a:pPr>
              <a:t>26</a:t>
            </a:fld>
            <a:endParaRPr lang="en-GB" altLang="sr-Latn-RS"/>
          </a:p>
        </p:txBody>
      </p:sp>
      <p:sp>
        <p:nvSpPr>
          <p:cNvPr id="125955" name="Rectangle 2">
            <a:extLst>
              <a:ext uri="{FF2B5EF4-FFF2-40B4-BE49-F238E27FC236}">
                <a16:creationId xmlns:a16="http://schemas.microsoft.com/office/drawing/2014/main" id="{F92DE09C-E2AF-A609-1ECA-C68CE0461F40}"/>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32F27D37-C39B-BE00-39FB-9A60F781EF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480FCD5D-A775-1ADD-9FA3-58C57932BE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BD1DEC1-9C0B-4CA8-A996-33EC9B83AB73}" type="slidenum">
              <a:rPr lang="en-GB" altLang="sr-Latn-RS" smtClean="0"/>
              <a:pPr>
                <a:spcBef>
                  <a:spcPct val="0"/>
                </a:spcBef>
              </a:pPr>
              <a:t>27</a:t>
            </a:fld>
            <a:endParaRPr lang="en-GB" altLang="sr-Latn-RS"/>
          </a:p>
        </p:txBody>
      </p:sp>
      <p:sp>
        <p:nvSpPr>
          <p:cNvPr id="128003" name="Rectangle 2">
            <a:extLst>
              <a:ext uri="{FF2B5EF4-FFF2-40B4-BE49-F238E27FC236}">
                <a16:creationId xmlns:a16="http://schemas.microsoft.com/office/drawing/2014/main" id="{A5A39CA8-6FA4-778B-A093-F4EB1B0308E2}"/>
              </a:ext>
            </a:extLst>
          </p:cNvPr>
          <p:cNvSpPr>
            <a:spLocks noGrp="1" noRot="1" noChangeAspect="1" noChangeArrowheads="1" noTextEdit="1"/>
          </p:cNvSpPr>
          <p:nvPr>
            <p:ph type="sldImg"/>
          </p:nvPr>
        </p:nvSpPr>
        <p:spPr>
          <a:ln/>
        </p:spPr>
      </p:sp>
      <p:sp>
        <p:nvSpPr>
          <p:cNvPr id="128004" name="Rectangle 3">
            <a:extLst>
              <a:ext uri="{FF2B5EF4-FFF2-40B4-BE49-F238E27FC236}">
                <a16:creationId xmlns:a16="http://schemas.microsoft.com/office/drawing/2014/main" id="{6F676B97-0046-4AB4-0447-62CBDABB08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8908CDE6-B305-1DDC-973C-D0A0B73584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A2BECA0-DF52-4025-9055-E18C77877CF3}" type="slidenum">
              <a:rPr lang="en-GB" altLang="sr-Latn-RS" smtClean="0"/>
              <a:pPr>
                <a:spcBef>
                  <a:spcPct val="0"/>
                </a:spcBef>
              </a:pPr>
              <a:t>28</a:t>
            </a:fld>
            <a:endParaRPr lang="en-GB" altLang="sr-Latn-RS"/>
          </a:p>
        </p:txBody>
      </p:sp>
      <p:sp>
        <p:nvSpPr>
          <p:cNvPr id="130051" name="Rectangle 2">
            <a:extLst>
              <a:ext uri="{FF2B5EF4-FFF2-40B4-BE49-F238E27FC236}">
                <a16:creationId xmlns:a16="http://schemas.microsoft.com/office/drawing/2014/main" id="{0FDA433A-2788-2F1E-F7EC-1205B8597A2C}"/>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CECD062E-321C-6423-3703-CA9039C67F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D66C8FD7-28F9-FA46-0B83-6B12FFDAE6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206E6BE-E242-48B6-A09B-206249B8AE5B}" type="slidenum">
              <a:rPr lang="en-GB" altLang="sr-Latn-RS" smtClean="0"/>
              <a:pPr>
                <a:spcBef>
                  <a:spcPct val="0"/>
                </a:spcBef>
              </a:pPr>
              <a:t>29</a:t>
            </a:fld>
            <a:endParaRPr lang="en-GB" altLang="sr-Latn-RS"/>
          </a:p>
        </p:txBody>
      </p:sp>
      <p:sp>
        <p:nvSpPr>
          <p:cNvPr id="132099" name="Rectangle 2">
            <a:extLst>
              <a:ext uri="{FF2B5EF4-FFF2-40B4-BE49-F238E27FC236}">
                <a16:creationId xmlns:a16="http://schemas.microsoft.com/office/drawing/2014/main" id="{F0CC07C1-B5DA-92D2-38ED-0D62BF62BB3E}"/>
              </a:ext>
            </a:extLst>
          </p:cNvPr>
          <p:cNvSpPr>
            <a:spLocks noGrp="1" noRot="1" noChangeAspect="1" noChangeArrowheads="1" noTextEdit="1"/>
          </p:cNvSpPr>
          <p:nvPr>
            <p:ph type="sldImg"/>
          </p:nvPr>
        </p:nvSpPr>
        <p:spPr>
          <a:ln/>
        </p:spPr>
      </p:sp>
      <p:sp>
        <p:nvSpPr>
          <p:cNvPr id="132100" name="Rectangle 3">
            <a:extLst>
              <a:ext uri="{FF2B5EF4-FFF2-40B4-BE49-F238E27FC236}">
                <a16:creationId xmlns:a16="http://schemas.microsoft.com/office/drawing/2014/main" id="{6951B1D4-ED25-94D6-2E02-019216B5A3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4CBE77D2-799C-7577-B3C1-FC540D9FA2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85EEC5A-6853-4E4C-976A-B41FABF810DA}" type="slidenum">
              <a:rPr lang="en-GB" altLang="sr-Latn-RS" smtClean="0"/>
              <a:pPr>
                <a:spcBef>
                  <a:spcPct val="0"/>
                </a:spcBef>
              </a:pPr>
              <a:t>30</a:t>
            </a:fld>
            <a:endParaRPr lang="en-GB" altLang="sr-Latn-RS"/>
          </a:p>
        </p:txBody>
      </p:sp>
      <p:sp>
        <p:nvSpPr>
          <p:cNvPr id="134147" name="Rectangle 2">
            <a:extLst>
              <a:ext uri="{FF2B5EF4-FFF2-40B4-BE49-F238E27FC236}">
                <a16:creationId xmlns:a16="http://schemas.microsoft.com/office/drawing/2014/main" id="{DE614971-AC0B-C637-E3B9-BCE3C5DCECF5}"/>
              </a:ext>
            </a:extLst>
          </p:cNvPr>
          <p:cNvSpPr>
            <a:spLocks noGrp="1" noRot="1" noChangeAspect="1" noChangeArrowheads="1" noTextEdit="1"/>
          </p:cNvSpPr>
          <p:nvPr>
            <p:ph type="sldImg"/>
          </p:nvPr>
        </p:nvSpPr>
        <p:spPr>
          <a:ln/>
        </p:spPr>
      </p:sp>
      <p:sp>
        <p:nvSpPr>
          <p:cNvPr id="134148" name="Rectangle 3">
            <a:extLst>
              <a:ext uri="{FF2B5EF4-FFF2-40B4-BE49-F238E27FC236}">
                <a16:creationId xmlns:a16="http://schemas.microsoft.com/office/drawing/2014/main" id="{DD9041CA-F07E-634A-3863-0EABC99658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5FAD181A-67FB-3656-9350-77B509BEF8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73DF96B-8E05-41E7-8287-E785CE16B87A}" type="slidenum">
              <a:rPr lang="en-GB" altLang="sr-Latn-RS" smtClean="0"/>
              <a:pPr>
                <a:spcBef>
                  <a:spcPct val="0"/>
                </a:spcBef>
              </a:pPr>
              <a:t>31</a:t>
            </a:fld>
            <a:endParaRPr lang="en-GB" altLang="sr-Latn-RS"/>
          </a:p>
        </p:txBody>
      </p:sp>
      <p:sp>
        <p:nvSpPr>
          <p:cNvPr id="136195" name="Rectangle 2">
            <a:extLst>
              <a:ext uri="{FF2B5EF4-FFF2-40B4-BE49-F238E27FC236}">
                <a16:creationId xmlns:a16="http://schemas.microsoft.com/office/drawing/2014/main" id="{35B79160-0C24-3455-F68D-4021808880C3}"/>
              </a:ext>
            </a:extLst>
          </p:cNvPr>
          <p:cNvSpPr>
            <a:spLocks noGrp="1" noRot="1" noChangeAspect="1" noChangeArrowheads="1" noTextEdit="1"/>
          </p:cNvSpPr>
          <p:nvPr>
            <p:ph type="sldImg"/>
          </p:nvPr>
        </p:nvSpPr>
        <p:spPr>
          <a:ln/>
        </p:spPr>
      </p:sp>
      <p:sp>
        <p:nvSpPr>
          <p:cNvPr id="136196" name="Rectangle 3">
            <a:extLst>
              <a:ext uri="{FF2B5EF4-FFF2-40B4-BE49-F238E27FC236}">
                <a16:creationId xmlns:a16="http://schemas.microsoft.com/office/drawing/2014/main" id="{1DB9A42B-4BFD-749A-9B77-CCB8AF7100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6920FC99-86B1-3A78-AC95-E3036F5089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4209BA7-9CD3-41AE-8ACA-CE96368F42E6}" type="slidenum">
              <a:rPr lang="en-GB" altLang="sr-Latn-RS" smtClean="0"/>
              <a:pPr>
                <a:spcBef>
                  <a:spcPct val="0"/>
                </a:spcBef>
              </a:pPr>
              <a:t>32</a:t>
            </a:fld>
            <a:endParaRPr lang="en-GB" altLang="sr-Latn-RS"/>
          </a:p>
        </p:txBody>
      </p:sp>
      <p:sp>
        <p:nvSpPr>
          <p:cNvPr id="138243" name="Rectangle 2">
            <a:extLst>
              <a:ext uri="{FF2B5EF4-FFF2-40B4-BE49-F238E27FC236}">
                <a16:creationId xmlns:a16="http://schemas.microsoft.com/office/drawing/2014/main" id="{B163CFB2-E673-CD8B-1B75-C87CAAECAB66}"/>
              </a:ext>
            </a:extLst>
          </p:cNvPr>
          <p:cNvSpPr>
            <a:spLocks noGrp="1" noRot="1" noChangeAspect="1" noChangeArrowheads="1" noTextEdit="1"/>
          </p:cNvSpPr>
          <p:nvPr>
            <p:ph type="sldImg"/>
          </p:nvPr>
        </p:nvSpPr>
        <p:spPr>
          <a:ln/>
        </p:spPr>
      </p:sp>
      <p:sp>
        <p:nvSpPr>
          <p:cNvPr id="138244" name="Rectangle 3">
            <a:extLst>
              <a:ext uri="{FF2B5EF4-FFF2-40B4-BE49-F238E27FC236}">
                <a16:creationId xmlns:a16="http://schemas.microsoft.com/office/drawing/2014/main" id="{542D880A-00A3-B542-7781-6E961C01E2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253F593E-D28E-B977-6579-E4A3A0E914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995C6B0-610D-48DB-9E1A-27E94686C330}" type="slidenum">
              <a:rPr lang="en-GB" altLang="sr-Latn-RS" smtClean="0"/>
              <a:pPr>
                <a:spcBef>
                  <a:spcPct val="0"/>
                </a:spcBef>
              </a:pPr>
              <a:t>33</a:t>
            </a:fld>
            <a:endParaRPr lang="en-GB" altLang="sr-Latn-RS"/>
          </a:p>
        </p:txBody>
      </p:sp>
      <p:sp>
        <p:nvSpPr>
          <p:cNvPr id="140291" name="Rectangle 2">
            <a:extLst>
              <a:ext uri="{FF2B5EF4-FFF2-40B4-BE49-F238E27FC236}">
                <a16:creationId xmlns:a16="http://schemas.microsoft.com/office/drawing/2014/main" id="{52A2590E-0DA0-CB27-EF03-1B6A7EDBEBB4}"/>
              </a:ext>
            </a:extLst>
          </p:cNvPr>
          <p:cNvSpPr>
            <a:spLocks noGrp="1" noRot="1" noChangeAspect="1" noChangeArrowheads="1" noTextEdit="1"/>
          </p:cNvSpPr>
          <p:nvPr>
            <p:ph type="sldImg"/>
          </p:nvPr>
        </p:nvSpPr>
        <p:spPr>
          <a:ln/>
        </p:spPr>
      </p:sp>
      <p:sp>
        <p:nvSpPr>
          <p:cNvPr id="140292" name="Rectangle 3">
            <a:extLst>
              <a:ext uri="{FF2B5EF4-FFF2-40B4-BE49-F238E27FC236}">
                <a16:creationId xmlns:a16="http://schemas.microsoft.com/office/drawing/2014/main" id="{A10CC305-AAA8-DD11-4700-DE09B41576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02696146-E04C-DAF8-B244-7611B49D15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2D8959E-4BCD-4AF3-AF8D-0A7F9C4F094E}" type="slidenum">
              <a:rPr lang="en-GB" altLang="sr-Latn-RS" smtClean="0"/>
              <a:pPr>
                <a:spcBef>
                  <a:spcPct val="0"/>
                </a:spcBef>
              </a:pPr>
              <a:t>34</a:t>
            </a:fld>
            <a:endParaRPr lang="en-GB" altLang="sr-Latn-RS"/>
          </a:p>
        </p:txBody>
      </p:sp>
      <p:sp>
        <p:nvSpPr>
          <p:cNvPr id="142339" name="Rectangle 2">
            <a:extLst>
              <a:ext uri="{FF2B5EF4-FFF2-40B4-BE49-F238E27FC236}">
                <a16:creationId xmlns:a16="http://schemas.microsoft.com/office/drawing/2014/main" id="{5032DF7C-AD55-B610-0036-DD5532400A81}"/>
              </a:ext>
            </a:extLst>
          </p:cNvPr>
          <p:cNvSpPr>
            <a:spLocks noGrp="1" noRot="1" noChangeAspect="1" noChangeArrowheads="1" noTextEdit="1"/>
          </p:cNvSpPr>
          <p:nvPr>
            <p:ph type="sldImg"/>
          </p:nvPr>
        </p:nvSpPr>
        <p:spPr>
          <a:ln/>
        </p:spPr>
      </p:sp>
      <p:sp>
        <p:nvSpPr>
          <p:cNvPr id="142340" name="Rectangle 3">
            <a:extLst>
              <a:ext uri="{FF2B5EF4-FFF2-40B4-BE49-F238E27FC236}">
                <a16:creationId xmlns:a16="http://schemas.microsoft.com/office/drawing/2014/main" id="{E71BC1E6-96CF-442B-B55D-8BEE150DD4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2F64BDF5-66AA-857E-5D32-C8B32E9077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751D9E8-C819-4536-A56E-942F5C66C58F}" type="slidenum">
              <a:rPr lang="en-GB" altLang="sr-Latn-RS" smtClean="0"/>
              <a:pPr>
                <a:spcBef>
                  <a:spcPct val="0"/>
                </a:spcBef>
              </a:pPr>
              <a:t>35</a:t>
            </a:fld>
            <a:endParaRPr lang="en-GB" altLang="sr-Latn-RS"/>
          </a:p>
        </p:txBody>
      </p:sp>
      <p:sp>
        <p:nvSpPr>
          <p:cNvPr id="144387" name="Rectangle 2">
            <a:extLst>
              <a:ext uri="{FF2B5EF4-FFF2-40B4-BE49-F238E27FC236}">
                <a16:creationId xmlns:a16="http://schemas.microsoft.com/office/drawing/2014/main" id="{BB75C082-D43F-D06F-9F57-67D8E75701DB}"/>
              </a:ext>
            </a:extLst>
          </p:cNvPr>
          <p:cNvSpPr>
            <a:spLocks noGrp="1" noRot="1" noChangeAspect="1" noChangeArrowheads="1" noTextEdit="1"/>
          </p:cNvSpPr>
          <p:nvPr>
            <p:ph type="sldImg"/>
          </p:nvPr>
        </p:nvSpPr>
        <p:spPr>
          <a:ln/>
        </p:spPr>
      </p:sp>
      <p:sp>
        <p:nvSpPr>
          <p:cNvPr id="144388" name="Rectangle 3">
            <a:extLst>
              <a:ext uri="{FF2B5EF4-FFF2-40B4-BE49-F238E27FC236}">
                <a16:creationId xmlns:a16="http://schemas.microsoft.com/office/drawing/2014/main" id="{ED6B4271-9D08-CF47-C33B-B9E0824AD3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700C0898-4216-A3AB-6527-BAE3166D2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6B8A791-5D46-48E5-8C58-757B6ADBDD48}" type="slidenum">
              <a:rPr lang="en-GB" altLang="sr-Latn-RS" smtClean="0"/>
              <a:pPr>
                <a:spcBef>
                  <a:spcPct val="0"/>
                </a:spcBef>
              </a:pPr>
              <a:t>36</a:t>
            </a:fld>
            <a:endParaRPr lang="en-GB" altLang="sr-Latn-RS"/>
          </a:p>
        </p:txBody>
      </p:sp>
      <p:sp>
        <p:nvSpPr>
          <p:cNvPr id="146435" name="Rectangle 2">
            <a:extLst>
              <a:ext uri="{FF2B5EF4-FFF2-40B4-BE49-F238E27FC236}">
                <a16:creationId xmlns:a16="http://schemas.microsoft.com/office/drawing/2014/main" id="{CAF61BA7-C3A2-AF8E-76E3-247312D1EC7A}"/>
              </a:ext>
            </a:extLst>
          </p:cNvPr>
          <p:cNvSpPr>
            <a:spLocks noGrp="1" noRot="1" noChangeAspect="1" noChangeArrowheads="1" noTextEdit="1"/>
          </p:cNvSpPr>
          <p:nvPr>
            <p:ph type="sldImg"/>
          </p:nvPr>
        </p:nvSpPr>
        <p:spPr>
          <a:ln/>
        </p:spPr>
      </p:sp>
      <p:sp>
        <p:nvSpPr>
          <p:cNvPr id="146436" name="Rectangle 3">
            <a:extLst>
              <a:ext uri="{FF2B5EF4-FFF2-40B4-BE49-F238E27FC236}">
                <a16:creationId xmlns:a16="http://schemas.microsoft.com/office/drawing/2014/main" id="{833AE05D-9983-185A-A617-E4A353D89B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2B83E462-1EE1-47D8-A827-5C43D54AFE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208F22-32CD-42EA-A9D6-849EB478945C}" type="slidenum">
              <a:rPr lang="en-GB" altLang="sr-Latn-RS" smtClean="0"/>
              <a:pPr>
                <a:spcBef>
                  <a:spcPct val="0"/>
                </a:spcBef>
              </a:pPr>
              <a:t>37</a:t>
            </a:fld>
            <a:endParaRPr lang="en-GB" altLang="sr-Latn-RS"/>
          </a:p>
        </p:txBody>
      </p:sp>
      <p:sp>
        <p:nvSpPr>
          <p:cNvPr id="148483" name="Rectangle 2">
            <a:extLst>
              <a:ext uri="{FF2B5EF4-FFF2-40B4-BE49-F238E27FC236}">
                <a16:creationId xmlns:a16="http://schemas.microsoft.com/office/drawing/2014/main" id="{8E108138-8BB2-E56E-BD9C-7E393DA70852}"/>
              </a:ext>
            </a:extLst>
          </p:cNvPr>
          <p:cNvSpPr>
            <a:spLocks noGrp="1" noRot="1" noChangeAspect="1" noChangeArrowheads="1" noTextEdit="1"/>
          </p:cNvSpPr>
          <p:nvPr>
            <p:ph type="sldImg"/>
          </p:nvPr>
        </p:nvSpPr>
        <p:spPr>
          <a:ln/>
        </p:spPr>
      </p:sp>
      <p:sp>
        <p:nvSpPr>
          <p:cNvPr id="148484" name="Rectangle 3">
            <a:extLst>
              <a:ext uri="{FF2B5EF4-FFF2-40B4-BE49-F238E27FC236}">
                <a16:creationId xmlns:a16="http://schemas.microsoft.com/office/drawing/2014/main" id="{CC98FF92-BD13-F1AF-43C1-884EA9F806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hr-HR" altLang="sr-Latn-R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9DA5C0A3-68C5-4C45-A2E0-50EFA5040B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4625CDE-FBE5-4E04-86D0-EAABDEF3D377}" type="slidenum">
              <a:rPr lang="en-GB" altLang="sr-Latn-RS"/>
              <a:pPr>
                <a:spcBef>
                  <a:spcPct val="0"/>
                </a:spcBef>
              </a:pPr>
              <a:t>38</a:t>
            </a:fld>
            <a:endParaRPr lang="en-GB" altLang="sr-Latn-RS"/>
          </a:p>
        </p:txBody>
      </p:sp>
      <p:sp>
        <p:nvSpPr>
          <p:cNvPr id="9219" name="Rectangle 2">
            <a:extLst>
              <a:ext uri="{FF2B5EF4-FFF2-40B4-BE49-F238E27FC236}">
                <a16:creationId xmlns:a16="http://schemas.microsoft.com/office/drawing/2014/main" id="{7FC8D246-7D32-4D3A-877A-259BACD1250E}"/>
              </a:ext>
            </a:extLst>
          </p:cNvPr>
          <p:cNvSpPr>
            <a:spLocks noGrp="1" noRot="1" noChangeAspect="1" noChangeArrowheads="1" noTextEdit="1"/>
          </p:cNvSpPr>
          <p:nvPr>
            <p:ph type="sldImg"/>
          </p:nvPr>
        </p:nvSpPr>
        <p:spPr>
          <a:solidFill>
            <a:srgbClr val="FFFFFF"/>
          </a:solidFill>
          <a:ln/>
        </p:spPr>
      </p:sp>
      <p:sp>
        <p:nvSpPr>
          <p:cNvPr id="9220" name="Rectangle 3">
            <a:extLst>
              <a:ext uri="{FF2B5EF4-FFF2-40B4-BE49-F238E27FC236}">
                <a16:creationId xmlns:a16="http://schemas.microsoft.com/office/drawing/2014/main" id="{E9CEFA19-2195-406E-8FC2-F95A4E72D359}"/>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1495F201-9AB7-41B5-AD82-6E0BAD468C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E14C7C8-1166-40E6-943D-E9D8395E369C}" type="slidenum">
              <a:rPr lang="en-GB" altLang="sr-Latn-RS"/>
              <a:pPr>
                <a:spcBef>
                  <a:spcPct val="0"/>
                </a:spcBef>
              </a:pPr>
              <a:t>39</a:t>
            </a:fld>
            <a:endParaRPr lang="en-GB" altLang="sr-Latn-RS"/>
          </a:p>
        </p:txBody>
      </p:sp>
      <p:sp>
        <p:nvSpPr>
          <p:cNvPr id="11267" name="Rectangle 2">
            <a:extLst>
              <a:ext uri="{FF2B5EF4-FFF2-40B4-BE49-F238E27FC236}">
                <a16:creationId xmlns:a16="http://schemas.microsoft.com/office/drawing/2014/main" id="{213872C5-5D1B-4010-80A9-0153C15159E4}"/>
              </a:ext>
            </a:extLst>
          </p:cNvPr>
          <p:cNvSpPr>
            <a:spLocks noGrp="1" noRot="1" noChangeAspect="1" noChangeArrowheads="1" noTextEdit="1"/>
          </p:cNvSpPr>
          <p:nvPr>
            <p:ph type="sldImg"/>
          </p:nvPr>
        </p:nvSpPr>
        <p:spPr>
          <a:solidFill>
            <a:srgbClr val="FFFFFF"/>
          </a:solidFill>
          <a:ln/>
        </p:spPr>
      </p:sp>
      <p:sp>
        <p:nvSpPr>
          <p:cNvPr id="11268" name="Rectangle 3">
            <a:extLst>
              <a:ext uri="{FF2B5EF4-FFF2-40B4-BE49-F238E27FC236}">
                <a16:creationId xmlns:a16="http://schemas.microsoft.com/office/drawing/2014/main" id="{67CDF258-CCCA-4F54-B886-9036FF966C68}"/>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2EB12FE6-D7E3-4684-8E17-CFD9AFCBC5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B943109-8486-4F11-A4DB-01353143C99A}" type="slidenum">
              <a:rPr lang="en-GB" altLang="sr-Latn-RS"/>
              <a:pPr>
                <a:spcBef>
                  <a:spcPct val="0"/>
                </a:spcBef>
              </a:pPr>
              <a:t>40</a:t>
            </a:fld>
            <a:endParaRPr lang="en-GB" altLang="sr-Latn-RS"/>
          </a:p>
        </p:txBody>
      </p:sp>
      <p:sp>
        <p:nvSpPr>
          <p:cNvPr id="13315" name="Rectangle 2">
            <a:extLst>
              <a:ext uri="{FF2B5EF4-FFF2-40B4-BE49-F238E27FC236}">
                <a16:creationId xmlns:a16="http://schemas.microsoft.com/office/drawing/2014/main" id="{4F17FD47-9E00-4085-988A-2F5274DF6A5F}"/>
              </a:ext>
            </a:extLst>
          </p:cNvPr>
          <p:cNvSpPr>
            <a:spLocks noGrp="1" noRot="1" noChangeAspect="1" noChangeArrowheads="1" noTextEdit="1"/>
          </p:cNvSpPr>
          <p:nvPr>
            <p:ph type="sldImg"/>
          </p:nvPr>
        </p:nvSpPr>
        <p:spPr>
          <a:solidFill>
            <a:srgbClr val="FFFFFF"/>
          </a:solidFill>
          <a:ln/>
        </p:spPr>
      </p:sp>
      <p:sp>
        <p:nvSpPr>
          <p:cNvPr id="13316" name="Rectangle 3">
            <a:extLst>
              <a:ext uri="{FF2B5EF4-FFF2-40B4-BE49-F238E27FC236}">
                <a16:creationId xmlns:a16="http://schemas.microsoft.com/office/drawing/2014/main" id="{20B5E77C-6FBA-4795-8EA2-C5192DFD75CD}"/>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1BCB923-41AA-433A-B776-FA76234C30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9099843-F8FF-452B-8AF7-C6F6FD0696AB}" type="slidenum">
              <a:rPr lang="en-GB" altLang="sr-Latn-RS"/>
              <a:pPr>
                <a:spcBef>
                  <a:spcPct val="0"/>
                </a:spcBef>
              </a:pPr>
              <a:t>41</a:t>
            </a:fld>
            <a:endParaRPr lang="en-GB" altLang="sr-Latn-RS"/>
          </a:p>
        </p:txBody>
      </p:sp>
      <p:sp>
        <p:nvSpPr>
          <p:cNvPr id="15363" name="Rectangle 2">
            <a:extLst>
              <a:ext uri="{FF2B5EF4-FFF2-40B4-BE49-F238E27FC236}">
                <a16:creationId xmlns:a16="http://schemas.microsoft.com/office/drawing/2014/main" id="{E716B44B-940D-4E67-B703-FC432F50CD7C}"/>
              </a:ext>
            </a:extLst>
          </p:cNvPr>
          <p:cNvSpPr>
            <a:spLocks noGrp="1" noRot="1" noChangeAspect="1" noChangeArrowheads="1" noTextEdit="1"/>
          </p:cNvSpPr>
          <p:nvPr>
            <p:ph type="sldImg"/>
          </p:nvPr>
        </p:nvSpPr>
        <p:spPr>
          <a:solidFill>
            <a:srgbClr val="FFFFFF"/>
          </a:solidFill>
          <a:ln/>
        </p:spPr>
      </p:sp>
      <p:sp>
        <p:nvSpPr>
          <p:cNvPr id="15364" name="Rectangle 3">
            <a:extLst>
              <a:ext uri="{FF2B5EF4-FFF2-40B4-BE49-F238E27FC236}">
                <a16:creationId xmlns:a16="http://schemas.microsoft.com/office/drawing/2014/main" id="{872B5AB1-E7C1-4126-B194-F082EC47B663}"/>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4D073F5B-B578-45BD-9140-7AB195C65A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28D5236-ED80-42B4-8A47-6BED3C06503F}" type="slidenum">
              <a:rPr lang="en-GB" altLang="sr-Latn-RS"/>
              <a:pPr>
                <a:spcBef>
                  <a:spcPct val="0"/>
                </a:spcBef>
              </a:pPr>
              <a:t>42</a:t>
            </a:fld>
            <a:endParaRPr lang="en-GB" altLang="sr-Latn-RS"/>
          </a:p>
        </p:txBody>
      </p:sp>
      <p:sp>
        <p:nvSpPr>
          <p:cNvPr id="17411" name="Rectangle 2">
            <a:extLst>
              <a:ext uri="{FF2B5EF4-FFF2-40B4-BE49-F238E27FC236}">
                <a16:creationId xmlns:a16="http://schemas.microsoft.com/office/drawing/2014/main" id="{F02A6242-1060-4B69-9A63-A1D59D2335D8}"/>
              </a:ext>
            </a:extLst>
          </p:cNvPr>
          <p:cNvSpPr>
            <a:spLocks noGrp="1" noRot="1" noChangeAspect="1" noChangeArrowheads="1" noTextEdit="1"/>
          </p:cNvSpPr>
          <p:nvPr>
            <p:ph type="sldImg"/>
          </p:nvPr>
        </p:nvSpPr>
        <p:spPr>
          <a:solidFill>
            <a:srgbClr val="FFFFFF"/>
          </a:solidFill>
          <a:ln/>
        </p:spPr>
      </p:sp>
      <p:sp>
        <p:nvSpPr>
          <p:cNvPr id="17412" name="Rectangle 3">
            <a:extLst>
              <a:ext uri="{FF2B5EF4-FFF2-40B4-BE49-F238E27FC236}">
                <a16:creationId xmlns:a16="http://schemas.microsoft.com/office/drawing/2014/main" id="{D58E5F0D-58DE-45A9-A2F4-CAB7D39749F4}"/>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DF274AF8-C1A9-429F-97CD-DCA9AD30F4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00BBC2D-A775-4F12-949F-9D5539B3C154}" type="slidenum">
              <a:rPr lang="en-GB" altLang="sr-Latn-RS"/>
              <a:pPr>
                <a:spcBef>
                  <a:spcPct val="0"/>
                </a:spcBef>
              </a:pPr>
              <a:t>43</a:t>
            </a:fld>
            <a:endParaRPr lang="en-GB" altLang="sr-Latn-RS"/>
          </a:p>
        </p:txBody>
      </p:sp>
      <p:sp>
        <p:nvSpPr>
          <p:cNvPr id="19459" name="Rectangle 2">
            <a:extLst>
              <a:ext uri="{FF2B5EF4-FFF2-40B4-BE49-F238E27FC236}">
                <a16:creationId xmlns:a16="http://schemas.microsoft.com/office/drawing/2014/main" id="{70EFD379-D694-49A2-BC60-F7812C8CB0C5}"/>
              </a:ext>
            </a:extLst>
          </p:cNvPr>
          <p:cNvSpPr>
            <a:spLocks noGrp="1" noRot="1" noChangeAspect="1" noChangeArrowheads="1" noTextEdit="1"/>
          </p:cNvSpPr>
          <p:nvPr>
            <p:ph type="sldImg"/>
          </p:nvPr>
        </p:nvSpPr>
        <p:spPr>
          <a:solidFill>
            <a:srgbClr val="FFFFFF"/>
          </a:solidFill>
          <a:ln/>
        </p:spPr>
      </p:sp>
      <p:sp>
        <p:nvSpPr>
          <p:cNvPr id="19460" name="Rectangle 3">
            <a:extLst>
              <a:ext uri="{FF2B5EF4-FFF2-40B4-BE49-F238E27FC236}">
                <a16:creationId xmlns:a16="http://schemas.microsoft.com/office/drawing/2014/main" id="{D1E3156E-36E7-4CC6-BF47-850CF2AEEC8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74D2075B-A76B-4F5F-B903-FB0D147DF6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FBA172E-AC5A-4E6D-984D-4AB9F57A79F9}" type="slidenum">
              <a:rPr lang="en-GB" altLang="sr-Latn-RS"/>
              <a:pPr>
                <a:spcBef>
                  <a:spcPct val="0"/>
                </a:spcBef>
              </a:pPr>
              <a:t>44</a:t>
            </a:fld>
            <a:endParaRPr lang="en-GB" altLang="sr-Latn-RS"/>
          </a:p>
        </p:txBody>
      </p:sp>
      <p:sp>
        <p:nvSpPr>
          <p:cNvPr id="21507" name="Rectangle 2">
            <a:extLst>
              <a:ext uri="{FF2B5EF4-FFF2-40B4-BE49-F238E27FC236}">
                <a16:creationId xmlns:a16="http://schemas.microsoft.com/office/drawing/2014/main" id="{73F7473A-1013-4B3A-A348-822182ACAFF8}"/>
              </a:ext>
            </a:extLst>
          </p:cNvPr>
          <p:cNvSpPr>
            <a:spLocks noGrp="1" noRot="1" noChangeAspect="1" noChangeArrowheads="1" noTextEdit="1"/>
          </p:cNvSpPr>
          <p:nvPr>
            <p:ph type="sldImg"/>
          </p:nvPr>
        </p:nvSpPr>
        <p:spPr>
          <a:solidFill>
            <a:srgbClr val="FFFFFF"/>
          </a:solidFill>
          <a:ln/>
        </p:spPr>
      </p:sp>
      <p:sp>
        <p:nvSpPr>
          <p:cNvPr id="21508" name="Rectangle 3">
            <a:extLst>
              <a:ext uri="{FF2B5EF4-FFF2-40B4-BE49-F238E27FC236}">
                <a16:creationId xmlns:a16="http://schemas.microsoft.com/office/drawing/2014/main" id="{7A2B0B2D-D9BF-4F4D-BD34-90CD63C8B95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21FC8FA6-3050-4BF3-9F71-B9C0F7217A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1E104BC-EE36-4EED-9412-0CC9267608E2}" type="slidenum">
              <a:rPr lang="en-GB" altLang="sr-Latn-RS"/>
              <a:pPr>
                <a:spcBef>
                  <a:spcPct val="0"/>
                </a:spcBef>
              </a:pPr>
              <a:t>45</a:t>
            </a:fld>
            <a:endParaRPr lang="en-GB" altLang="sr-Latn-RS"/>
          </a:p>
        </p:txBody>
      </p:sp>
      <p:sp>
        <p:nvSpPr>
          <p:cNvPr id="23555" name="Rectangle 2">
            <a:extLst>
              <a:ext uri="{FF2B5EF4-FFF2-40B4-BE49-F238E27FC236}">
                <a16:creationId xmlns:a16="http://schemas.microsoft.com/office/drawing/2014/main" id="{3DD4DE52-EAFF-40F1-9CE0-4100F03A98EE}"/>
              </a:ext>
            </a:extLst>
          </p:cNvPr>
          <p:cNvSpPr>
            <a:spLocks noGrp="1" noRot="1" noChangeAspect="1" noChangeArrowheads="1" noTextEdit="1"/>
          </p:cNvSpPr>
          <p:nvPr>
            <p:ph type="sldImg"/>
          </p:nvPr>
        </p:nvSpPr>
        <p:spPr>
          <a:solidFill>
            <a:srgbClr val="FFFFFF"/>
          </a:solidFill>
          <a:ln/>
        </p:spPr>
      </p:sp>
      <p:sp>
        <p:nvSpPr>
          <p:cNvPr id="23556" name="Rectangle 3">
            <a:extLst>
              <a:ext uri="{FF2B5EF4-FFF2-40B4-BE49-F238E27FC236}">
                <a16:creationId xmlns:a16="http://schemas.microsoft.com/office/drawing/2014/main" id="{E20DBACF-C553-4319-86F3-D4D9B0B67F6F}"/>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FCC360B6-0C21-4ABD-801E-ED6485AA75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80A3683-477D-4503-9098-F1A8730FA809}" type="slidenum">
              <a:rPr lang="en-GB" altLang="sr-Latn-RS"/>
              <a:pPr>
                <a:spcBef>
                  <a:spcPct val="0"/>
                </a:spcBef>
              </a:pPr>
              <a:t>46</a:t>
            </a:fld>
            <a:endParaRPr lang="en-GB" altLang="sr-Latn-RS"/>
          </a:p>
        </p:txBody>
      </p:sp>
      <p:sp>
        <p:nvSpPr>
          <p:cNvPr id="25603" name="Rectangle 2">
            <a:extLst>
              <a:ext uri="{FF2B5EF4-FFF2-40B4-BE49-F238E27FC236}">
                <a16:creationId xmlns:a16="http://schemas.microsoft.com/office/drawing/2014/main" id="{E557A995-70FB-4D4C-999F-4B3D06513B69}"/>
              </a:ext>
            </a:extLst>
          </p:cNvPr>
          <p:cNvSpPr>
            <a:spLocks noGrp="1" noRot="1" noChangeAspect="1" noChangeArrowheads="1" noTextEdit="1"/>
          </p:cNvSpPr>
          <p:nvPr>
            <p:ph type="sldImg"/>
          </p:nvPr>
        </p:nvSpPr>
        <p:spPr>
          <a:solidFill>
            <a:srgbClr val="FFFFFF"/>
          </a:solidFill>
          <a:ln/>
        </p:spPr>
      </p:sp>
      <p:sp>
        <p:nvSpPr>
          <p:cNvPr id="25604" name="Rectangle 3">
            <a:extLst>
              <a:ext uri="{FF2B5EF4-FFF2-40B4-BE49-F238E27FC236}">
                <a16:creationId xmlns:a16="http://schemas.microsoft.com/office/drawing/2014/main" id="{53069E65-CB1A-404E-BE7E-9B6784F79EF0}"/>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88EE7C3C-6004-45D9-AB85-F7C3B59B53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47F587F-8265-4334-8193-31301405E34C}" type="slidenum">
              <a:rPr lang="en-GB" altLang="sr-Latn-RS"/>
              <a:pPr>
                <a:spcBef>
                  <a:spcPct val="0"/>
                </a:spcBef>
              </a:pPr>
              <a:t>47</a:t>
            </a:fld>
            <a:endParaRPr lang="en-GB" altLang="sr-Latn-RS"/>
          </a:p>
        </p:txBody>
      </p:sp>
      <p:sp>
        <p:nvSpPr>
          <p:cNvPr id="27651" name="Rectangle 2">
            <a:extLst>
              <a:ext uri="{FF2B5EF4-FFF2-40B4-BE49-F238E27FC236}">
                <a16:creationId xmlns:a16="http://schemas.microsoft.com/office/drawing/2014/main" id="{BDC1C712-6AA5-409E-9C71-2AD219DD5881}"/>
              </a:ext>
            </a:extLst>
          </p:cNvPr>
          <p:cNvSpPr>
            <a:spLocks noGrp="1" noRot="1" noChangeAspect="1" noChangeArrowheads="1" noTextEdit="1"/>
          </p:cNvSpPr>
          <p:nvPr>
            <p:ph type="sldImg"/>
          </p:nvPr>
        </p:nvSpPr>
        <p:spPr>
          <a:solidFill>
            <a:srgbClr val="FFFFFF"/>
          </a:solidFill>
          <a:ln/>
        </p:spPr>
      </p:sp>
      <p:sp>
        <p:nvSpPr>
          <p:cNvPr id="27652" name="Rectangle 3">
            <a:extLst>
              <a:ext uri="{FF2B5EF4-FFF2-40B4-BE49-F238E27FC236}">
                <a16:creationId xmlns:a16="http://schemas.microsoft.com/office/drawing/2014/main" id="{571CE7A0-F0D5-44EB-A775-A89B2F5B5A5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927AEF29-D11F-4114-8E08-416BD4CDC6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0B0399E-1DCD-4E4F-A816-AB0DE31848F4}" type="slidenum">
              <a:rPr lang="en-GB" altLang="sr-Latn-RS"/>
              <a:pPr>
                <a:spcBef>
                  <a:spcPct val="0"/>
                </a:spcBef>
              </a:pPr>
              <a:t>48</a:t>
            </a:fld>
            <a:endParaRPr lang="en-GB" altLang="sr-Latn-RS"/>
          </a:p>
        </p:txBody>
      </p:sp>
      <p:sp>
        <p:nvSpPr>
          <p:cNvPr id="29699" name="Rectangle 2">
            <a:extLst>
              <a:ext uri="{FF2B5EF4-FFF2-40B4-BE49-F238E27FC236}">
                <a16:creationId xmlns:a16="http://schemas.microsoft.com/office/drawing/2014/main" id="{0A4580E8-4656-4D48-A327-8CD399231254}"/>
              </a:ext>
            </a:extLst>
          </p:cNvPr>
          <p:cNvSpPr>
            <a:spLocks noGrp="1" noRot="1" noChangeAspect="1" noChangeArrowheads="1" noTextEdit="1"/>
          </p:cNvSpPr>
          <p:nvPr>
            <p:ph type="sldImg"/>
          </p:nvPr>
        </p:nvSpPr>
        <p:spPr>
          <a:solidFill>
            <a:srgbClr val="FFFFFF"/>
          </a:solidFill>
          <a:ln/>
        </p:spPr>
      </p:sp>
      <p:sp>
        <p:nvSpPr>
          <p:cNvPr id="29700" name="Rectangle 3">
            <a:extLst>
              <a:ext uri="{FF2B5EF4-FFF2-40B4-BE49-F238E27FC236}">
                <a16:creationId xmlns:a16="http://schemas.microsoft.com/office/drawing/2014/main" id="{4F57F049-186B-4CC7-A32F-AD7ECA42EA1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927AEF29-D11F-4114-8E08-416BD4CDC6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0B0399E-1DCD-4E4F-A816-AB0DE31848F4}" type="slidenum">
              <a:rPr lang="en-GB" altLang="sr-Latn-RS"/>
              <a:pPr>
                <a:spcBef>
                  <a:spcPct val="0"/>
                </a:spcBef>
              </a:pPr>
              <a:t>49</a:t>
            </a:fld>
            <a:endParaRPr lang="en-GB" altLang="sr-Latn-RS"/>
          </a:p>
        </p:txBody>
      </p:sp>
      <p:sp>
        <p:nvSpPr>
          <p:cNvPr id="29699" name="Rectangle 2">
            <a:extLst>
              <a:ext uri="{FF2B5EF4-FFF2-40B4-BE49-F238E27FC236}">
                <a16:creationId xmlns:a16="http://schemas.microsoft.com/office/drawing/2014/main" id="{0A4580E8-4656-4D48-A327-8CD399231254}"/>
              </a:ext>
            </a:extLst>
          </p:cNvPr>
          <p:cNvSpPr>
            <a:spLocks noGrp="1" noRot="1" noChangeAspect="1" noChangeArrowheads="1" noTextEdit="1"/>
          </p:cNvSpPr>
          <p:nvPr>
            <p:ph type="sldImg"/>
          </p:nvPr>
        </p:nvSpPr>
        <p:spPr>
          <a:solidFill>
            <a:srgbClr val="FFFFFF"/>
          </a:solidFill>
          <a:ln/>
        </p:spPr>
      </p:sp>
      <p:sp>
        <p:nvSpPr>
          <p:cNvPr id="29700" name="Rectangle 3">
            <a:extLst>
              <a:ext uri="{FF2B5EF4-FFF2-40B4-BE49-F238E27FC236}">
                <a16:creationId xmlns:a16="http://schemas.microsoft.com/office/drawing/2014/main" id="{4F57F049-186B-4CC7-A32F-AD7ECA42EA1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extLst>
      <p:ext uri="{BB962C8B-B14F-4D97-AF65-F5344CB8AC3E}">
        <p14:creationId xmlns:p14="http://schemas.microsoft.com/office/powerpoint/2010/main" val="40863096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927AEF29-D11F-4114-8E08-416BD4CDC6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0B0399E-1DCD-4E4F-A816-AB0DE31848F4}" type="slidenum">
              <a:rPr lang="en-GB" altLang="sr-Latn-RS"/>
              <a:pPr>
                <a:spcBef>
                  <a:spcPct val="0"/>
                </a:spcBef>
              </a:pPr>
              <a:t>50</a:t>
            </a:fld>
            <a:endParaRPr lang="en-GB" altLang="sr-Latn-RS"/>
          </a:p>
        </p:txBody>
      </p:sp>
      <p:sp>
        <p:nvSpPr>
          <p:cNvPr id="29699" name="Rectangle 2">
            <a:extLst>
              <a:ext uri="{FF2B5EF4-FFF2-40B4-BE49-F238E27FC236}">
                <a16:creationId xmlns:a16="http://schemas.microsoft.com/office/drawing/2014/main" id="{0A4580E8-4656-4D48-A327-8CD399231254}"/>
              </a:ext>
            </a:extLst>
          </p:cNvPr>
          <p:cNvSpPr>
            <a:spLocks noGrp="1" noRot="1" noChangeAspect="1" noChangeArrowheads="1" noTextEdit="1"/>
          </p:cNvSpPr>
          <p:nvPr>
            <p:ph type="sldImg"/>
          </p:nvPr>
        </p:nvSpPr>
        <p:spPr>
          <a:solidFill>
            <a:srgbClr val="FFFFFF"/>
          </a:solidFill>
          <a:ln/>
        </p:spPr>
      </p:sp>
      <p:sp>
        <p:nvSpPr>
          <p:cNvPr id="29700" name="Rectangle 3">
            <a:extLst>
              <a:ext uri="{FF2B5EF4-FFF2-40B4-BE49-F238E27FC236}">
                <a16:creationId xmlns:a16="http://schemas.microsoft.com/office/drawing/2014/main" id="{4F57F049-186B-4CC7-A32F-AD7ECA42EA1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extLst>
      <p:ext uri="{BB962C8B-B14F-4D97-AF65-F5344CB8AC3E}">
        <p14:creationId xmlns:p14="http://schemas.microsoft.com/office/powerpoint/2010/main" val="1607491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927AEF29-D11F-4114-8E08-416BD4CDC6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0B0399E-1DCD-4E4F-A816-AB0DE31848F4}" type="slidenum">
              <a:rPr lang="en-GB" altLang="sr-Latn-RS"/>
              <a:pPr>
                <a:spcBef>
                  <a:spcPct val="0"/>
                </a:spcBef>
              </a:pPr>
              <a:t>51</a:t>
            </a:fld>
            <a:endParaRPr lang="en-GB" altLang="sr-Latn-RS"/>
          </a:p>
        </p:txBody>
      </p:sp>
      <p:sp>
        <p:nvSpPr>
          <p:cNvPr id="29699" name="Rectangle 2">
            <a:extLst>
              <a:ext uri="{FF2B5EF4-FFF2-40B4-BE49-F238E27FC236}">
                <a16:creationId xmlns:a16="http://schemas.microsoft.com/office/drawing/2014/main" id="{0A4580E8-4656-4D48-A327-8CD399231254}"/>
              </a:ext>
            </a:extLst>
          </p:cNvPr>
          <p:cNvSpPr>
            <a:spLocks noGrp="1" noRot="1" noChangeAspect="1" noChangeArrowheads="1" noTextEdit="1"/>
          </p:cNvSpPr>
          <p:nvPr>
            <p:ph type="sldImg"/>
          </p:nvPr>
        </p:nvSpPr>
        <p:spPr>
          <a:solidFill>
            <a:srgbClr val="FFFFFF"/>
          </a:solidFill>
          <a:ln/>
        </p:spPr>
      </p:sp>
      <p:sp>
        <p:nvSpPr>
          <p:cNvPr id="29700" name="Rectangle 3">
            <a:extLst>
              <a:ext uri="{FF2B5EF4-FFF2-40B4-BE49-F238E27FC236}">
                <a16:creationId xmlns:a16="http://schemas.microsoft.com/office/drawing/2014/main" id="{4F57F049-186B-4CC7-A32F-AD7ECA42EA1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extLst>
      <p:ext uri="{BB962C8B-B14F-4D97-AF65-F5344CB8AC3E}">
        <p14:creationId xmlns:p14="http://schemas.microsoft.com/office/powerpoint/2010/main" val="17519271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927AEF29-D11F-4114-8E08-416BD4CDC6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0B0399E-1DCD-4E4F-A816-AB0DE31848F4}" type="slidenum">
              <a:rPr lang="en-GB" altLang="sr-Latn-RS"/>
              <a:pPr>
                <a:spcBef>
                  <a:spcPct val="0"/>
                </a:spcBef>
              </a:pPr>
              <a:t>52</a:t>
            </a:fld>
            <a:endParaRPr lang="en-GB" altLang="sr-Latn-RS"/>
          </a:p>
        </p:txBody>
      </p:sp>
      <p:sp>
        <p:nvSpPr>
          <p:cNvPr id="29699" name="Rectangle 2">
            <a:extLst>
              <a:ext uri="{FF2B5EF4-FFF2-40B4-BE49-F238E27FC236}">
                <a16:creationId xmlns:a16="http://schemas.microsoft.com/office/drawing/2014/main" id="{0A4580E8-4656-4D48-A327-8CD399231254}"/>
              </a:ext>
            </a:extLst>
          </p:cNvPr>
          <p:cNvSpPr>
            <a:spLocks noGrp="1" noRot="1" noChangeAspect="1" noChangeArrowheads="1" noTextEdit="1"/>
          </p:cNvSpPr>
          <p:nvPr>
            <p:ph type="sldImg"/>
          </p:nvPr>
        </p:nvSpPr>
        <p:spPr>
          <a:solidFill>
            <a:srgbClr val="FFFFFF"/>
          </a:solidFill>
          <a:ln/>
        </p:spPr>
      </p:sp>
      <p:sp>
        <p:nvSpPr>
          <p:cNvPr id="29700" name="Rectangle 3">
            <a:extLst>
              <a:ext uri="{FF2B5EF4-FFF2-40B4-BE49-F238E27FC236}">
                <a16:creationId xmlns:a16="http://schemas.microsoft.com/office/drawing/2014/main" id="{4F57F049-186B-4CC7-A32F-AD7ECA42EA1A}"/>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hr-HR" altLang="sr-Latn-RS"/>
          </a:p>
        </p:txBody>
      </p:sp>
    </p:spTree>
    <p:extLst>
      <p:ext uri="{BB962C8B-B14F-4D97-AF65-F5344CB8AC3E}">
        <p14:creationId xmlns:p14="http://schemas.microsoft.com/office/powerpoint/2010/main" val="4130427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9B624674-FD9B-D207-2274-3CABC0894B59}"/>
              </a:ext>
            </a:extLst>
          </p:cNvPr>
          <p:cNvSpPr>
            <a:spLocks noGrp="1"/>
          </p:cNvSpPr>
          <p:nvPr>
            <p:ph type="ctrTitle"/>
          </p:nvPr>
        </p:nvSpPr>
        <p:spPr>
          <a:xfrm>
            <a:off x="1143000" y="1122363"/>
            <a:ext cx="6858000" cy="2387600"/>
          </a:xfrm>
        </p:spPr>
        <p:txBody>
          <a:bodyPr anchor="b"/>
          <a:lstStyle>
            <a:lvl1pPr algn="ctr">
              <a:defRPr sz="4500"/>
            </a:lvl1pPr>
          </a:lstStyle>
          <a:p>
            <a:r>
              <a:rPr lang="hr-HR"/>
              <a:t>Kliknite da biste uredili stil naslova matrice</a:t>
            </a:r>
          </a:p>
        </p:txBody>
      </p:sp>
      <p:sp>
        <p:nvSpPr>
          <p:cNvPr id="3" name="Podnaslov 2">
            <a:extLst>
              <a:ext uri="{FF2B5EF4-FFF2-40B4-BE49-F238E27FC236}">
                <a16:creationId xmlns:a16="http://schemas.microsoft.com/office/drawing/2014/main" id="{B0DCC4A0-2B6B-7289-3AB9-501B9158524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hr-HR"/>
              <a:t>Kliknite da biste uredili stil podnaslova matrice</a:t>
            </a:r>
          </a:p>
        </p:txBody>
      </p:sp>
      <p:sp>
        <p:nvSpPr>
          <p:cNvPr id="4" name="Rezervirano mjesto datuma 3">
            <a:extLst>
              <a:ext uri="{FF2B5EF4-FFF2-40B4-BE49-F238E27FC236}">
                <a16:creationId xmlns:a16="http://schemas.microsoft.com/office/drawing/2014/main" id="{8762E9BA-1258-E4E4-5DCC-F13C77AFAFED}"/>
              </a:ext>
            </a:extLst>
          </p:cNvPr>
          <p:cNvSpPr>
            <a:spLocks noGrp="1"/>
          </p:cNvSpPr>
          <p:nvPr>
            <p:ph type="dt" sz="half" idx="10"/>
          </p:nvPr>
        </p:nvSpPr>
        <p:spPr/>
        <p:txBody>
          <a:bodyPr/>
          <a:lstStyle/>
          <a:p>
            <a:pPr>
              <a:defRPr/>
            </a:pPr>
            <a:fld id="{CBBF3C3A-4288-4AF9-BFFE-5B6F7740853B}" type="datetime1">
              <a:rPr lang="hr-HR" smtClean="0"/>
              <a:t>6.11.2025.</a:t>
            </a:fld>
            <a:endParaRPr lang="en-GB"/>
          </a:p>
        </p:txBody>
      </p:sp>
      <p:sp>
        <p:nvSpPr>
          <p:cNvPr id="5" name="Rezervirano mjesto podnožja 4">
            <a:extLst>
              <a:ext uri="{FF2B5EF4-FFF2-40B4-BE49-F238E27FC236}">
                <a16:creationId xmlns:a16="http://schemas.microsoft.com/office/drawing/2014/main" id="{61927EF1-70F4-B70A-0901-F1151AE5F82A}"/>
              </a:ext>
            </a:extLst>
          </p:cNvPr>
          <p:cNvSpPr>
            <a:spLocks noGrp="1"/>
          </p:cNvSpPr>
          <p:nvPr>
            <p:ph type="ftr" sz="quarter" idx="11"/>
          </p:nvPr>
        </p:nvSpPr>
        <p:spPr/>
        <p:txBody>
          <a:bodyPr/>
          <a:lstStyle/>
          <a:p>
            <a:pPr>
              <a:defRPr/>
            </a:pPr>
            <a:r>
              <a:rPr lang="en-GB"/>
              <a:t>Predavanje 5</a:t>
            </a:r>
          </a:p>
        </p:txBody>
      </p:sp>
      <p:sp>
        <p:nvSpPr>
          <p:cNvPr id="6" name="Rezervirano mjesto broja slajda 5">
            <a:extLst>
              <a:ext uri="{FF2B5EF4-FFF2-40B4-BE49-F238E27FC236}">
                <a16:creationId xmlns:a16="http://schemas.microsoft.com/office/drawing/2014/main" id="{6DDF401B-59E7-F9DE-529B-0B0DAC61E594}"/>
              </a:ext>
            </a:extLst>
          </p:cNvPr>
          <p:cNvSpPr>
            <a:spLocks noGrp="1"/>
          </p:cNvSpPr>
          <p:nvPr>
            <p:ph type="sldNum" sz="quarter" idx="12"/>
          </p:nvPr>
        </p:nvSpPr>
        <p:spPr/>
        <p:txBody>
          <a:bodyPr/>
          <a:lstStyle/>
          <a:p>
            <a:fld id="{65A14E20-BA2A-43FD-BB4B-65CF80A0D6DA}" type="slidenum">
              <a:rPr lang="en-GB" altLang="sr-Latn-RS" smtClean="0"/>
              <a:pPr/>
              <a:t>‹#›</a:t>
            </a:fld>
            <a:endParaRPr lang="en-GB" altLang="sr-Latn-RS"/>
          </a:p>
        </p:txBody>
      </p:sp>
    </p:spTree>
    <p:extLst>
      <p:ext uri="{BB962C8B-B14F-4D97-AF65-F5344CB8AC3E}">
        <p14:creationId xmlns:p14="http://schemas.microsoft.com/office/powerpoint/2010/main" val="3803433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3262374F-406B-85F0-BD83-EF5FD1A75CA3}"/>
              </a:ext>
            </a:extLst>
          </p:cNvPr>
          <p:cNvSpPr>
            <a:spLocks noGrp="1"/>
          </p:cNvSpPr>
          <p:nvPr>
            <p:ph type="title"/>
          </p:nvPr>
        </p:nvSpPr>
        <p:spPr/>
        <p:txBody>
          <a:bodyPr/>
          <a:lstStyle/>
          <a:p>
            <a:r>
              <a:rPr lang="hr-HR"/>
              <a:t>Kliknite da biste uredili stil naslova matrice</a:t>
            </a:r>
          </a:p>
        </p:txBody>
      </p:sp>
      <p:sp>
        <p:nvSpPr>
          <p:cNvPr id="3" name="Rezervirano mjesto sadržaja 2">
            <a:extLst>
              <a:ext uri="{FF2B5EF4-FFF2-40B4-BE49-F238E27FC236}">
                <a16:creationId xmlns:a16="http://schemas.microsoft.com/office/drawing/2014/main" id="{F68D382D-D685-3FFA-2309-6FAD13E948F5}"/>
              </a:ext>
            </a:extLst>
          </p:cNvPr>
          <p:cNvSpPr>
            <a:spLocks noGrp="1"/>
          </p:cNvSpPr>
          <p:nvPr>
            <p:ph idx="1"/>
          </p:nvPr>
        </p:nvSpPr>
        <p:spPr/>
        <p:txBody>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B1C25974-5507-38CF-FD92-DADAE0BBAF89}"/>
              </a:ext>
            </a:extLst>
          </p:cNvPr>
          <p:cNvSpPr>
            <a:spLocks noGrp="1"/>
          </p:cNvSpPr>
          <p:nvPr>
            <p:ph type="dt" sz="half" idx="10"/>
          </p:nvPr>
        </p:nvSpPr>
        <p:spPr/>
        <p:txBody>
          <a:bodyPr/>
          <a:lstStyle/>
          <a:p>
            <a:pPr>
              <a:defRPr/>
            </a:pPr>
            <a:fld id="{BC2C1B90-32BF-4E31-BD7F-CAB24D3C306B}" type="datetime1">
              <a:rPr lang="hr-HR" smtClean="0"/>
              <a:t>6.11.2025.</a:t>
            </a:fld>
            <a:endParaRPr lang="en-GB"/>
          </a:p>
        </p:txBody>
      </p:sp>
      <p:sp>
        <p:nvSpPr>
          <p:cNvPr id="5" name="Rezervirano mjesto podnožja 4">
            <a:extLst>
              <a:ext uri="{FF2B5EF4-FFF2-40B4-BE49-F238E27FC236}">
                <a16:creationId xmlns:a16="http://schemas.microsoft.com/office/drawing/2014/main" id="{AB846CD0-6DE0-A3C0-5AEB-7C918932755A}"/>
              </a:ext>
            </a:extLst>
          </p:cNvPr>
          <p:cNvSpPr>
            <a:spLocks noGrp="1"/>
          </p:cNvSpPr>
          <p:nvPr>
            <p:ph type="ftr" sz="quarter" idx="11"/>
          </p:nvPr>
        </p:nvSpPr>
        <p:spPr/>
        <p:txBody>
          <a:bodyPr/>
          <a:lstStyle/>
          <a:p>
            <a:pPr>
              <a:defRPr/>
            </a:pPr>
            <a:r>
              <a:rPr lang="en-GB"/>
              <a:t>Predavanje 5</a:t>
            </a:r>
          </a:p>
        </p:txBody>
      </p:sp>
      <p:sp>
        <p:nvSpPr>
          <p:cNvPr id="6" name="Rezervirano mjesto broja slajda 5">
            <a:extLst>
              <a:ext uri="{FF2B5EF4-FFF2-40B4-BE49-F238E27FC236}">
                <a16:creationId xmlns:a16="http://schemas.microsoft.com/office/drawing/2014/main" id="{5D607E55-1E84-BBDC-7EA3-AF4B26303213}"/>
              </a:ext>
            </a:extLst>
          </p:cNvPr>
          <p:cNvSpPr>
            <a:spLocks noGrp="1"/>
          </p:cNvSpPr>
          <p:nvPr>
            <p:ph type="sldNum" sz="quarter" idx="12"/>
          </p:nvPr>
        </p:nvSpPr>
        <p:spPr/>
        <p:txBody>
          <a:bodyPr/>
          <a:lstStyle/>
          <a:p>
            <a:fld id="{65A14E20-BA2A-43FD-BB4B-65CF80A0D6DA}" type="slidenum">
              <a:rPr lang="en-GB" altLang="sr-Latn-RS" smtClean="0"/>
              <a:pPr/>
              <a:t>‹#›</a:t>
            </a:fld>
            <a:endParaRPr lang="en-GB" altLang="sr-Latn-RS"/>
          </a:p>
        </p:txBody>
      </p:sp>
    </p:spTree>
    <p:extLst>
      <p:ext uri="{BB962C8B-B14F-4D97-AF65-F5344CB8AC3E}">
        <p14:creationId xmlns:p14="http://schemas.microsoft.com/office/powerpoint/2010/main" val="3286975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aglavlje sekcije">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0D2BAC1E-B5AF-01E6-196E-533461A1836F}"/>
              </a:ext>
            </a:extLst>
          </p:cNvPr>
          <p:cNvSpPr>
            <a:spLocks noGrp="1"/>
          </p:cNvSpPr>
          <p:nvPr>
            <p:ph type="title"/>
          </p:nvPr>
        </p:nvSpPr>
        <p:spPr>
          <a:xfrm>
            <a:off x="623888" y="1709739"/>
            <a:ext cx="7886700" cy="2852737"/>
          </a:xfrm>
        </p:spPr>
        <p:txBody>
          <a:bodyPr anchor="b"/>
          <a:lstStyle>
            <a:lvl1pPr>
              <a:defRPr sz="4500"/>
            </a:lvl1pPr>
          </a:lstStyle>
          <a:p>
            <a:r>
              <a:rPr lang="hr-HR"/>
              <a:t>Kliknite da biste uredili stil naslova matrice</a:t>
            </a:r>
          </a:p>
        </p:txBody>
      </p:sp>
      <p:sp>
        <p:nvSpPr>
          <p:cNvPr id="3" name="Rezervirano mjesto teksta 2">
            <a:extLst>
              <a:ext uri="{FF2B5EF4-FFF2-40B4-BE49-F238E27FC236}">
                <a16:creationId xmlns:a16="http://schemas.microsoft.com/office/drawing/2014/main" id="{FF243BD5-E866-B129-2900-A7DE71617A4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hr-HR"/>
              <a:t>Kliknite da biste uredili matrice</a:t>
            </a:r>
          </a:p>
        </p:txBody>
      </p:sp>
      <p:sp>
        <p:nvSpPr>
          <p:cNvPr id="4" name="Rezervirano mjesto datuma 3">
            <a:extLst>
              <a:ext uri="{FF2B5EF4-FFF2-40B4-BE49-F238E27FC236}">
                <a16:creationId xmlns:a16="http://schemas.microsoft.com/office/drawing/2014/main" id="{6D6F5E32-8FA8-7C29-26C5-3EC1FEFAE49B}"/>
              </a:ext>
            </a:extLst>
          </p:cNvPr>
          <p:cNvSpPr>
            <a:spLocks noGrp="1"/>
          </p:cNvSpPr>
          <p:nvPr>
            <p:ph type="dt" sz="half" idx="10"/>
          </p:nvPr>
        </p:nvSpPr>
        <p:spPr/>
        <p:txBody>
          <a:bodyPr/>
          <a:lstStyle/>
          <a:p>
            <a:pPr>
              <a:defRPr/>
            </a:pPr>
            <a:fld id="{57DFB8A8-9F83-42DD-A8C8-8D639092ED6D}" type="datetime1">
              <a:rPr lang="hr-HR" smtClean="0"/>
              <a:t>6.11.2025.</a:t>
            </a:fld>
            <a:endParaRPr lang="en-GB"/>
          </a:p>
        </p:txBody>
      </p:sp>
      <p:sp>
        <p:nvSpPr>
          <p:cNvPr id="5" name="Rezervirano mjesto podnožja 4">
            <a:extLst>
              <a:ext uri="{FF2B5EF4-FFF2-40B4-BE49-F238E27FC236}">
                <a16:creationId xmlns:a16="http://schemas.microsoft.com/office/drawing/2014/main" id="{53C7EED8-AF72-93A5-B76C-0AED8103BD49}"/>
              </a:ext>
            </a:extLst>
          </p:cNvPr>
          <p:cNvSpPr>
            <a:spLocks noGrp="1"/>
          </p:cNvSpPr>
          <p:nvPr>
            <p:ph type="ftr" sz="quarter" idx="11"/>
          </p:nvPr>
        </p:nvSpPr>
        <p:spPr/>
        <p:txBody>
          <a:bodyPr/>
          <a:lstStyle/>
          <a:p>
            <a:pPr>
              <a:defRPr/>
            </a:pPr>
            <a:r>
              <a:rPr lang="en-GB"/>
              <a:t>Predavanje 5</a:t>
            </a:r>
          </a:p>
        </p:txBody>
      </p:sp>
      <p:sp>
        <p:nvSpPr>
          <p:cNvPr id="6" name="Rezervirano mjesto broja slajda 5">
            <a:extLst>
              <a:ext uri="{FF2B5EF4-FFF2-40B4-BE49-F238E27FC236}">
                <a16:creationId xmlns:a16="http://schemas.microsoft.com/office/drawing/2014/main" id="{103E23B4-6C2A-DC22-406E-60ABABC33E76}"/>
              </a:ext>
            </a:extLst>
          </p:cNvPr>
          <p:cNvSpPr>
            <a:spLocks noGrp="1"/>
          </p:cNvSpPr>
          <p:nvPr>
            <p:ph type="sldNum" sz="quarter" idx="12"/>
          </p:nvPr>
        </p:nvSpPr>
        <p:spPr/>
        <p:txBody>
          <a:bodyPr/>
          <a:lstStyle/>
          <a:p>
            <a:fld id="{65A14E20-BA2A-43FD-BB4B-65CF80A0D6DA}" type="slidenum">
              <a:rPr lang="en-GB" altLang="sr-Latn-RS" smtClean="0"/>
              <a:pPr/>
              <a:t>‹#›</a:t>
            </a:fld>
            <a:endParaRPr lang="en-GB" altLang="sr-Latn-RS"/>
          </a:p>
        </p:txBody>
      </p:sp>
    </p:spTree>
    <p:extLst>
      <p:ext uri="{BB962C8B-B14F-4D97-AF65-F5344CB8AC3E}">
        <p14:creationId xmlns:p14="http://schemas.microsoft.com/office/powerpoint/2010/main" val="2847325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6BE09231-ABBD-E511-E9B7-354D52F1E4A4}"/>
              </a:ext>
            </a:extLst>
          </p:cNvPr>
          <p:cNvSpPr>
            <a:spLocks noGrp="1"/>
          </p:cNvSpPr>
          <p:nvPr>
            <p:ph type="title"/>
          </p:nvPr>
        </p:nvSpPr>
        <p:spPr/>
        <p:txBody>
          <a:bodyPr/>
          <a:lstStyle/>
          <a:p>
            <a:r>
              <a:rPr lang="hr-HR"/>
              <a:t>Kliknite da biste uredili stil naslova matrice</a:t>
            </a:r>
          </a:p>
        </p:txBody>
      </p:sp>
      <p:sp>
        <p:nvSpPr>
          <p:cNvPr id="3" name="Rezervirano mjesto sadržaja 2">
            <a:extLst>
              <a:ext uri="{FF2B5EF4-FFF2-40B4-BE49-F238E27FC236}">
                <a16:creationId xmlns:a16="http://schemas.microsoft.com/office/drawing/2014/main" id="{D9EA0BFB-87D8-9C0A-E472-F7AE95C6A931}"/>
              </a:ext>
            </a:extLst>
          </p:cNvPr>
          <p:cNvSpPr>
            <a:spLocks noGrp="1"/>
          </p:cNvSpPr>
          <p:nvPr>
            <p:ph sz="half" idx="1"/>
          </p:nvPr>
        </p:nvSpPr>
        <p:spPr>
          <a:xfrm>
            <a:off x="628650" y="1825625"/>
            <a:ext cx="3886200" cy="4351338"/>
          </a:xfrm>
        </p:spPr>
        <p:txBody>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sadržaja 3">
            <a:extLst>
              <a:ext uri="{FF2B5EF4-FFF2-40B4-BE49-F238E27FC236}">
                <a16:creationId xmlns:a16="http://schemas.microsoft.com/office/drawing/2014/main" id="{55BFA6B9-1D31-5EA7-76F4-5FC1B48383F0}"/>
              </a:ext>
            </a:extLst>
          </p:cNvPr>
          <p:cNvSpPr>
            <a:spLocks noGrp="1"/>
          </p:cNvSpPr>
          <p:nvPr>
            <p:ph sz="half" idx="2"/>
          </p:nvPr>
        </p:nvSpPr>
        <p:spPr>
          <a:xfrm>
            <a:off x="4629150" y="1825625"/>
            <a:ext cx="3886200" cy="4351338"/>
          </a:xfrm>
        </p:spPr>
        <p:txBody>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5" name="Rezervirano mjesto datuma 4">
            <a:extLst>
              <a:ext uri="{FF2B5EF4-FFF2-40B4-BE49-F238E27FC236}">
                <a16:creationId xmlns:a16="http://schemas.microsoft.com/office/drawing/2014/main" id="{9CEF4F4F-8F42-3F22-0897-F2E9A41CF458}"/>
              </a:ext>
            </a:extLst>
          </p:cNvPr>
          <p:cNvSpPr>
            <a:spLocks noGrp="1"/>
          </p:cNvSpPr>
          <p:nvPr>
            <p:ph type="dt" sz="half" idx="10"/>
          </p:nvPr>
        </p:nvSpPr>
        <p:spPr/>
        <p:txBody>
          <a:bodyPr/>
          <a:lstStyle/>
          <a:p>
            <a:pPr>
              <a:defRPr/>
            </a:pPr>
            <a:fld id="{D8C51814-DFC9-45F6-9198-CFB70C25DC18}" type="datetime1">
              <a:rPr lang="hr-HR" smtClean="0"/>
              <a:t>6.11.2025.</a:t>
            </a:fld>
            <a:endParaRPr lang="en-GB"/>
          </a:p>
        </p:txBody>
      </p:sp>
      <p:sp>
        <p:nvSpPr>
          <p:cNvPr id="6" name="Rezervirano mjesto podnožja 5">
            <a:extLst>
              <a:ext uri="{FF2B5EF4-FFF2-40B4-BE49-F238E27FC236}">
                <a16:creationId xmlns:a16="http://schemas.microsoft.com/office/drawing/2014/main" id="{597D5E1F-F932-5200-7104-B3AA2B63A6E4}"/>
              </a:ext>
            </a:extLst>
          </p:cNvPr>
          <p:cNvSpPr>
            <a:spLocks noGrp="1"/>
          </p:cNvSpPr>
          <p:nvPr>
            <p:ph type="ftr" sz="quarter" idx="11"/>
          </p:nvPr>
        </p:nvSpPr>
        <p:spPr/>
        <p:txBody>
          <a:bodyPr/>
          <a:lstStyle/>
          <a:p>
            <a:pPr>
              <a:defRPr/>
            </a:pPr>
            <a:r>
              <a:rPr lang="en-GB"/>
              <a:t>Predavanje 5</a:t>
            </a:r>
          </a:p>
        </p:txBody>
      </p:sp>
      <p:sp>
        <p:nvSpPr>
          <p:cNvPr id="7" name="Rezervirano mjesto broja slajda 6">
            <a:extLst>
              <a:ext uri="{FF2B5EF4-FFF2-40B4-BE49-F238E27FC236}">
                <a16:creationId xmlns:a16="http://schemas.microsoft.com/office/drawing/2014/main" id="{DF981A69-83B5-4A96-7E8D-32C436D0DA82}"/>
              </a:ext>
            </a:extLst>
          </p:cNvPr>
          <p:cNvSpPr>
            <a:spLocks noGrp="1"/>
          </p:cNvSpPr>
          <p:nvPr>
            <p:ph type="sldNum" sz="quarter" idx="12"/>
          </p:nvPr>
        </p:nvSpPr>
        <p:spPr/>
        <p:txBody>
          <a:bodyPr/>
          <a:lstStyle/>
          <a:p>
            <a:fld id="{65A14E20-BA2A-43FD-BB4B-65CF80A0D6DA}" type="slidenum">
              <a:rPr lang="en-GB" altLang="sr-Latn-RS" smtClean="0"/>
              <a:pPr/>
              <a:t>‹#›</a:t>
            </a:fld>
            <a:endParaRPr lang="en-GB" altLang="sr-Latn-RS"/>
          </a:p>
        </p:txBody>
      </p:sp>
    </p:spTree>
    <p:extLst>
      <p:ext uri="{BB962C8B-B14F-4D97-AF65-F5344CB8AC3E}">
        <p14:creationId xmlns:p14="http://schemas.microsoft.com/office/powerpoint/2010/main" val="250228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Usporedba">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AED48818-F2CE-F83C-F7C6-DF9A6B2F4349}"/>
              </a:ext>
            </a:extLst>
          </p:cNvPr>
          <p:cNvSpPr>
            <a:spLocks noGrp="1"/>
          </p:cNvSpPr>
          <p:nvPr>
            <p:ph type="title"/>
          </p:nvPr>
        </p:nvSpPr>
        <p:spPr>
          <a:xfrm>
            <a:off x="629841" y="365126"/>
            <a:ext cx="7886700" cy="1325563"/>
          </a:xfrm>
        </p:spPr>
        <p:txBody>
          <a:bodyPr/>
          <a:lstStyle/>
          <a:p>
            <a:r>
              <a:rPr lang="hr-HR"/>
              <a:t>Kliknite da biste uredili stil naslova matrice</a:t>
            </a:r>
          </a:p>
        </p:txBody>
      </p:sp>
      <p:sp>
        <p:nvSpPr>
          <p:cNvPr id="3" name="Rezervirano mjesto teksta 2">
            <a:extLst>
              <a:ext uri="{FF2B5EF4-FFF2-40B4-BE49-F238E27FC236}">
                <a16:creationId xmlns:a16="http://schemas.microsoft.com/office/drawing/2014/main" id="{04F3C7B7-1CB4-B459-C4E7-09594512B0F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r-HR"/>
              <a:t>Kliknite da biste uredili matrice</a:t>
            </a:r>
          </a:p>
        </p:txBody>
      </p:sp>
      <p:sp>
        <p:nvSpPr>
          <p:cNvPr id="4" name="Rezervirano mjesto sadržaja 3">
            <a:extLst>
              <a:ext uri="{FF2B5EF4-FFF2-40B4-BE49-F238E27FC236}">
                <a16:creationId xmlns:a16="http://schemas.microsoft.com/office/drawing/2014/main" id="{47D76B94-B6EB-3BDB-BFC2-A7C20BF0E213}"/>
              </a:ext>
            </a:extLst>
          </p:cNvPr>
          <p:cNvSpPr>
            <a:spLocks noGrp="1"/>
          </p:cNvSpPr>
          <p:nvPr>
            <p:ph sz="half" idx="2"/>
          </p:nvPr>
        </p:nvSpPr>
        <p:spPr>
          <a:xfrm>
            <a:off x="629842" y="2505075"/>
            <a:ext cx="3868340" cy="3684588"/>
          </a:xfrm>
        </p:spPr>
        <p:txBody>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5" name="Rezervirano mjesto teksta 4">
            <a:extLst>
              <a:ext uri="{FF2B5EF4-FFF2-40B4-BE49-F238E27FC236}">
                <a16:creationId xmlns:a16="http://schemas.microsoft.com/office/drawing/2014/main" id="{C066215B-06BE-4B8E-3B78-78E214A2CE4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r-HR"/>
              <a:t>Kliknite da biste uredili matrice</a:t>
            </a:r>
          </a:p>
        </p:txBody>
      </p:sp>
      <p:sp>
        <p:nvSpPr>
          <p:cNvPr id="6" name="Rezervirano mjesto sadržaja 5">
            <a:extLst>
              <a:ext uri="{FF2B5EF4-FFF2-40B4-BE49-F238E27FC236}">
                <a16:creationId xmlns:a16="http://schemas.microsoft.com/office/drawing/2014/main" id="{2576EE35-B21D-D912-499A-225B8AFE655C}"/>
              </a:ext>
            </a:extLst>
          </p:cNvPr>
          <p:cNvSpPr>
            <a:spLocks noGrp="1"/>
          </p:cNvSpPr>
          <p:nvPr>
            <p:ph sz="quarter" idx="4"/>
          </p:nvPr>
        </p:nvSpPr>
        <p:spPr>
          <a:xfrm>
            <a:off x="4629150" y="2505075"/>
            <a:ext cx="3887391" cy="3684588"/>
          </a:xfrm>
        </p:spPr>
        <p:txBody>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7" name="Rezervirano mjesto datuma 6">
            <a:extLst>
              <a:ext uri="{FF2B5EF4-FFF2-40B4-BE49-F238E27FC236}">
                <a16:creationId xmlns:a16="http://schemas.microsoft.com/office/drawing/2014/main" id="{546C27B8-A618-2864-60A6-E2CEA42A32E4}"/>
              </a:ext>
            </a:extLst>
          </p:cNvPr>
          <p:cNvSpPr>
            <a:spLocks noGrp="1"/>
          </p:cNvSpPr>
          <p:nvPr>
            <p:ph type="dt" sz="half" idx="10"/>
          </p:nvPr>
        </p:nvSpPr>
        <p:spPr/>
        <p:txBody>
          <a:bodyPr/>
          <a:lstStyle/>
          <a:p>
            <a:pPr>
              <a:defRPr/>
            </a:pPr>
            <a:fld id="{953ACD4A-E4B4-4E93-8F9A-A393C4C8A3A3}" type="datetime1">
              <a:rPr lang="hr-HR" smtClean="0"/>
              <a:t>6.11.2025.</a:t>
            </a:fld>
            <a:endParaRPr lang="en-GB"/>
          </a:p>
        </p:txBody>
      </p:sp>
      <p:sp>
        <p:nvSpPr>
          <p:cNvPr id="8" name="Rezervirano mjesto podnožja 7">
            <a:extLst>
              <a:ext uri="{FF2B5EF4-FFF2-40B4-BE49-F238E27FC236}">
                <a16:creationId xmlns:a16="http://schemas.microsoft.com/office/drawing/2014/main" id="{412E5610-A867-5DEE-7E4C-301AF9F0AC1A}"/>
              </a:ext>
            </a:extLst>
          </p:cNvPr>
          <p:cNvSpPr>
            <a:spLocks noGrp="1"/>
          </p:cNvSpPr>
          <p:nvPr>
            <p:ph type="ftr" sz="quarter" idx="11"/>
          </p:nvPr>
        </p:nvSpPr>
        <p:spPr/>
        <p:txBody>
          <a:bodyPr/>
          <a:lstStyle/>
          <a:p>
            <a:pPr>
              <a:defRPr/>
            </a:pPr>
            <a:r>
              <a:rPr lang="en-GB"/>
              <a:t>Predavanje 5</a:t>
            </a:r>
          </a:p>
        </p:txBody>
      </p:sp>
      <p:sp>
        <p:nvSpPr>
          <p:cNvPr id="9" name="Rezervirano mjesto broja slajda 8">
            <a:extLst>
              <a:ext uri="{FF2B5EF4-FFF2-40B4-BE49-F238E27FC236}">
                <a16:creationId xmlns:a16="http://schemas.microsoft.com/office/drawing/2014/main" id="{537C3A72-F5BA-A6E2-49F1-7E46B894F4CF}"/>
              </a:ext>
            </a:extLst>
          </p:cNvPr>
          <p:cNvSpPr>
            <a:spLocks noGrp="1"/>
          </p:cNvSpPr>
          <p:nvPr>
            <p:ph type="sldNum" sz="quarter" idx="12"/>
          </p:nvPr>
        </p:nvSpPr>
        <p:spPr/>
        <p:txBody>
          <a:bodyPr/>
          <a:lstStyle/>
          <a:p>
            <a:fld id="{65A14E20-BA2A-43FD-BB4B-65CF80A0D6DA}" type="slidenum">
              <a:rPr lang="en-GB" altLang="sr-Latn-RS" smtClean="0"/>
              <a:pPr/>
              <a:t>‹#›</a:t>
            </a:fld>
            <a:endParaRPr lang="en-GB" altLang="sr-Latn-RS"/>
          </a:p>
        </p:txBody>
      </p:sp>
    </p:spTree>
    <p:extLst>
      <p:ext uri="{BB962C8B-B14F-4D97-AF65-F5344CB8AC3E}">
        <p14:creationId xmlns:p14="http://schemas.microsoft.com/office/powerpoint/2010/main" val="612585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amo naslov">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99BC7801-7ED8-8080-6808-B6FE48F6B081}"/>
              </a:ext>
            </a:extLst>
          </p:cNvPr>
          <p:cNvSpPr>
            <a:spLocks noGrp="1"/>
          </p:cNvSpPr>
          <p:nvPr>
            <p:ph type="title"/>
          </p:nvPr>
        </p:nvSpPr>
        <p:spPr/>
        <p:txBody>
          <a:bodyPr/>
          <a:lstStyle/>
          <a:p>
            <a:r>
              <a:rPr lang="hr-HR"/>
              <a:t>Kliknite da biste uredili stil naslova matrice</a:t>
            </a:r>
          </a:p>
        </p:txBody>
      </p:sp>
      <p:sp>
        <p:nvSpPr>
          <p:cNvPr id="3" name="Rezervirano mjesto datuma 2">
            <a:extLst>
              <a:ext uri="{FF2B5EF4-FFF2-40B4-BE49-F238E27FC236}">
                <a16:creationId xmlns:a16="http://schemas.microsoft.com/office/drawing/2014/main" id="{BE750DE2-C801-3960-F510-7FBA3598E862}"/>
              </a:ext>
            </a:extLst>
          </p:cNvPr>
          <p:cNvSpPr>
            <a:spLocks noGrp="1"/>
          </p:cNvSpPr>
          <p:nvPr>
            <p:ph type="dt" sz="half" idx="10"/>
          </p:nvPr>
        </p:nvSpPr>
        <p:spPr/>
        <p:txBody>
          <a:bodyPr/>
          <a:lstStyle/>
          <a:p>
            <a:pPr>
              <a:defRPr/>
            </a:pPr>
            <a:fld id="{4F915531-B29C-415C-A46F-A19B8AC6BF45}" type="datetime1">
              <a:rPr lang="hr-HR" smtClean="0"/>
              <a:t>6.11.2025.</a:t>
            </a:fld>
            <a:endParaRPr lang="en-GB"/>
          </a:p>
        </p:txBody>
      </p:sp>
      <p:sp>
        <p:nvSpPr>
          <p:cNvPr id="4" name="Rezervirano mjesto podnožja 3">
            <a:extLst>
              <a:ext uri="{FF2B5EF4-FFF2-40B4-BE49-F238E27FC236}">
                <a16:creationId xmlns:a16="http://schemas.microsoft.com/office/drawing/2014/main" id="{47DAE6DE-F2E9-8DEA-F462-3A96169CFEA3}"/>
              </a:ext>
            </a:extLst>
          </p:cNvPr>
          <p:cNvSpPr>
            <a:spLocks noGrp="1"/>
          </p:cNvSpPr>
          <p:nvPr>
            <p:ph type="ftr" sz="quarter" idx="11"/>
          </p:nvPr>
        </p:nvSpPr>
        <p:spPr/>
        <p:txBody>
          <a:bodyPr/>
          <a:lstStyle/>
          <a:p>
            <a:pPr>
              <a:defRPr/>
            </a:pPr>
            <a:r>
              <a:rPr lang="en-GB"/>
              <a:t>Predavanje 5</a:t>
            </a:r>
          </a:p>
        </p:txBody>
      </p:sp>
      <p:sp>
        <p:nvSpPr>
          <p:cNvPr id="5" name="Rezervirano mjesto broja slajda 4">
            <a:extLst>
              <a:ext uri="{FF2B5EF4-FFF2-40B4-BE49-F238E27FC236}">
                <a16:creationId xmlns:a16="http://schemas.microsoft.com/office/drawing/2014/main" id="{09D68DCF-8BB2-6866-42B5-B44CB39A714B}"/>
              </a:ext>
            </a:extLst>
          </p:cNvPr>
          <p:cNvSpPr>
            <a:spLocks noGrp="1"/>
          </p:cNvSpPr>
          <p:nvPr>
            <p:ph type="sldNum" sz="quarter" idx="12"/>
          </p:nvPr>
        </p:nvSpPr>
        <p:spPr/>
        <p:txBody>
          <a:bodyPr/>
          <a:lstStyle/>
          <a:p>
            <a:fld id="{65A14E20-BA2A-43FD-BB4B-65CF80A0D6DA}" type="slidenum">
              <a:rPr lang="en-GB" altLang="sr-Latn-RS" smtClean="0"/>
              <a:pPr/>
              <a:t>‹#›</a:t>
            </a:fld>
            <a:endParaRPr lang="en-GB" altLang="sr-Latn-RS"/>
          </a:p>
        </p:txBody>
      </p:sp>
    </p:spTree>
    <p:extLst>
      <p:ext uri="{BB962C8B-B14F-4D97-AF65-F5344CB8AC3E}">
        <p14:creationId xmlns:p14="http://schemas.microsoft.com/office/powerpoint/2010/main" val="3475413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azno">
    <p:spTree>
      <p:nvGrpSpPr>
        <p:cNvPr id="1" name=""/>
        <p:cNvGrpSpPr/>
        <p:nvPr/>
      </p:nvGrpSpPr>
      <p:grpSpPr>
        <a:xfrm>
          <a:off x="0" y="0"/>
          <a:ext cx="0" cy="0"/>
          <a:chOff x="0" y="0"/>
          <a:chExt cx="0" cy="0"/>
        </a:xfrm>
      </p:grpSpPr>
      <p:sp>
        <p:nvSpPr>
          <p:cNvPr id="2" name="Rezervirano mjesto datuma 1">
            <a:extLst>
              <a:ext uri="{FF2B5EF4-FFF2-40B4-BE49-F238E27FC236}">
                <a16:creationId xmlns:a16="http://schemas.microsoft.com/office/drawing/2014/main" id="{CD0B7E5F-9B92-746B-6913-C23F25B63921}"/>
              </a:ext>
            </a:extLst>
          </p:cNvPr>
          <p:cNvSpPr>
            <a:spLocks noGrp="1"/>
          </p:cNvSpPr>
          <p:nvPr>
            <p:ph type="dt" sz="half" idx="10"/>
          </p:nvPr>
        </p:nvSpPr>
        <p:spPr/>
        <p:txBody>
          <a:bodyPr/>
          <a:lstStyle/>
          <a:p>
            <a:pPr>
              <a:defRPr/>
            </a:pPr>
            <a:fld id="{D6F93E8F-3FE7-48B1-9876-9E71A3E07A1C}" type="datetime1">
              <a:rPr lang="hr-HR" smtClean="0"/>
              <a:t>6.11.2025.</a:t>
            </a:fld>
            <a:endParaRPr lang="en-GB"/>
          </a:p>
        </p:txBody>
      </p:sp>
      <p:sp>
        <p:nvSpPr>
          <p:cNvPr id="3" name="Rezervirano mjesto podnožja 2">
            <a:extLst>
              <a:ext uri="{FF2B5EF4-FFF2-40B4-BE49-F238E27FC236}">
                <a16:creationId xmlns:a16="http://schemas.microsoft.com/office/drawing/2014/main" id="{2F1DF6F7-660A-4C3A-D10D-4CFC3E57F853}"/>
              </a:ext>
            </a:extLst>
          </p:cNvPr>
          <p:cNvSpPr>
            <a:spLocks noGrp="1"/>
          </p:cNvSpPr>
          <p:nvPr>
            <p:ph type="ftr" sz="quarter" idx="11"/>
          </p:nvPr>
        </p:nvSpPr>
        <p:spPr/>
        <p:txBody>
          <a:bodyPr/>
          <a:lstStyle/>
          <a:p>
            <a:pPr>
              <a:defRPr/>
            </a:pPr>
            <a:r>
              <a:rPr lang="en-GB"/>
              <a:t>Predavanje 5</a:t>
            </a:r>
          </a:p>
        </p:txBody>
      </p:sp>
      <p:sp>
        <p:nvSpPr>
          <p:cNvPr id="4" name="Rezervirano mjesto broja slajda 3">
            <a:extLst>
              <a:ext uri="{FF2B5EF4-FFF2-40B4-BE49-F238E27FC236}">
                <a16:creationId xmlns:a16="http://schemas.microsoft.com/office/drawing/2014/main" id="{7CA6DFC4-A6A5-4D3D-2292-DAA263DD9769}"/>
              </a:ext>
            </a:extLst>
          </p:cNvPr>
          <p:cNvSpPr>
            <a:spLocks noGrp="1"/>
          </p:cNvSpPr>
          <p:nvPr>
            <p:ph type="sldNum" sz="quarter" idx="12"/>
          </p:nvPr>
        </p:nvSpPr>
        <p:spPr/>
        <p:txBody>
          <a:bodyPr/>
          <a:lstStyle/>
          <a:p>
            <a:fld id="{65A14E20-BA2A-43FD-BB4B-65CF80A0D6DA}" type="slidenum">
              <a:rPr lang="en-GB" altLang="sr-Latn-RS" smtClean="0"/>
              <a:pPr/>
              <a:t>‹#›</a:t>
            </a:fld>
            <a:endParaRPr lang="en-GB" altLang="sr-Latn-RS"/>
          </a:p>
        </p:txBody>
      </p:sp>
    </p:spTree>
    <p:extLst>
      <p:ext uri="{BB962C8B-B14F-4D97-AF65-F5344CB8AC3E}">
        <p14:creationId xmlns:p14="http://schemas.microsoft.com/office/powerpoint/2010/main" val="199336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Sadržaj s opisom">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5ABD9198-29C5-1FF3-1547-D803AC4F010E}"/>
              </a:ext>
            </a:extLst>
          </p:cNvPr>
          <p:cNvSpPr>
            <a:spLocks noGrp="1"/>
          </p:cNvSpPr>
          <p:nvPr>
            <p:ph type="title"/>
          </p:nvPr>
        </p:nvSpPr>
        <p:spPr>
          <a:xfrm>
            <a:off x="629841" y="457200"/>
            <a:ext cx="2949178" cy="1600200"/>
          </a:xfrm>
        </p:spPr>
        <p:txBody>
          <a:bodyPr anchor="b"/>
          <a:lstStyle>
            <a:lvl1pPr>
              <a:defRPr sz="2400"/>
            </a:lvl1pPr>
          </a:lstStyle>
          <a:p>
            <a:r>
              <a:rPr lang="hr-HR"/>
              <a:t>Kliknite da biste uredili stil naslova matrice</a:t>
            </a:r>
          </a:p>
        </p:txBody>
      </p:sp>
      <p:sp>
        <p:nvSpPr>
          <p:cNvPr id="3" name="Rezervirano mjesto sadržaja 2">
            <a:extLst>
              <a:ext uri="{FF2B5EF4-FFF2-40B4-BE49-F238E27FC236}">
                <a16:creationId xmlns:a16="http://schemas.microsoft.com/office/drawing/2014/main" id="{6C1AA1B6-13A9-31A9-5D74-0F403952173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teksta 3">
            <a:extLst>
              <a:ext uri="{FF2B5EF4-FFF2-40B4-BE49-F238E27FC236}">
                <a16:creationId xmlns:a16="http://schemas.microsoft.com/office/drawing/2014/main" id="{583C49F4-3980-DAC6-E740-A2A7E37E6DF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r-HR"/>
              <a:t>Kliknite da biste uredili matrice</a:t>
            </a:r>
          </a:p>
        </p:txBody>
      </p:sp>
      <p:sp>
        <p:nvSpPr>
          <p:cNvPr id="5" name="Rezervirano mjesto datuma 4">
            <a:extLst>
              <a:ext uri="{FF2B5EF4-FFF2-40B4-BE49-F238E27FC236}">
                <a16:creationId xmlns:a16="http://schemas.microsoft.com/office/drawing/2014/main" id="{8E1976B0-6288-E86D-9B45-5C51923AF102}"/>
              </a:ext>
            </a:extLst>
          </p:cNvPr>
          <p:cNvSpPr>
            <a:spLocks noGrp="1"/>
          </p:cNvSpPr>
          <p:nvPr>
            <p:ph type="dt" sz="half" idx="10"/>
          </p:nvPr>
        </p:nvSpPr>
        <p:spPr/>
        <p:txBody>
          <a:bodyPr/>
          <a:lstStyle/>
          <a:p>
            <a:pPr>
              <a:defRPr/>
            </a:pPr>
            <a:fld id="{A0436A5D-3533-4AD7-A3B7-F822437CD5AF}" type="datetime1">
              <a:rPr lang="hr-HR" smtClean="0"/>
              <a:t>6.11.2025.</a:t>
            </a:fld>
            <a:endParaRPr lang="en-GB"/>
          </a:p>
        </p:txBody>
      </p:sp>
      <p:sp>
        <p:nvSpPr>
          <p:cNvPr id="6" name="Rezervirano mjesto podnožja 5">
            <a:extLst>
              <a:ext uri="{FF2B5EF4-FFF2-40B4-BE49-F238E27FC236}">
                <a16:creationId xmlns:a16="http://schemas.microsoft.com/office/drawing/2014/main" id="{D347FBDB-207E-B8B6-9009-C961E4E4E94F}"/>
              </a:ext>
            </a:extLst>
          </p:cNvPr>
          <p:cNvSpPr>
            <a:spLocks noGrp="1"/>
          </p:cNvSpPr>
          <p:nvPr>
            <p:ph type="ftr" sz="quarter" idx="11"/>
          </p:nvPr>
        </p:nvSpPr>
        <p:spPr/>
        <p:txBody>
          <a:bodyPr/>
          <a:lstStyle/>
          <a:p>
            <a:pPr>
              <a:defRPr/>
            </a:pPr>
            <a:r>
              <a:rPr lang="en-GB"/>
              <a:t>Predavanje 5</a:t>
            </a:r>
          </a:p>
        </p:txBody>
      </p:sp>
      <p:sp>
        <p:nvSpPr>
          <p:cNvPr id="7" name="Rezervirano mjesto broja slajda 6">
            <a:extLst>
              <a:ext uri="{FF2B5EF4-FFF2-40B4-BE49-F238E27FC236}">
                <a16:creationId xmlns:a16="http://schemas.microsoft.com/office/drawing/2014/main" id="{59ABE817-FFCD-EFEF-72C3-E1D436E60983}"/>
              </a:ext>
            </a:extLst>
          </p:cNvPr>
          <p:cNvSpPr>
            <a:spLocks noGrp="1"/>
          </p:cNvSpPr>
          <p:nvPr>
            <p:ph type="sldNum" sz="quarter" idx="12"/>
          </p:nvPr>
        </p:nvSpPr>
        <p:spPr/>
        <p:txBody>
          <a:bodyPr/>
          <a:lstStyle/>
          <a:p>
            <a:fld id="{65A14E20-BA2A-43FD-BB4B-65CF80A0D6DA}" type="slidenum">
              <a:rPr lang="en-GB" altLang="sr-Latn-RS" smtClean="0"/>
              <a:pPr/>
              <a:t>‹#›</a:t>
            </a:fld>
            <a:endParaRPr lang="en-GB" altLang="sr-Latn-RS"/>
          </a:p>
        </p:txBody>
      </p:sp>
    </p:spTree>
    <p:extLst>
      <p:ext uri="{BB962C8B-B14F-4D97-AF65-F5344CB8AC3E}">
        <p14:creationId xmlns:p14="http://schemas.microsoft.com/office/powerpoint/2010/main" val="4357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Slika s opisom">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0DEFFD64-E678-A779-C588-53F010A98B5A}"/>
              </a:ext>
            </a:extLst>
          </p:cNvPr>
          <p:cNvSpPr>
            <a:spLocks noGrp="1"/>
          </p:cNvSpPr>
          <p:nvPr>
            <p:ph type="title"/>
          </p:nvPr>
        </p:nvSpPr>
        <p:spPr>
          <a:xfrm>
            <a:off x="629841" y="457200"/>
            <a:ext cx="2949178" cy="1600200"/>
          </a:xfrm>
        </p:spPr>
        <p:txBody>
          <a:bodyPr anchor="b"/>
          <a:lstStyle>
            <a:lvl1pPr>
              <a:defRPr sz="2400"/>
            </a:lvl1pPr>
          </a:lstStyle>
          <a:p>
            <a:r>
              <a:rPr lang="hr-HR"/>
              <a:t>Kliknite da biste uredili stil naslova matrice</a:t>
            </a:r>
          </a:p>
        </p:txBody>
      </p:sp>
      <p:sp>
        <p:nvSpPr>
          <p:cNvPr id="3" name="Rezervirano mjesto slike 2">
            <a:extLst>
              <a:ext uri="{FF2B5EF4-FFF2-40B4-BE49-F238E27FC236}">
                <a16:creationId xmlns:a16="http://schemas.microsoft.com/office/drawing/2014/main" id="{5D3ECC18-9939-D7D4-DA90-22827B0CB7B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hr-HR"/>
          </a:p>
        </p:txBody>
      </p:sp>
      <p:sp>
        <p:nvSpPr>
          <p:cNvPr id="4" name="Rezervirano mjesto teksta 3">
            <a:extLst>
              <a:ext uri="{FF2B5EF4-FFF2-40B4-BE49-F238E27FC236}">
                <a16:creationId xmlns:a16="http://schemas.microsoft.com/office/drawing/2014/main" id="{95DBB32E-FD9A-EB75-B0CD-C7C1E21ACA2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r-HR"/>
              <a:t>Kliknite da biste uredili matrice</a:t>
            </a:r>
          </a:p>
        </p:txBody>
      </p:sp>
      <p:sp>
        <p:nvSpPr>
          <p:cNvPr id="5" name="Rezervirano mjesto datuma 4">
            <a:extLst>
              <a:ext uri="{FF2B5EF4-FFF2-40B4-BE49-F238E27FC236}">
                <a16:creationId xmlns:a16="http://schemas.microsoft.com/office/drawing/2014/main" id="{9E115410-DF6B-2220-5218-72D93CAA6A0A}"/>
              </a:ext>
            </a:extLst>
          </p:cNvPr>
          <p:cNvSpPr>
            <a:spLocks noGrp="1"/>
          </p:cNvSpPr>
          <p:nvPr>
            <p:ph type="dt" sz="half" idx="10"/>
          </p:nvPr>
        </p:nvSpPr>
        <p:spPr/>
        <p:txBody>
          <a:bodyPr/>
          <a:lstStyle/>
          <a:p>
            <a:pPr>
              <a:defRPr/>
            </a:pPr>
            <a:fld id="{972FC5BC-6082-4FE7-A465-BF350D9BA4F9}" type="datetime1">
              <a:rPr lang="hr-HR" smtClean="0"/>
              <a:t>6.11.2025.</a:t>
            </a:fld>
            <a:endParaRPr lang="en-GB"/>
          </a:p>
        </p:txBody>
      </p:sp>
      <p:sp>
        <p:nvSpPr>
          <p:cNvPr id="6" name="Rezervirano mjesto podnožja 5">
            <a:extLst>
              <a:ext uri="{FF2B5EF4-FFF2-40B4-BE49-F238E27FC236}">
                <a16:creationId xmlns:a16="http://schemas.microsoft.com/office/drawing/2014/main" id="{FAFB75A4-797A-AD17-E254-8FB617DD3108}"/>
              </a:ext>
            </a:extLst>
          </p:cNvPr>
          <p:cNvSpPr>
            <a:spLocks noGrp="1"/>
          </p:cNvSpPr>
          <p:nvPr>
            <p:ph type="ftr" sz="quarter" idx="11"/>
          </p:nvPr>
        </p:nvSpPr>
        <p:spPr/>
        <p:txBody>
          <a:bodyPr/>
          <a:lstStyle/>
          <a:p>
            <a:pPr>
              <a:defRPr/>
            </a:pPr>
            <a:r>
              <a:rPr lang="en-GB"/>
              <a:t>Predavanje 5</a:t>
            </a:r>
          </a:p>
        </p:txBody>
      </p:sp>
      <p:sp>
        <p:nvSpPr>
          <p:cNvPr id="7" name="Rezervirano mjesto broja slajda 6">
            <a:extLst>
              <a:ext uri="{FF2B5EF4-FFF2-40B4-BE49-F238E27FC236}">
                <a16:creationId xmlns:a16="http://schemas.microsoft.com/office/drawing/2014/main" id="{C08035E4-881E-2885-2140-F4E95D5A054F}"/>
              </a:ext>
            </a:extLst>
          </p:cNvPr>
          <p:cNvSpPr>
            <a:spLocks noGrp="1"/>
          </p:cNvSpPr>
          <p:nvPr>
            <p:ph type="sldNum" sz="quarter" idx="12"/>
          </p:nvPr>
        </p:nvSpPr>
        <p:spPr/>
        <p:txBody>
          <a:bodyPr/>
          <a:lstStyle/>
          <a:p>
            <a:fld id="{65A14E20-BA2A-43FD-BB4B-65CF80A0D6DA}" type="slidenum">
              <a:rPr lang="en-GB" altLang="sr-Latn-RS" smtClean="0"/>
              <a:pPr/>
              <a:t>‹#›</a:t>
            </a:fld>
            <a:endParaRPr lang="en-GB" altLang="sr-Latn-RS"/>
          </a:p>
        </p:txBody>
      </p:sp>
    </p:spTree>
    <p:extLst>
      <p:ext uri="{BB962C8B-B14F-4D97-AF65-F5344CB8AC3E}">
        <p14:creationId xmlns:p14="http://schemas.microsoft.com/office/powerpoint/2010/main" val="1518967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slov i okomiti tekst">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26C88275-8576-BF57-71C0-F5AB585E90ED}"/>
              </a:ext>
            </a:extLst>
          </p:cNvPr>
          <p:cNvSpPr>
            <a:spLocks noGrp="1"/>
          </p:cNvSpPr>
          <p:nvPr>
            <p:ph type="title"/>
          </p:nvPr>
        </p:nvSpPr>
        <p:spPr/>
        <p:txBody>
          <a:bodyPr/>
          <a:lstStyle/>
          <a:p>
            <a:r>
              <a:rPr lang="hr-HR"/>
              <a:t>Kliknite da biste uredili stil naslova matrice</a:t>
            </a:r>
          </a:p>
        </p:txBody>
      </p:sp>
      <p:sp>
        <p:nvSpPr>
          <p:cNvPr id="3" name="Rezervirano mjesto okomitog teksta 2">
            <a:extLst>
              <a:ext uri="{FF2B5EF4-FFF2-40B4-BE49-F238E27FC236}">
                <a16:creationId xmlns:a16="http://schemas.microsoft.com/office/drawing/2014/main" id="{261463C2-FEC1-6D98-98C9-E8D8A7B70692}"/>
              </a:ext>
            </a:extLst>
          </p:cNvPr>
          <p:cNvSpPr>
            <a:spLocks noGrp="1"/>
          </p:cNvSpPr>
          <p:nvPr>
            <p:ph type="body" orient="vert" idx="1"/>
          </p:nvPr>
        </p:nvSpPr>
        <p:spPr/>
        <p:txBody>
          <a:bodyPr vert="eaVert"/>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2914BBC0-F9DF-D25E-9CF4-9F9852F38003}"/>
              </a:ext>
            </a:extLst>
          </p:cNvPr>
          <p:cNvSpPr>
            <a:spLocks noGrp="1"/>
          </p:cNvSpPr>
          <p:nvPr>
            <p:ph type="dt" sz="half" idx="10"/>
          </p:nvPr>
        </p:nvSpPr>
        <p:spPr/>
        <p:txBody>
          <a:bodyPr/>
          <a:lstStyle/>
          <a:p>
            <a:pPr>
              <a:defRPr/>
            </a:pPr>
            <a:fld id="{B2F01246-A034-476C-BAE9-26133364E453}" type="datetime1">
              <a:rPr lang="hr-HR" smtClean="0"/>
              <a:t>6.11.2025.</a:t>
            </a:fld>
            <a:endParaRPr lang="en-GB"/>
          </a:p>
        </p:txBody>
      </p:sp>
      <p:sp>
        <p:nvSpPr>
          <p:cNvPr id="5" name="Rezervirano mjesto podnožja 4">
            <a:extLst>
              <a:ext uri="{FF2B5EF4-FFF2-40B4-BE49-F238E27FC236}">
                <a16:creationId xmlns:a16="http://schemas.microsoft.com/office/drawing/2014/main" id="{E5B14A73-064B-D269-959C-9B8927E2BEAA}"/>
              </a:ext>
            </a:extLst>
          </p:cNvPr>
          <p:cNvSpPr>
            <a:spLocks noGrp="1"/>
          </p:cNvSpPr>
          <p:nvPr>
            <p:ph type="ftr" sz="quarter" idx="11"/>
          </p:nvPr>
        </p:nvSpPr>
        <p:spPr/>
        <p:txBody>
          <a:bodyPr/>
          <a:lstStyle/>
          <a:p>
            <a:pPr>
              <a:defRPr/>
            </a:pPr>
            <a:r>
              <a:rPr lang="en-GB"/>
              <a:t>Predavanje 5</a:t>
            </a:r>
          </a:p>
        </p:txBody>
      </p:sp>
      <p:sp>
        <p:nvSpPr>
          <p:cNvPr id="6" name="Rezervirano mjesto broja slajda 5">
            <a:extLst>
              <a:ext uri="{FF2B5EF4-FFF2-40B4-BE49-F238E27FC236}">
                <a16:creationId xmlns:a16="http://schemas.microsoft.com/office/drawing/2014/main" id="{62405716-6F55-D65B-F2AA-A82BFA7A4B79}"/>
              </a:ext>
            </a:extLst>
          </p:cNvPr>
          <p:cNvSpPr>
            <a:spLocks noGrp="1"/>
          </p:cNvSpPr>
          <p:nvPr>
            <p:ph type="sldNum" sz="quarter" idx="12"/>
          </p:nvPr>
        </p:nvSpPr>
        <p:spPr/>
        <p:txBody>
          <a:bodyPr/>
          <a:lstStyle/>
          <a:p>
            <a:fld id="{65A14E20-BA2A-43FD-BB4B-65CF80A0D6DA}" type="slidenum">
              <a:rPr lang="en-GB" altLang="sr-Latn-RS" smtClean="0"/>
              <a:pPr/>
              <a:t>‹#›</a:t>
            </a:fld>
            <a:endParaRPr lang="en-GB" altLang="sr-Latn-RS"/>
          </a:p>
        </p:txBody>
      </p:sp>
    </p:spTree>
    <p:extLst>
      <p:ext uri="{BB962C8B-B14F-4D97-AF65-F5344CB8AC3E}">
        <p14:creationId xmlns:p14="http://schemas.microsoft.com/office/powerpoint/2010/main" val="3693326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Okomiti naslov i tekst">
    <p:spTree>
      <p:nvGrpSpPr>
        <p:cNvPr id="1" name=""/>
        <p:cNvGrpSpPr/>
        <p:nvPr/>
      </p:nvGrpSpPr>
      <p:grpSpPr>
        <a:xfrm>
          <a:off x="0" y="0"/>
          <a:ext cx="0" cy="0"/>
          <a:chOff x="0" y="0"/>
          <a:chExt cx="0" cy="0"/>
        </a:xfrm>
      </p:grpSpPr>
      <p:sp>
        <p:nvSpPr>
          <p:cNvPr id="2" name="Okomiti naslov 1">
            <a:extLst>
              <a:ext uri="{FF2B5EF4-FFF2-40B4-BE49-F238E27FC236}">
                <a16:creationId xmlns:a16="http://schemas.microsoft.com/office/drawing/2014/main" id="{206B728A-A70F-09A7-AE9F-B29B2CEB05EA}"/>
              </a:ext>
            </a:extLst>
          </p:cNvPr>
          <p:cNvSpPr>
            <a:spLocks noGrp="1"/>
          </p:cNvSpPr>
          <p:nvPr>
            <p:ph type="title" orient="vert"/>
          </p:nvPr>
        </p:nvSpPr>
        <p:spPr>
          <a:xfrm>
            <a:off x="6543675" y="365125"/>
            <a:ext cx="1971675" cy="5811838"/>
          </a:xfrm>
        </p:spPr>
        <p:txBody>
          <a:bodyPr vert="eaVert"/>
          <a:lstStyle/>
          <a:p>
            <a:r>
              <a:rPr lang="hr-HR"/>
              <a:t>Kliknite da biste uredili stil naslova matrice</a:t>
            </a:r>
          </a:p>
        </p:txBody>
      </p:sp>
      <p:sp>
        <p:nvSpPr>
          <p:cNvPr id="3" name="Rezervirano mjesto okomitog teksta 2">
            <a:extLst>
              <a:ext uri="{FF2B5EF4-FFF2-40B4-BE49-F238E27FC236}">
                <a16:creationId xmlns:a16="http://schemas.microsoft.com/office/drawing/2014/main" id="{389537EC-79DB-9C39-F6F6-5A555D90A98B}"/>
              </a:ext>
            </a:extLst>
          </p:cNvPr>
          <p:cNvSpPr>
            <a:spLocks noGrp="1"/>
          </p:cNvSpPr>
          <p:nvPr>
            <p:ph type="body" orient="vert" idx="1"/>
          </p:nvPr>
        </p:nvSpPr>
        <p:spPr>
          <a:xfrm>
            <a:off x="628650" y="365125"/>
            <a:ext cx="5800725" cy="5811838"/>
          </a:xfrm>
        </p:spPr>
        <p:txBody>
          <a:bodyPr vert="eaVert"/>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88681268-4640-C853-5C72-39AB913CB9F0}"/>
              </a:ext>
            </a:extLst>
          </p:cNvPr>
          <p:cNvSpPr>
            <a:spLocks noGrp="1"/>
          </p:cNvSpPr>
          <p:nvPr>
            <p:ph type="dt" sz="half" idx="10"/>
          </p:nvPr>
        </p:nvSpPr>
        <p:spPr/>
        <p:txBody>
          <a:bodyPr/>
          <a:lstStyle/>
          <a:p>
            <a:pPr>
              <a:defRPr/>
            </a:pPr>
            <a:fld id="{E6CAA2D9-801D-40A2-A17A-79C41A2F06D2}" type="datetime1">
              <a:rPr lang="hr-HR" smtClean="0"/>
              <a:t>6.11.2025.</a:t>
            </a:fld>
            <a:endParaRPr lang="en-GB"/>
          </a:p>
        </p:txBody>
      </p:sp>
      <p:sp>
        <p:nvSpPr>
          <p:cNvPr id="5" name="Rezervirano mjesto podnožja 4">
            <a:extLst>
              <a:ext uri="{FF2B5EF4-FFF2-40B4-BE49-F238E27FC236}">
                <a16:creationId xmlns:a16="http://schemas.microsoft.com/office/drawing/2014/main" id="{4000E241-7B49-3B8A-3EF0-2E5CE79DEBFB}"/>
              </a:ext>
            </a:extLst>
          </p:cNvPr>
          <p:cNvSpPr>
            <a:spLocks noGrp="1"/>
          </p:cNvSpPr>
          <p:nvPr>
            <p:ph type="ftr" sz="quarter" idx="11"/>
          </p:nvPr>
        </p:nvSpPr>
        <p:spPr/>
        <p:txBody>
          <a:bodyPr/>
          <a:lstStyle/>
          <a:p>
            <a:pPr>
              <a:defRPr/>
            </a:pPr>
            <a:r>
              <a:rPr lang="en-GB"/>
              <a:t>Predavanje 5</a:t>
            </a:r>
          </a:p>
        </p:txBody>
      </p:sp>
      <p:sp>
        <p:nvSpPr>
          <p:cNvPr id="6" name="Rezervirano mjesto broja slajda 5">
            <a:extLst>
              <a:ext uri="{FF2B5EF4-FFF2-40B4-BE49-F238E27FC236}">
                <a16:creationId xmlns:a16="http://schemas.microsoft.com/office/drawing/2014/main" id="{976287EF-FE6C-D7C6-AA6E-5E79DD8B8589}"/>
              </a:ext>
            </a:extLst>
          </p:cNvPr>
          <p:cNvSpPr>
            <a:spLocks noGrp="1"/>
          </p:cNvSpPr>
          <p:nvPr>
            <p:ph type="sldNum" sz="quarter" idx="12"/>
          </p:nvPr>
        </p:nvSpPr>
        <p:spPr/>
        <p:txBody>
          <a:bodyPr/>
          <a:lstStyle/>
          <a:p>
            <a:fld id="{65A14E20-BA2A-43FD-BB4B-65CF80A0D6DA}" type="slidenum">
              <a:rPr lang="en-GB" altLang="sr-Latn-RS" smtClean="0"/>
              <a:pPr/>
              <a:t>‹#›</a:t>
            </a:fld>
            <a:endParaRPr lang="en-GB" altLang="sr-Latn-RS"/>
          </a:p>
        </p:txBody>
      </p:sp>
    </p:spTree>
    <p:extLst>
      <p:ext uri="{BB962C8B-B14F-4D97-AF65-F5344CB8AC3E}">
        <p14:creationId xmlns:p14="http://schemas.microsoft.com/office/powerpoint/2010/main" val="598642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2C6E2A9-9DF8-D3A8-6148-B4BBA6EB92B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hr-HR"/>
              <a:t>Kliknite da biste uredili stil naslova matrice</a:t>
            </a:r>
          </a:p>
        </p:txBody>
      </p:sp>
      <p:sp>
        <p:nvSpPr>
          <p:cNvPr id="3" name="Rezervirano mjesto teksta 2">
            <a:extLst>
              <a:ext uri="{FF2B5EF4-FFF2-40B4-BE49-F238E27FC236}">
                <a16:creationId xmlns:a16="http://schemas.microsoft.com/office/drawing/2014/main" id="{699F20E1-1C09-C782-1337-B950AB86D0B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60961843-7253-BCB0-9B56-B0090CEEC19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87CC201F-61CA-4B1F-A345-D0C5E830A515}" type="datetime1">
              <a:rPr lang="hr-HR" smtClean="0"/>
              <a:t>6.11.2025.</a:t>
            </a:fld>
            <a:endParaRPr lang="en-GB"/>
          </a:p>
        </p:txBody>
      </p:sp>
      <p:sp>
        <p:nvSpPr>
          <p:cNvPr id="5" name="Rezervirano mjesto podnožja 4">
            <a:extLst>
              <a:ext uri="{FF2B5EF4-FFF2-40B4-BE49-F238E27FC236}">
                <a16:creationId xmlns:a16="http://schemas.microsoft.com/office/drawing/2014/main" id="{C2D696DF-A514-63D2-B914-4E0A846E499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GB"/>
              <a:t>Predavanje 5</a:t>
            </a:r>
          </a:p>
        </p:txBody>
      </p:sp>
      <p:sp>
        <p:nvSpPr>
          <p:cNvPr id="6" name="Rezervirano mjesto broja slajda 5">
            <a:extLst>
              <a:ext uri="{FF2B5EF4-FFF2-40B4-BE49-F238E27FC236}">
                <a16:creationId xmlns:a16="http://schemas.microsoft.com/office/drawing/2014/main" id="{9EA06718-2F4D-4581-CA9F-9BB4EDCC15D9}"/>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A14E20-BA2A-43FD-BB4B-65CF80A0D6DA}" type="slidenum">
              <a:rPr lang="en-GB" altLang="sr-Latn-RS" smtClean="0"/>
              <a:pPr/>
              <a:t>‹#›</a:t>
            </a:fld>
            <a:endParaRPr lang="en-GB" altLang="sr-Latn-RS"/>
          </a:p>
        </p:txBody>
      </p:sp>
    </p:spTree>
    <p:extLst>
      <p:ext uri="{BB962C8B-B14F-4D97-AF65-F5344CB8AC3E}">
        <p14:creationId xmlns:p14="http://schemas.microsoft.com/office/powerpoint/2010/main" val="2533463396"/>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sr-Latn-R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ublicdomainpictures.net/en/view-image.php?image=312928&amp;picture=graphic-arts"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3.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7.wmf"/><Relationship Id="rId5" Type="http://schemas.openxmlformats.org/officeDocument/2006/relationships/oleObject" Target="../embeddings/oleObject5.bin"/><Relationship Id="rId4" Type="http://schemas.openxmlformats.org/officeDocument/2006/relationships/image" Target="../media/image16.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image" Target="../media/image16.wmf"/></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17.wmf"/><Relationship Id="rId5" Type="http://schemas.openxmlformats.org/officeDocument/2006/relationships/oleObject" Target="../embeddings/oleObject9.bin"/><Relationship Id="rId10" Type="http://schemas.openxmlformats.org/officeDocument/2006/relationships/image" Target="../media/image21.wmf"/><Relationship Id="rId4" Type="http://schemas.openxmlformats.org/officeDocument/2006/relationships/image" Target="../media/image16.wmf"/><Relationship Id="rId9" Type="http://schemas.openxmlformats.org/officeDocument/2006/relationships/oleObject" Target="../embeddings/oleObject11.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17.wmf"/><Relationship Id="rId5" Type="http://schemas.openxmlformats.org/officeDocument/2006/relationships/oleObject" Target="../embeddings/oleObject13.bin"/><Relationship Id="rId4" Type="http://schemas.openxmlformats.org/officeDocument/2006/relationships/image" Target="../media/image16.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7.wmf"/><Relationship Id="rId5" Type="http://schemas.openxmlformats.org/officeDocument/2006/relationships/oleObject" Target="../embeddings/oleObject15.bin"/><Relationship Id="rId4" Type="http://schemas.openxmlformats.org/officeDocument/2006/relationships/image" Target="../media/image16.wmf"/></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25.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27.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8.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9.wmf"/></Relationships>
</file>

<file path=ppt/slides/_rels/slide3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6.xml"/><Relationship Id="rId5" Type="http://schemas.openxmlformats.org/officeDocument/2006/relationships/image" Target="../media/image70.png"/><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Slika 6" descr="Slika na kojoj se prikazuje uzorak, šarenilo, zeleno, plavo&#10;&#10;Opis je automatski generiran">
            <a:extLst>
              <a:ext uri="{FF2B5EF4-FFF2-40B4-BE49-F238E27FC236}">
                <a16:creationId xmlns:a16="http://schemas.microsoft.com/office/drawing/2014/main" id="{FC4CAAC5-B57B-D1B8-8D0D-994C59209751}"/>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941" r="12849"/>
          <a:stretch/>
        </p:blipFill>
        <p:spPr>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6147" name="Rectangle 3">
            <a:extLst>
              <a:ext uri="{FF2B5EF4-FFF2-40B4-BE49-F238E27FC236}">
                <a16:creationId xmlns:a16="http://schemas.microsoft.com/office/drawing/2014/main" id="{8DCE6713-C50E-41AB-844F-1D1F6C9F5D39}"/>
              </a:ext>
            </a:extLst>
          </p:cNvPr>
          <p:cNvSpPr>
            <a:spLocks noGrp="1" noChangeArrowheads="1"/>
          </p:cNvSpPr>
          <p:nvPr>
            <p:ph type="ctrTitle"/>
          </p:nvPr>
        </p:nvSpPr>
        <p:spPr>
          <a:xfrm>
            <a:off x="482601" y="643467"/>
            <a:ext cx="3465438" cy="4567137"/>
          </a:xfrm>
        </p:spPr>
        <p:txBody>
          <a:bodyPr>
            <a:normAutofit/>
          </a:bodyPr>
          <a:lstStyle/>
          <a:p>
            <a:pPr algn="l" eaLnBrk="1" hangingPunct="1"/>
            <a:r>
              <a:rPr lang="hr-HR" altLang="sr-Latn-RS" sz="3800" b="1"/>
              <a:t>Računalna grafika</a:t>
            </a:r>
            <a:endParaRPr lang="en-GB" altLang="sr-Latn-RS" sz="3800" b="1"/>
          </a:p>
        </p:txBody>
      </p:sp>
      <p:sp>
        <p:nvSpPr>
          <p:cNvPr id="6146" name="Rectangle 4">
            <a:extLst>
              <a:ext uri="{FF2B5EF4-FFF2-40B4-BE49-F238E27FC236}">
                <a16:creationId xmlns:a16="http://schemas.microsoft.com/office/drawing/2014/main" id="{811B5B1D-A95C-4808-B239-3C1F47F486A0}"/>
              </a:ext>
            </a:extLst>
          </p:cNvPr>
          <p:cNvSpPr>
            <a:spLocks noGrp="1" noChangeArrowheads="1"/>
          </p:cNvSpPr>
          <p:nvPr>
            <p:ph type="subTitle" idx="1"/>
          </p:nvPr>
        </p:nvSpPr>
        <p:spPr>
          <a:xfrm>
            <a:off x="482600" y="5277683"/>
            <a:ext cx="4305424" cy="936849"/>
          </a:xfrm>
        </p:spPr>
        <p:txBody>
          <a:bodyPr>
            <a:normAutofit fontScale="92500" lnSpcReduction="10000"/>
          </a:bodyPr>
          <a:lstStyle/>
          <a:p>
            <a:pPr algn="l" eaLnBrk="1" hangingPunct="1"/>
            <a:r>
              <a:rPr lang="hr-HR" altLang="sr-Latn-RS" b="1" dirty="0">
                <a:latin typeface="Arial" panose="020B0604020202020204" pitchFamily="34" charset="0"/>
                <a:cs typeface="Arial" panose="020B0604020202020204" pitchFamily="34" charset="0"/>
              </a:rPr>
              <a:t>3D Cohen - </a:t>
            </a:r>
            <a:r>
              <a:rPr lang="hr-HR" altLang="sr-Latn-RS" b="1" dirty="0" err="1">
                <a:latin typeface="Arial" panose="020B0604020202020204" pitchFamily="34" charset="0"/>
                <a:cs typeface="Arial" panose="020B0604020202020204" pitchFamily="34" charset="0"/>
              </a:rPr>
              <a:t>Sutherland</a:t>
            </a:r>
            <a:endParaRPr lang="hr-HR" altLang="sr-Latn-RS" b="1" dirty="0">
              <a:latin typeface="Arial" panose="020B0604020202020204" pitchFamily="34" charset="0"/>
              <a:cs typeface="Arial" panose="020B0604020202020204" pitchFamily="34" charset="0"/>
            </a:endParaRPr>
          </a:p>
          <a:p>
            <a:pPr algn="l" eaLnBrk="1" hangingPunct="1"/>
            <a:r>
              <a:rPr lang="hr-HR" altLang="sr-Latn-RS" b="1" dirty="0">
                <a:latin typeface="Arial" panose="020B0604020202020204" pitchFamily="34" charset="0"/>
                <a:cs typeface="Arial" panose="020B0604020202020204" pitchFamily="34" charset="0"/>
              </a:rPr>
              <a:t>Osnovni algoritmi rasterske grafike</a:t>
            </a:r>
          </a:p>
          <a:p>
            <a:pPr algn="l"/>
            <a:r>
              <a:rPr lang="hr-HR" altLang="sr-Latn-RS" b="1" dirty="0">
                <a:latin typeface="Arial" panose="020B0604020202020204" pitchFamily="34" charset="0"/>
                <a:cs typeface="Arial" panose="020B0604020202020204" pitchFamily="34" charset="0"/>
              </a:rPr>
              <a:t>Ispunjavanje primitivnih oblika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D6C7584B-4B4B-42CA-97F9-15C7F3CC155D}"/>
              </a:ext>
            </a:extLst>
          </p:cNvPr>
          <p:cNvSpPr>
            <a:spLocks noGrp="1"/>
          </p:cNvSpPr>
          <p:nvPr>
            <p:ph type="title"/>
          </p:nvPr>
        </p:nvSpPr>
        <p:spPr>
          <a:xfrm>
            <a:off x="684212" y="404813"/>
            <a:ext cx="7920235" cy="990600"/>
          </a:xfrm>
        </p:spPr>
        <p:txBody>
          <a:bodyPr>
            <a:normAutofit/>
          </a:bodyPr>
          <a:lstStyle/>
          <a:p>
            <a:r>
              <a:rPr lang="hr-HR" altLang="sr-Latn-RS" sz="2800" b="1" dirty="0">
                <a:solidFill>
                  <a:schemeClr val="tx1"/>
                </a:solidFill>
                <a:latin typeface="Arial" panose="020B0604020202020204" pitchFamily="34" charset="0"/>
                <a:cs typeface="Arial" panose="020B0604020202020204" pitchFamily="34" charset="0"/>
              </a:rPr>
              <a:t>2D Cohen – </a:t>
            </a:r>
            <a:r>
              <a:rPr lang="hr-HR" altLang="sr-Latn-RS" sz="2800" b="1" dirty="0" err="1">
                <a:solidFill>
                  <a:schemeClr val="tx1"/>
                </a:solidFill>
                <a:latin typeface="Arial" panose="020B0604020202020204" pitchFamily="34" charset="0"/>
                <a:cs typeface="Arial" panose="020B0604020202020204" pitchFamily="34" charset="0"/>
              </a:rPr>
              <a:t>Sutherland</a:t>
            </a:r>
            <a:r>
              <a:rPr lang="hr-HR" altLang="sr-Latn-RS" sz="2800" b="1" dirty="0">
                <a:solidFill>
                  <a:schemeClr val="tx1"/>
                </a:solidFill>
                <a:latin typeface="Arial" panose="020B0604020202020204" pitchFamily="34" charset="0"/>
                <a:cs typeface="Arial" panose="020B0604020202020204" pitchFamily="34" charset="0"/>
              </a:rPr>
              <a:t> algoritam odrezivanja</a:t>
            </a:r>
            <a:br>
              <a:rPr lang="hr-HR" altLang="sr-Latn-RS" sz="2800" b="1" dirty="0">
                <a:solidFill>
                  <a:schemeClr val="tx1"/>
                </a:solidFill>
                <a:latin typeface="Arial" panose="020B0604020202020204" pitchFamily="34" charset="0"/>
                <a:cs typeface="Arial" panose="020B0604020202020204" pitchFamily="34" charset="0"/>
              </a:rPr>
            </a:br>
            <a:r>
              <a:rPr lang="hr-HR" altLang="sr-Latn-RS" sz="1600" dirty="0">
                <a:solidFill>
                  <a:srgbClr val="FF0000"/>
                </a:solidFill>
                <a:latin typeface="Times New Roman" panose="02020603050405020304" pitchFamily="18" charset="0"/>
              </a:rPr>
              <a:t>(dodatak s prošlog predavanja)</a:t>
            </a:r>
            <a:r>
              <a:rPr lang="en-GB" altLang="sr-Latn-RS" sz="1600" b="1" dirty="0">
                <a:solidFill>
                  <a:schemeClr val="tx1"/>
                </a:solidFill>
                <a:latin typeface="Arial" panose="020B0604020202020204" pitchFamily="34" charset="0"/>
                <a:cs typeface="Arial" panose="020B0604020202020204" pitchFamily="34" charset="0"/>
              </a:rPr>
              <a:t> </a:t>
            </a:r>
            <a:endParaRPr lang="en-US" altLang="sr-Latn-RS" sz="1600" b="1" dirty="0">
              <a:solidFill>
                <a:schemeClr val="tx1"/>
              </a:solidFill>
              <a:latin typeface="Arial" panose="020B0604020202020204" pitchFamily="34" charset="0"/>
              <a:cs typeface="Arial" panose="020B0604020202020204" pitchFamily="34" charset="0"/>
            </a:endParaRPr>
          </a:p>
        </p:txBody>
      </p:sp>
      <p:sp>
        <p:nvSpPr>
          <p:cNvPr id="38916" name="Rectangle 3">
            <a:extLst>
              <a:ext uri="{FF2B5EF4-FFF2-40B4-BE49-F238E27FC236}">
                <a16:creationId xmlns:a16="http://schemas.microsoft.com/office/drawing/2014/main" id="{0FCCFE96-AFF1-4103-86B9-5D5507EB46D0}"/>
              </a:ext>
            </a:extLst>
          </p:cNvPr>
          <p:cNvSpPr>
            <a:spLocks noGrp="1"/>
          </p:cNvSpPr>
          <p:nvPr>
            <p:ph idx="1"/>
          </p:nvPr>
        </p:nvSpPr>
        <p:spPr>
          <a:xfrm>
            <a:off x="4724400" y="1600200"/>
            <a:ext cx="3733800" cy="4114800"/>
          </a:xfrm>
        </p:spPr>
        <p:txBody>
          <a:bodyPr/>
          <a:lstStyle/>
          <a:p>
            <a:pPr marL="609600" indent="-609600" algn="just" eaLnBrk="1" hangingPunct="1"/>
            <a:r>
              <a:rPr lang="hr-HR" altLang="sr-Latn-RS" sz="2000" dirty="0">
                <a:latin typeface="Arial" panose="020B0604020202020204" pitchFamily="34" charset="0"/>
                <a:cs typeface="Arial" panose="020B0604020202020204" pitchFamily="34" charset="0"/>
              </a:rPr>
              <a:t>Prvi bit:	</a:t>
            </a:r>
            <a:r>
              <a:rPr lang="hr-HR" altLang="sr-Latn-RS" sz="2000" i="1" dirty="0">
                <a:latin typeface="Arial" panose="020B0604020202020204" pitchFamily="34" charset="0"/>
                <a:cs typeface="Arial" panose="020B0604020202020204" pitchFamily="34" charset="0"/>
              </a:rPr>
              <a:t>y </a:t>
            </a:r>
            <a:r>
              <a:rPr lang="hr-HR" altLang="sr-Latn-RS" sz="2000" dirty="0">
                <a:latin typeface="Arial" panose="020B0604020202020204" pitchFamily="34" charset="0"/>
                <a:cs typeface="Arial" panose="020B0604020202020204" pitchFamily="34" charset="0"/>
              </a:rPr>
              <a:t>&gt; </a:t>
            </a:r>
            <a:r>
              <a:rPr lang="hr-HR" altLang="sr-Latn-RS" sz="2000" i="1" dirty="0" err="1">
                <a:latin typeface="Arial" panose="020B0604020202020204" pitchFamily="34" charset="0"/>
                <a:cs typeface="Arial" panose="020B0604020202020204" pitchFamily="34" charset="0"/>
              </a:rPr>
              <a:t>y</a:t>
            </a:r>
            <a:r>
              <a:rPr lang="hr-HR" altLang="sr-Latn-RS" sz="2000" i="1" baseline="-30000" dirty="0" err="1">
                <a:latin typeface="Arial" panose="020B0604020202020204" pitchFamily="34" charset="0"/>
                <a:cs typeface="Arial" panose="020B0604020202020204" pitchFamily="34" charset="0"/>
              </a:rPr>
              <a:t>max</a:t>
            </a:r>
            <a:endParaRPr lang="hr-HR" altLang="sr-Latn-RS" sz="2000" dirty="0">
              <a:latin typeface="Arial" panose="020B0604020202020204" pitchFamily="34" charset="0"/>
              <a:cs typeface="Arial" panose="020B0604020202020204" pitchFamily="34" charset="0"/>
            </a:endParaRPr>
          </a:p>
          <a:p>
            <a:pPr marL="609600" indent="-609600" algn="just" eaLnBrk="1" hangingPunct="1"/>
            <a:r>
              <a:rPr lang="hr-HR" altLang="sr-Latn-RS" sz="2000" dirty="0">
                <a:latin typeface="Arial" panose="020B0604020202020204" pitchFamily="34" charset="0"/>
                <a:cs typeface="Arial" panose="020B0604020202020204" pitchFamily="34" charset="0"/>
              </a:rPr>
              <a:t>Drugi bit	</a:t>
            </a:r>
            <a:r>
              <a:rPr lang="hr-HR" altLang="sr-Latn-RS" sz="2000" i="1" dirty="0">
                <a:latin typeface="Arial" panose="020B0604020202020204" pitchFamily="34" charset="0"/>
                <a:cs typeface="Arial" panose="020B0604020202020204" pitchFamily="34" charset="0"/>
              </a:rPr>
              <a:t>y</a:t>
            </a:r>
            <a:r>
              <a:rPr lang="hr-HR" altLang="sr-Latn-RS" sz="2000" dirty="0">
                <a:latin typeface="Arial" panose="020B0604020202020204" pitchFamily="34" charset="0"/>
                <a:cs typeface="Arial" panose="020B0604020202020204" pitchFamily="34" charset="0"/>
              </a:rPr>
              <a:t> &lt; </a:t>
            </a:r>
            <a:r>
              <a:rPr lang="hr-HR" altLang="sr-Latn-RS" sz="2000" i="1" dirty="0" err="1">
                <a:latin typeface="Arial" panose="020B0604020202020204" pitchFamily="34" charset="0"/>
                <a:cs typeface="Arial" panose="020B0604020202020204" pitchFamily="34" charset="0"/>
              </a:rPr>
              <a:t>y</a:t>
            </a:r>
            <a:r>
              <a:rPr lang="hr-HR" altLang="sr-Latn-RS" sz="2000" i="1" baseline="-30000" dirty="0" err="1">
                <a:latin typeface="Arial" panose="020B0604020202020204" pitchFamily="34" charset="0"/>
                <a:cs typeface="Arial" panose="020B0604020202020204" pitchFamily="34" charset="0"/>
              </a:rPr>
              <a:t>min</a:t>
            </a:r>
            <a:endParaRPr lang="hr-HR" altLang="sr-Latn-RS" sz="2000" dirty="0">
              <a:latin typeface="Arial" panose="020B0604020202020204" pitchFamily="34" charset="0"/>
              <a:cs typeface="Arial" panose="020B0604020202020204" pitchFamily="34" charset="0"/>
            </a:endParaRPr>
          </a:p>
          <a:p>
            <a:pPr marL="609600" indent="-609600" algn="just" eaLnBrk="1" hangingPunct="1"/>
            <a:r>
              <a:rPr lang="hr-HR" altLang="sr-Latn-RS" sz="2000" dirty="0">
                <a:latin typeface="Arial" panose="020B0604020202020204" pitchFamily="34" charset="0"/>
                <a:cs typeface="Arial" panose="020B0604020202020204" pitchFamily="34" charset="0"/>
              </a:rPr>
              <a:t>Treći bit:	</a:t>
            </a:r>
            <a:r>
              <a:rPr lang="hr-HR" altLang="sr-Latn-RS" sz="2000" i="1" dirty="0">
                <a:latin typeface="Arial" panose="020B0604020202020204" pitchFamily="34" charset="0"/>
                <a:cs typeface="Arial" panose="020B0604020202020204" pitchFamily="34" charset="0"/>
              </a:rPr>
              <a:t>x </a:t>
            </a:r>
            <a:r>
              <a:rPr lang="hr-HR" altLang="sr-Latn-RS" sz="2000" dirty="0">
                <a:latin typeface="Arial" panose="020B0604020202020204" pitchFamily="34" charset="0"/>
                <a:cs typeface="Arial" panose="020B0604020202020204" pitchFamily="34" charset="0"/>
              </a:rPr>
              <a:t>&gt; </a:t>
            </a:r>
            <a:r>
              <a:rPr lang="hr-HR" altLang="sr-Latn-RS" sz="2000" i="1" dirty="0" err="1">
                <a:latin typeface="Arial" panose="020B0604020202020204" pitchFamily="34" charset="0"/>
                <a:cs typeface="Arial" panose="020B0604020202020204" pitchFamily="34" charset="0"/>
              </a:rPr>
              <a:t>x</a:t>
            </a:r>
            <a:r>
              <a:rPr lang="hr-HR" altLang="sr-Latn-RS" sz="2000" i="1" baseline="-30000" dirty="0" err="1">
                <a:latin typeface="Arial" panose="020B0604020202020204" pitchFamily="34" charset="0"/>
                <a:cs typeface="Arial" panose="020B0604020202020204" pitchFamily="34" charset="0"/>
              </a:rPr>
              <a:t>max</a:t>
            </a:r>
            <a:endParaRPr lang="hr-HR" altLang="sr-Latn-RS" sz="2000" dirty="0">
              <a:latin typeface="Arial" panose="020B0604020202020204" pitchFamily="34" charset="0"/>
              <a:cs typeface="Arial" panose="020B0604020202020204" pitchFamily="34" charset="0"/>
            </a:endParaRPr>
          </a:p>
          <a:p>
            <a:pPr marL="609600" indent="-609600" algn="just" eaLnBrk="1" hangingPunct="1"/>
            <a:r>
              <a:rPr lang="hr-HR" altLang="sr-Latn-RS" sz="2000" dirty="0">
                <a:latin typeface="Arial" panose="020B0604020202020204" pitchFamily="34" charset="0"/>
                <a:cs typeface="Arial" panose="020B0604020202020204" pitchFamily="34" charset="0"/>
              </a:rPr>
              <a:t>Četvrti bit:	</a:t>
            </a:r>
            <a:r>
              <a:rPr lang="hr-HR" altLang="sr-Latn-RS" sz="2000" i="1" dirty="0">
                <a:latin typeface="Arial" panose="020B0604020202020204" pitchFamily="34" charset="0"/>
                <a:cs typeface="Arial" panose="020B0604020202020204" pitchFamily="34" charset="0"/>
              </a:rPr>
              <a:t>x</a:t>
            </a:r>
            <a:r>
              <a:rPr lang="hr-HR" altLang="sr-Latn-RS" sz="2000" dirty="0">
                <a:latin typeface="Arial" panose="020B0604020202020204" pitchFamily="34" charset="0"/>
                <a:cs typeface="Arial" panose="020B0604020202020204" pitchFamily="34" charset="0"/>
              </a:rPr>
              <a:t> &lt; </a:t>
            </a:r>
            <a:r>
              <a:rPr lang="hr-HR" altLang="sr-Latn-RS" sz="2000" i="1" dirty="0" err="1">
                <a:latin typeface="Arial" panose="020B0604020202020204" pitchFamily="34" charset="0"/>
                <a:cs typeface="Arial" panose="020B0604020202020204" pitchFamily="34" charset="0"/>
              </a:rPr>
              <a:t>x</a:t>
            </a:r>
            <a:r>
              <a:rPr lang="hr-HR" altLang="sr-Latn-RS" sz="2000" i="1" baseline="-30000" dirty="0" err="1">
                <a:latin typeface="Arial" panose="020B0604020202020204" pitchFamily="34" charset="0"/>
                <a:cs typeface="Arial" panose="020B0604020202020204" pitchFamily="34" charset="0"/>
              </a:rPr>
              <a:t>min</a:t>
            </a:r>
            <a:endParaRPr lang="hr-HR" altLang="sr-Latn-RS" sz="2000" dirty="0">
              <a:latin typeface="Arial" panose="020B0604020202020204" pitchFamily="34" charset="0"/>
              <a:cs typeface="Arial" panose="020B0604020202020204" pitchFamily="34" charset="0"/>
            </a:endParaRPr>
          </a:p>
          <a:p>
            <a:pPr marL="609600" indent="-609600" algn="just" eaLnBrk="1" hangingPunct="1"/>
            <a:endParaRPr lang="en-US" altLang="sr-Latn-RS" sz="2400" dirty="0"/>
          </a:p>
        </p:txBody>
      </p:sp>
      <p:sp>
        <p:nvSpPr>
          <p:cNvPr id="38915" name="Date Placeholder 3">
            <a:extLst>
              <a:ext uri="{FF2B5EF4-FFF2-40B4-BE49-F238E27FC236}">
                <a16:creationId xmlns:a16="http://schemas.microsoft.com/office/drawing/2014/main" id="{F090D2C8-7F16-4240-A7B7-05CA932C0256}"/>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387BEC4E-2CDF-4494-9756-0226FFBAFB0A}"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2" name="Rezervirano mjesto broja slajda 1">
            <a:extLst>
              <a:ext uri="{FF2B5EF4-FFF2-40B4-BE49-F238E27FC236}">
                <a16:creationId xmlns:a16="http://schemas.microsoft.com/office/drawing/2014/main" id="{291C954B-4B71-B376-FD69-78F5ABA10DD4}"/>
              </a:ext>
            </a:extLst>
          </p:cNvPr>
          <p:cNvSpPr>
            <a:spLocks noGrp="1"/>
          </p:cNvSpPr>
          <p:nvPr>
            <p:ph type="sldNum" sz="quarter" idx="12"/>
          </p:nvPr>
        </p:nvSpPr>
        <p:spPr/>
        <p:txBody>
          <a:bodyPr/>
          <a:lstStyle/>
          <a:p>
            <a:fld id="{023EB520-78E3-4812-B23B-E76211F014E6}" type="slidenum">
              <a:rPr lang="en-GB" altLang="sr-Latn-RS" smtClean="0"/>
              <a:pPr/>
              <a:t>2</a:t>
            </a:fld>
            <a:endParaRPr lang="en-GB" altLang="sr-Latn-RS"/>
          </a:p>
        </p:txBody>
      </p:sp>
      <p:sp>
        <p:nvSpPr>
          <p:cNvPr id="38918" name="Rectangle 7">
            <a:extLst>
              <a:ext uri="{FF2B5EF4-FFF2-40B4-BE49-F238E27FC236}">
                <a16:creationId xmlns:a16="http://schemas.microsoft.com/office/drawing/2014/main" id="{1FBCDB2F-93ED-4D38-94F4-A657C01DC461}"/>
              </a:ext>
            </a:extLst>
          </p:cNvPr>
          <p:cNvSpPr>
            <a:spLocks noChangeArrowheads="1"/>
          </p:cNvSpPr>
          <p:nvPr/>
        </p:nvSpPr>
        <p:spPr bwMode="auto">
          <a:xfrm>
            <a:off x="3314700" y="1890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pic>
        <p:nvPicPr>
          <p:cNvPr id="38919" name="Picture 6" descr="Slika213">
            <a:extLst>
              <a:ext uri="{FF2B5EF4-FFF2-40B4-BE49-F238E27FC236}">
                <a16:creationId xmlns:a16="http://schemas.microsoft.com/office/drawing/2014/main" id="{6C0C7555-5052-4670-A6F9-87336E4231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00200"/>
            <a:ext cx="3673475"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Date Placeholder 3">
            <a:extLst>
              <a:ext uri="{FF2B5EF4-FFF2-40B4-BE49-F238E27FC236}">
                <a16:creationId xmlns:a16="http://schemas.microsoft.com/office/drawing/2014/main" id="{42E6CB0A-334E-0E56-E243-DC4B4216AD97}"/>
              </a:ext>
            </a:extLst>
          </p:cNvPr>
          <p:cNvSpPr>
            <a:spLocks noGrp="1"/>
          </p:cNvSpPr>
          <p:nvPr>
            <p:ph type="dt" sz="quarter" idx="10"/>
          </p:nvPr>
        </p:nvSpPr>
        <p:spPr/>
        <p:txBody>
          <a:bodyPr/>
          <a:lstStyle/>
          <a:p>
            <a:pPr>
              <a:defRPr/>
            </a:pPr>
            <a:fld id="{6F0D9F68-D812-4814-A51A-98CA89267188}" type="datetime1">
              <a:rPr lang="hr-HR" smtClean="0"/>
              <a:t>6.11.2025.</a:t>
            </a:fld>
            <a:endParaRPr lang="en-US"/>
          </a:p>
        </p:txBody>
      </p:sp>
      <p:sp>
        <p:nvSpPr>
          <p:cNvPr id="22" name="Slide Number Placeholder 5">
            <a:extLst>
              <a:ext uri="{FF2B5EF4-FFF2-40B4-BE49-F238E27FC236}">
                <a16:creationId xmlns:a16="http://schemas.microsoft.com/office/drawing/2014/main" id="{FD55FD67-355E-424D-0832-6DFABE8FACC1}"/>
              </a:ext>
            </a:extLst>
          </p:cNvPr>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A3E0513-9E86-41CD-A928-0E62797181E8}" type="slidenum">
              <a:rPr lang="en-US" altLang="sr-Latn-RS" sz="1400">
                <a:latin typeface="Arial" panose="020B0604020202020204" pitchFamily="34" charset="0"/>
              </a:rPr>
              <a:pPr eaLnBrk="1" hangingPunct="1"/>
              <a:t>3</a:t>
            </a:fld>
            <a:endParaRPr lang="en-US" altLang="sr-Latn-RS" sz="1400">
              <a:latin typeface="Arial" panose="020B0604020202020204" pitchFamily="34" charset="0"/>
            </a:endParaRPr>
          </a:p>
        </p:txBody>
      </p:sp>
      <p:sp>
        <p:nvSpPr>
          <p:cNvPr id="22533" name="Rectangle 2">
            <a:extLst>
              <a:ext uri="{FF2B5EF4-FFF2-40B4-BE49-F238E27FC236}">
                <a16:creationId xmlns:a16="http://schemas.microsoft.com/office/drawing/2014/main" id="{1F184227-A955-8609-9083-5B79F1CBA8C3}"/>
              </a:ext>
            </a:extLst>
          </p:cNvPr>
          <p:cNvSpPr>
            <a:spLocks noGrp="1" noChangeArrowheads="1"/>
          </p:cNvSpPr>
          <p:nvPr>
            <p:ph type="title"/>
          </p:nvPr>
        </p:nvSpPr>
        <p:spPr/>
        <p:txBody>
          <a:bodyPr>
            <a:normAutofit/>
          </a:bodyPr>
          <a:lstStyle/>
          <a:p>
            <a:pPr eaLnBrk="1" hangingPunct="1"/>
            <a:r>
              <a:rPr lang="en-IE" altLang="sr-Latn-RS" sz="3200" dirty="0">
                <a:latin typeface="Times New Roman" panose="02020603050405020304" pitchFamily="18" charset="0"/>
              </a:rPr>
              <a:t>3D Cohen-Sutherland </a:t>
            </a:r>
            <a:r>
              <a:rPr lang="hr-HR" altLang="sr-Latn-RS" sz="3200" dirty="0">
                <a:latin typeface="Times New Roman" panose="02020603050405020304" pitchFamily="18" charset="0"/>
              </a:rPr>
              <a:t>algoritam odrezivanja</a:t>
            </a:r>
            <a:endParaRPr lang="en-GB" altLang="sr-Latn-RS" sz="2000" dirty="0">
              <a:solidFill>
                <a:srgbClr val="FF0000"/>
              </a:solidFill>
              <a:latin typeface="Times New Roman" panose="02020603050405020304" pitchFamily="18" charset="0"/>
            </a:endParaRPr>
          </a:p>
        </p:txBody>
      </p:sp>
      <p:sp>
        <p:nvSpPr>
          <p:cNvPr id="22534" name="Rectangle 3">
            <a:extLst>
              <a:ext uri="{FF2B5EF4-FFF2-40B4-BE49-F238E27FC236}">
                <a16:creationId xmlns:a16="http://schemas.microsoft.com/office/drawing/2014/main" id="{5034EE3C-48CD-4495-447A-7B36B43ACF05}"/>
              </a:ext>
            </a:extLst>
          </p:cNvPr>
          <p:cNvSpPr>
            <a:spLocks noGrp="1" noChangeArrowheads="1"/>
          </p:cNvSpPr>
          <p:nvPr>
            <p:ph type="body" idx="1"/>
          </p:nvPr>
        </p:nvSpPr>
        <p:spPr/>
        <p:txBody>
          <a:bodyPr>
            <a:normAutofit/>
          </a:bodyPr>
          <a:lstStyle/>
          <a:p>
            <a:pPr eaLnBrk="1" hangingPunct="1"/>
            <a:r>
              <a:rPr lang="hr-HR" altLang="sr-Latn-RS" sz="2000" dirty="0">
                <a:latin typeface="Times New Roman" panose="02020603050405020304" pitchFamily="18" charset="0"/>
              </a:rPr>
              <a:t>Slično 2D odrezivanju – prostor se dijeli u regije</a:t>
            </a:r>
            <a:endParaRPr lang="en-IE" altLang="sr-Latn-RS" sz="2000" dirty="0">
              <a:latin typeface="Times New Roman" panose="02020603050405020304" pitchFamily="18" charset="0"/>
            </a:endParaRPr>
          </a:p>
          <a:p>
            <a:pPr eaLnBrk="1" hangingPunct="1"/>
            <a:r>
              <a:rPr lang="hr-HR" altLang="sr-Latn-RS" sz="2000" dirty="0">
                <a:latin typeface="Times New Roman" panose="02020603050405020304" pitchFamily="18" charset="0"/>
              </a:rPr>
              <a:t>Potrebno 6 bitova za kodiranje regija:</a:t>
            </a:r>
            <a:r>
              <a:rPr lang="en-IE" altLang="sr-Latn-RS" sz="2000" dirty="0">
                <a:latin typeface="Times New Roman" panose="02020603050405020304" pitchFamily="18" charset="0"/>
              </a:rPr>
              <a:t> </a:t>
            </a:r>
            <a:r>
              <a:rPr lang="en-IE" altLang="sr-Latn-RS" sz="2000" b="1" dirty="0">
                <a:latin typeface="Times New Roman" panose="02020603050405020304" pitchFamily="18" charset="0"/>
              </a:rPr>
              <a:t>27 </a:t>
            </a:r>
            <a:r>
              <a:rPr lang="hr-HR" altLang="sr-Latn-RS" sz="2000" b="1" dirty="0">
                <a:latin typeface="Times New Roman" panose="02020603050405020304" pitchFamily="18" charset="0"/>
              </a:rPr>
              <a:t>različitih kodova regija</a:t>
            </a:r>
          </a:p>
          <a:p>
            <a:pPr eaLnBrk="1" hangingPunct="1"/>
            <a:endParaRPr lang="hr-HR" altLang="sr-Latn-RS" sz="2000" b="1" dirty="0">
              <a:latin typeface="Times New Roman" panose="02020603050405020304" pitchFamily="18" charset="0"/>
            </a:endParaRPr>
          </a:p>
          <a:p>
            <a:pPr eaLnBrk="1" hangingPunct="1"/>
            <a:endParaRPr lang="en-IE" altLang="sr-Latn-RS" sz="2000" b="1" dirty="0">
              <a:latin typeface="Times New Roman" panose="02020603050405020304" pitchFamily="18" charset="0"/>
            </a:endParaRPr>
          </a:p>
          <a:p>
            <a:pPr eaLnBrk="1" hangingPunct="1"/>
            <a:r>
              <a:rPr lang="hr-HR" altLang="sr-Latn-RS" sz="2000" dirty="0">
                <a:latin typeface="Times New Roman" panose="02020603050405020304" pitchFamily="18" charset="0"/>
              </a:rPr>
              <a:t>Bitovi regija se postavljaju na sljedeći način:</a:t>
            </a:r>
            <a:endParaRPr lang="en-GB" altLang="sr-Latn-RS" sz="2000" dirty="0">
              <a:latin typeface="Times New Roman" panose="02020603050405020304" pitchFamily="18" charset="0"/>
            </a:endParaRPr>
          </a:p>
        </p:txBody>
      </p:sp>
      <p:graphicFrame>
        <p:nvGraphicFramePr>
          <p:cNvPr id="473115" name="Group 27">
            <a:extLst>
              <a:ext uri="{FF2B5EF4-FFF2-40B4-BE49-F238E27FC236}">
                <a16:creationId xmlns:a16="http://schemas.microsoft.com/office/drawing/2014/main" id="{157BB2CB-7C5F-CBD1-E028-9159DB17ED88}"/>
              </a:ext>
            </a:extLst>
          </p:cNvPr>
          <p:cNvGraphicFramePr>
            <a:graphicFrameLocks noGrp="1"/>
          </p:cNvGraphicFramePr>
          <p:nvPr/>
        </p:nvGraphicFramePr>
        <p:xfrm>
          <a:off x="1447800" y="4419600"/>
          <a:ext cx="6096000" cy="852488"/>
        </p:xfrm>
        <a:graphic>
          <a:graphicData uri="http://schemas.openxmlformats.org/drawingml/2006/table">
            <a:tbl>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8524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IE" sz="2000" b="0" i="0" u="none" strike="noStrike" cap="none" normalizeH="0" baseline="0" dirty="0">
                          <a:ln>
                            <a:noFill/>
                          </a:ln>
                          <a:solidFill>
                            <a:schemeClr val="tx1"/>
                          </a:solidFill>
                          <a:effectLst/>
                          <a:latin typeface="Arial" charset="0"/>
                        </a:rPr>
                        <a:t>bit 1</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hr-HR" sz="2000" b="0" i="0" u="none" strike="noStrike" cap="none" normalizeH="0" baseline="0" dirty="0">
                          <a:ln>
                            <a:noFill/>
                          </a:ln>
                          <a:solidFill>
                            <a:schemeClr val="tx1"/>
                          </a:solidFill>
                          <a:effectLst/>
                          <a:latin typeface="Arial" charset="0"/>
                        </a:rPr>
                        <a:t>Iznad</a:t>
                      </a:r>
                      <a:endParaRPr kumimoji="0" lang="en-GB" sz="2000" b="0" i="0" u="none" strike="noStrike" cap="none" normalizeH="0" baseline="0" dirty="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IE" sz="2000" b="0" i="0" u="none" strike="noStrike" cap="none" normalizeH="0" baseline="0" dirty="0">
                          <a:ln>
                            <a:noFill/>
                          </a:ln>
                          <a:solidFill>
                            <a:schemeClr val="tx1"/>
                          </a:solidFill>
                          <a:effectLst/>
                          <a:latin typeface="Arial" charset="0"/>
                        </a:rPr>
                        <a:t>bit 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hr-HR" sz="2000" b="0" i="0" u="none" strike="noStrike" cap="none" normalizeH="0" baseline="0" dirty="0">
                          <a:ln>
                            <a:noFill/>
                          </a:ln>
                          <a:solidFill>
                            <a:schemeClr val="tx1"/>
                          </a:solidFill>
                          <a:effectLst/>
                          <a:latin typeface="Arial" charset="0"/>
                        </a:rPr>
                        <a:t>Ispod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IE" sz="2000" b="0" i="0" u="none" strike="noStrike" cap="none" normalizeH="0" baseline="0" dirty="0">
                          <a:ln>
                            <a:noFill/>
                          </a:ln>
                          <a:solidFill>
                            <a:schemeClr val="tx1"/>
                          </a:solidFill>
                          <a:effectLst/>
                          <a:latin typeface="Arial" charset="0"/>
                        </a:rPr>
                        <a:t>bit 3</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hr-HR" sz="2000" b="0" i="0" u="none" strike="noStrike" cap="none" normalizeH="0" baseline="0" dirty="0">
                          <a:ln>
                            <a:noFill/>
                          </a:ln>
                          <a:solidFill>
                            <a:schemeClr val="tx1"/>
                          </a:solidFill>
                          <a:effectLst/>
                          <a:latin typeface="Arial" charset="0"/>
                        </a:rPr>
                        <a:t>Desno</a:t>
                      </a:r>
                      <a:endParaRPr kumimoji="0" lang="en-GB" sz="20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IE" sz="2000" b="0" i="0" u="none" strike="noStrike" cap="none" normalizeH="0" baseline="0" dirty="0">
                          <a:ln>
                            <a:noFill/>
                          </a:ln>
                          <a:solidFill>
                            <a:schemeClr val="tx1"/>
                          </a:solidFill>
                          <a:effectLst/>
                          <a:latin typeface="Arial" charset="0"/>
                        </a:rPr>
                        <a:t>bit 4</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hr-HR" sz="2000" b="0" i="0" u="none" strike="noStrike" cap="none" normalizeH="0" baseline="0" dirty="0">
                          <a:ln>
                            <a:noFill/>
                          </a:ln>
                          <a:solidFill>
                            <a:schemeClr val="tx1"/>
                          </a:solidFill>
                          <a:effectLst/>
                          <a:latin typeface="Arial" charset="0"/>
                        </a:rPr>
                        <a:t>Lijevo</a:t>
                      </a:r>
                      <a:endParaRPr kumimoji="0" lang="en-GB" sz="20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IE" sz="2000" b="0" i="0" u="none" strike="noStrike" cap="none" normalizeH="0" baseline="0" dirty="0">
                          <a:ln>
                            <a:noFill/>
                          </a:ln>
                          <a:solidFill>
                            <a:schemeClr val="tx1"/>
                          </a:solidFill>
                          <a:effectLst/>
                          <a:latin typeface="Arial" charset="0"/>
                        </a:rPr>
                        <a:t>bit 5</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hr-HR" sz="2000" b="0" i="0" u="none" strike="noStrike" cap="none" normalizeH="0" baseline="0" dirty="0">
                          <a:ln>
                            <a:noFill/>
                          </a:ln>
                          <a:solidFill>
                            <a:schemeClr val="tx1"/>
                          </a:solidFill>
                          <a:effectLst/>
                          <a:latin typeface="Arial" charset="0"/>
                        </a:rPr>
                        <a:t>Iza</a:t>
                      </a:r>
                      <a:endParaRPr kumimoji="0" lang="en-GB" sz="20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IE" sz="2000" b="0" i="0" u="none" strike="noStrike" cap="none" normalizeH="0" baseline="0" dirty="0">
                          <a:ln>
                            <a:noFill/>
                          </a:ln>
                          <a:solidFill>
                            <a:schemeClr val="tx1"/>
                          </a:solidFill>
                          <a:effectLst/>
                          <a:latin typeface="Arial" charset="0"/>
                        </a:rPr>
                        <a:t>bit 6</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hr-HR" sz="2000" b="0" i="0" u="none" strike="noStrike" cap="none" normalizeH="0" baseline="0" dirty="0">
                          <a:ln>
                            <a:noFill/>
                          </a:ln>
                          <a:solidFill>
                            <a:schemeClr val="tx1"/>
                          </a:solidFill>
                          <a:effectLst/>
                          <a:latin typeface="Arial" charset="0"/>
                        </a:rPr>
                        <a:t>Ispred</a:t>
                      </a:r>
                      <a:endParaRPr kumimoji="0" lang="en-GB" sz="2000" b="0" i="0" u="none" strike="noStrike" cap="none" normalizeH="0" baseline="0" dirty="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A9294CA1-8630-1659-A5C0-32E5402E3CCA}"/>
              </a:ext>
            </a:extLst>
          </p:cNvPr>
          <p:cNvSpPr>
            <a:spLocks noGrp="1"/>
          </p:cNvSpPr>
          <p:nvPr>
            <p:ph type="dt" sz="quarter" idx="10"/>
          </p:nvPr>
        </p:nvSpPr>
        <p:spPr/>
        <p:txBody>
          <a:bodyPr/>
          <a:lstStyle/>
          <a:p>
            <a:pPr>
              <a:defRPr/>
            </a:pPr>
            <a:fld id="{83A785A3-8A3D-49E1-832E-1753043A47A4}" type="datetime1">
              <a:rPr lang="hr-HR" smtClean="0"/>
              <a:t>6.11.2025.</a:t>
            </a:fld>
            <a:endParaRPr lang="en-US" dirty="0"/>
          </a:p>
        </p:txBody>
      </p:sp>
      <p:sp>
        <p:nvSpPr>
          <p:cNvPr id="7" name="Slide Number Placeholder 5">
            <a:extLst>
              <a:ext uri="{FF2B5EF4-FFF2-40B4-BE49-F238E27FC236}">
                <a16:creationId xmlns:a16="http://schemas.microsoft.com/office/drawing/2014/main" id="{1F9F8126-E28F-3C42-FB5A-AF1F2A0C8FE9}"/>
              </a:ext>
            </a:extLst>
          </p:cNvPr>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7791F57-0C42-43F1-94DB-3843B1EE24B0}" type="slidenum">
              <a:rPr lang="en-US" altLang="sr-Latn-RS" sz="1400">
                <a:latin typeface="Arial" panose="020B0604020202020204" pitchFamily="34" charset="0"/>
              </a:rPr>
              <a:pPr eaLnBrk="1" hangingPunct="1"/>
              <a:t>4</a:t>
            </a:fld>
            <a:endParaRPr lang="en-US" altLang="sr-Latn-RS" sz="1400">
              <a:latin typeface="Arial" panose="020B0604020202020204" pitchFamily="34" charset="0"/>
            </a:endParaRPr>
          </a:p>
        </p:txBody>
      </p:sp>
      <p:pic>
        <p:nvPicPr>
          <p:cNvPr id="23559" name="Picture 4" descr="AADGHYP0">
            <a:extLst>
              <a:ext uri="{FF2B5EF4-FFF2-40B4-BE49-F238E27FC236}">
                <a16:creationId xmlns:a16="http://schemas.microsoft.com/office/drawing/2014/main" id="{B887FBDC-36C6-BD71-C261-B2FB17FF5F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901" t="11250" r="24301" b="28310"/>
          <a:stretch>
            <a:fillRect/>
          </a:stretch>
        </p:blipFill>
        <p:spPr bwMode="auto">
          <a:xfrm>
            <a:off x="1403350" y="1344613"/>
            <a:ext cx="6313488" cy="5252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53767DD3-A811-9BF1-0219-9CB6FF01C784}"/>
              </a:ext>
            </a:extLst>
          </p:cNvPr>
          <p:cNvSpPr>
            <a:spLocks noGrp="1" noChangeArrowheads="1"/>
          </p:cNvSpPr>
          <p:nvPr>
            <p:ph type="title"/>
          </p:nvPr>
        </p:nvSpPr>
        <p:spPr>
          <a:xfrm>
            <a:off x="628650" y="365126"/>
            <a:ext cx="7886700" cy="1325563"/>
          </a:xfrm>
        </p:spPr>
        <p:txBody>
          <a:bodyPr>
            <a:normAutofit/>
          </a:bodyPr>
          <a:lstStyle/>
          <a:p>
            <a:pPr eaLnBrk="1" hangingPunct="1"/>
            <a:r>
              <a:rPr lang="en-IE" altLang="sr-Latn-RS" sz="3200" dirty="0">
                <a:latin typeface="Times New Roman" panose="02020603050405020304" pitchFamily="18" charset="0"/>
              </a:rPr>
              <a:t>3D Cohen-Sutherland </a:t>
            </a:r>
            <a:r>
              <a:rPr lang="hr-HR" altLang="sr-Latn-RS" sz="3200" dirty="0">
                <a:latin typeface="Times New Roman" panose="02020603050405020304" pitchFamily="18" charset="0"/>
              </a:rPr>
              <a:t>algoritam odrezivanja</a:t>
            </a:r>
            <a:endParaRPr lang="en-GB" altLang="sr-Latn-RS" sz="3200" dirty="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D63A86BE-A62E-A28D-1C44-11EA48737365}"/>
              </a:ext>
            </a:extLst>
          </p:cNvPr>
          <p:cNvSpPr>
            <a:spLocks noGrp="1"/>
          </p:cNvSpPr>
          <p:nvPr>
            <p:ph type="dt" sz="quarter" idx="10"/>
          </p:nvPr>
        </p:nvSpPr>
        <p:spPr/>
        <p:txBody>
          <a:bodyPr/>
          <a:lstStyle/>
          <a:p>
            <a:pPr>
              <a:defRPr/>
            </a:pPr>
            <a:fld id="{1274F356-E9FE-4FF3-A326-8DA6AAF77F94}" type="datetime1">
              <a:rPr lang="hr-HR" smtClean="0"/>
              <a:t>6.11.2025.</a:t>
            </a:fld>
            <a:endParaRPr lang="en-US"/>
          </a:p>
        </p:txBody>
      </p:sp>
      <p:sp>
        <p:nvSpPr>
          <p:cNvPr id="7" name="Slide Number Placeholder 5">
            <a:extLst>
              <a:ext uri="{FF2B5EF4-FFF2-40B4-BE49-F238E27FC236}">
                <a16:creationId xmlns:a16="http://schemas.microsoft.com/office/drawing/2014/main" id="{EC2AE62F-A044-1136-2FDE-1F39A0293ED4}"/>
              </a:ext>
            </a:extLst>
          </p:cNvPr>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1226885-2E21-4A27-BE93-35DB2377DF1C}" type="slidenum">
              <a:rPr lang="en-US" altLang="sr-Latn-RS" sz="1400">
                <a:latin typeface="Arial" panose="020B0604020202020204" pitchFamily="34" charset="0"/>
              </a:rPr>
              <a:pPr eaLnBrk="1" hangingPunct="1"/>
              <a:t>5</a:t>
            </a:fld>
            <a:endParaRPr lang="en-US" altLang="sr-Latn-RS" sz="1400">
              <a:latin typeface="Arial" panose="020B0604020202020204" pitchFamily="34" charset="0"/>
            </a:endParaRPr>
          </a:p>
        </p:txBody>
      </p:sp>
      <p:pic>
        <p:nvPicPr>
          <p:cNvPr id="501763" name="Picture 3" descr="Angel_c07f22">
            <a:extLst>
              <a:ext uri="{FF2B5EF4-FFF2-40B4-BE49-F238E27FC236}">
                <a16:creationId xmlns:a16="http://schemas.microsoft.com/office/drawing/2014/main" id="{F63182E4-BCBF-D041-A340-31E93F01ADF7}"/>
              </a:ext>
            </a:extLst>
          </p:cNvPr>
          <p:cNvPicPr preferRelativeResize="0">
            <a:picLocks noGrp="1" noChangeAspect="1" noChangeArrowheads="1"/>
          </p:cNvPicPr>
          <p:nvPr>
            <p:ph type="body" idx="1"/>
            <p:custDataLst>
              <p:tags r:id="rId1"/>
            </p:custDataLst>
          </p:nvPr>
        </p:nvPicPr>
        <p:blipFill>
          <a:blip r:embed="rId3">
            <a:extLst>
              <a:ext uri="{28A0092B-C50C-407E-A947-70E740481C1C}">
                <a14:useLocalDpi xmlns:a14="http://schemas.microsoft.com/office/drawing/2010/main" val="0"/>
              </a:ext>
            </a:extLst>
          </a:blip>
          <a:srcRect/>
          <a:stretch>
            <a:fillRect/>
          </a:stretch>
        </p:blipFill>
        <p:spPr>
          <a:xfrm>
            <a:off x="3810000" y="1600200"/>
            <a:ext cx="4994275" cy="4530725"/>
          </a:xfrm>
          <a:noFill/>
        </p:spPr>
      </p:pic>
      <p:sp>
        <p:nvSpPr>
          <p:cNvPr id="24583" name="Text Box 4">
            <a:extLst>
              <a:ext uri="{FF2B5EF4-FFF2-40B4-BE49-F238E27FC236}">
                <a16:creationId xmlns:a16="http://schemas.microsoft.com/office/drawing/2014/main" id="{0671688C-A008-4EF5-193D-5220A1518F55}"/>
              </a:ext>
            </a:extLst>
          </p:cNvPr>
          <p:cNvSpPr txBox="1">
            <a:spLocks noChangeArrowheads="1"/>
          </p:cNvSpPr>
          <p:nvPr/>
        </p:nvSpPr>
        <p:spPr bwMode="auto">
          <a:xfrm>
            <a:off x="685800" y="2057400"/>
            <a:ext cx="2895600"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hr-HR" altLang="sr-Latn-RS" sz="2000" dirty="0"/>
              <a:t>Koristimo </a:t>
            </a:r>
            <a:r>
              <a:rPr lang="en-US" altLang="sr-Latn-RS" sz="2000" dirty="0"/>
              <a:t>6 bit</a:t>
            </a:r>
            <a:r>
              <a:rPr lang="hr-HR" altLang="sr-Latn-RS" sz="2000" dirty="0"/>
              <a:t>ni kod za razlikovanje prednje i stražnje ravnine </a:t>
            </a:r>
            <a:r>
              <a:rPr lang="hr-HR" altLang="sr-Latn-RS" sz="2000" dirty="0" err="1"/>
              <a:t>odsjecanja</a:t>
            </a:r>
            <a:r>
              <a:rPr lang="en-US" altLang="sr-Latn-RS" sz="2000" dirty="0"/>
              <a:t>.</a:t>
            </a:r>
          </a:p>
          <a:p>
            <a:pPr>
              <a:spcBef>
                <a:spcPct val="50000"/>
              </a:spcBef>
            </a:pPr>
            <a:r>
              <a:rPr lang="hr-HR" altLang="sr-Latn-RS" sz="2000" dirty="0"/>
              <a:t>Strategija testiranja je zapravo identična onoj prikazanoj za 2D slučaj</a:t>
            </a:r>
            <a:r>
              <a:rPr lang="en-US" altLang="sr-Latn-RS" sz="2000" dirty="0"/>
              <a:t>.</a:t>
            </a:r>
          </a:p>
          <a:p>
            <a:pPr>
              <a:spcBef>
                <a:spcPct val="50000"/>
              </a:spcBef>
            </a:pPr>
            <a:endParaRPr lang="en-US" altLang="sr-Latn-RS" dirty="0"/>
          </a:p>
        </p:txBody>
      </p:sp>
      <p:sp>
        <p:nvSpPr>
          <p:cNvPr id="4" name="Rectangle 2">
            <a:extLst>
              <a:ext uri="{FF2B5EF4-FFF2-40B4-BE49-F238E27FC236}">
                <a16:creationId xmlns:a16="http://schemas.microsoft.com/office/drawing/2014/main" id="{3A21E4FF-3448-46A1-C0B5-553F72A2FF16}"/>
              </a:ext>
            </a:extLst>
          </p:cNvPr>
          <p:cNvSpPr>
            <a:spLocks noGrp="1" noChangeArrowheads="1"/>
          </p:cNvSpPr>
          <p:nvPr>
            <p:ph type="title"/>
          </p:nvPr>
        </p:nvSpPr>
        <p:spPr>
          <a:xfrm>
            <a:off x="628650" y="365125"/>
            <a:ext cx="7886700" cy="1325563"/>
          </a:xfrm>
        </p:spPr>
        <p:txBody>
          <a:bodyPr>
            <a:normAutofit/>
          </a:bodyPr>
          <a:lstStyle/>
          <a:p>
            <a:pPr eaLnBrk="1" hangingPunct="1"/>
            <a:r>
              <a:rPr lang="en-IE" altLang="sr-Latn-RS" sz="3200" dirty="0">
                <a:latin typeface="Times New Roman" panose="02020603050405020304" pitchFamily="18" charset="0"/>
              </a:rPr>
              <a:t>3D Cohen-Sutherland </a:t>
            </a:r>
            <a:r>
              <a:rPr lang="hr-HR" altLang="sr-Latn-RS" sz="3200" dirty="0">
                <a:latin typeface="Times New Roman" panose="02020603050405020304" pitchFamily="18" charset="0"/>
              </a:rPr>
              <a:t>algoritam odrezivanja</a:t>
            </a:r>
            <a:endParaRPr lang="en-GB" altLang="sr-Latn-RS" sz="3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01763"/>
                                        </p:tgtEl>
                                        <p:attrNameLst>
                                          <p:attrName>style.visibility</p:attrName>
                                        </p:attrNameLst>
                                      </p:cBhvr>
                                      <p:to>
                                        <p:strVal val="visible"/>
                                      </p:to>
                                    </p:set>
                                    <p:anim calcmode="lin" valueType="num">
                                      <p:cBhvr additive="base">
                                        <p:cTn id="7" dur="2000" fill="hold"/>
                                        <p:tgtEl>
                                          <p:spTgt spid="501763"/>
                                        </p:tgtEl>
                                        <p:attrNameLst>
                                          <p:attrName>ppt_x</p:attrName>
                                        </p:attrNameLst>
                                      </p:cBhvr>
                                      <p:tavLst>
                                        <p:tav tm="0">
                                          <p:val>
                                            <p:strVal val="1+#ppt_w/2"/>
                                          </p:val>
                                        </p:tav>
                                        <p:tav tm="100000">
                                          <p:val>
                                            <p:strVal val="#ppt_x"/>
                                          </p:val>
                                        </p:tav>
                                      </p:tavLst>
                                    </p:anim>
                                    <p:anim calcmode="lin" valueType="num">
                                      <p:cBhvr additive="base">
                                        <p:cTn id="8" dur="2000" fill="hold"/>
                                        <p:tgtEl>
                                          <p:spTgt spid="5017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0AA0306-0063-94B9-D2D5-475C4DF0974A}"/>
              </a:ext>
            </a:extLst>
          </p:cNvPr>
          <p:cNvSpPr>
            <a:spLocks noGrp="1"/>
          </p:cNvSpPr>
          <p:nvPr>
            <p:ph type="dt" sz="quarter" idx="10"/>
          </p:nvPr>
        </p:nvSpPr>
        <p:spPr/>
        <p:txBody>
          <a:bodyPr/>
          <a:lstStyle/>
          <a:p>
            <a:pPr>
              <a:defRPr/>
            </a:pPr>
            <a:fld id="{15186730-75DD-48A5-8C6C-2A7ED249287F}" type="datetime1">
              <a:rPr lang="hr-HR" smtClean="0"/>
              <a:t>6.11.2025.</a:t>
            </a:fld>
            <a:endParaRPr lang="en-US"/>
          </a:p>
        </p:txBody>
      </p:sp>
      <p:sp>
        <p:nvSpPr>
          <p:cNvPr id="6" name="Slide Number Placeholder 5">
            <a:extLst>
              <a:ext uri="{FF2B5EF4-FFF2-40B4-BE49-F238E27FC236}">
                <a16:creationId xmlns:a16="http://schemas.microsoft.com/office/drawing/2014/main" id="{55DFFDD7-509C-B1CB-31D7-30B465524F9D}"/>
              </a:ext>
            </a:extLst>
          </p:cNvPr>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7454740-557A-4B12-81D8-955F8E3B3F18}" type="slidenum">
              <a:rPr lang="en-US" altLang="sr-Latn-RS" sz="1400">
                <a:latin typeface="Arial" panose="020B0604020202020204" pitchFamily="34" charset="0"/>
              </a:rPr>
              <a:pPr eaLnBrk="1" hangingPunct="1"/>
              <a:t>6</a:t>
            </a:fld>
            <a:endParaRPr lang="en-US" altLang="sr-Latn-RS" sz="1400">
              <a:latin typeface="Arial" panose="020B0604020202020204" pitchFamily="34" charset="0"/>
            </a:endParaRPr>
          </a:p>
        </p:txBody>
      </p:sp>
      <p:sp>
        <p:nvSpPr>
          <p:cNvPr id="25606" name="Rectangle 3">
            <a:extLst>
              <a:ext uri="{FF2B5EF4-FFF2-40B4-BE49-F238E27FC236}">
                <a16:creationId xmlns:a16="http://schemas.microsoft.com/office/drawing/2014/main" id="{45647A26-4066-A92D-F2C9-CF3FD3CB6FE6}"/>
              </a:ext>
            </a:extLst>
          </p:cNvPr>
          <p:cNvSpPr>
            <a:spLocks noGrp="1" noChangeArrowheads="1"/>
          </p:cNvSpPr>
          <p:nvPr>
            <p:ph type="body" idx="1"/>
          </p:nvPr>
        </p:nvSpPr>
        <p:spPr/>
        <p:txBody>
          <a:bodyPr>
            <a:normAutofit/>
          </a:bodyPr>
          <a:lstStyle/>
          <a:p>
            <a:pPr eaLnBrk="1" hangingPunct="1">
              <a:lnSpc>
                <a:spcPct val="90000"/>
              </a:lnSpc>
              <a:buFontTx/>
              <a:buNone/>
            </a:pPr>
            <a:r>
              <a:rPr lang="hr-HR" altLang="sr-Latn-RS" sz="2400" b="1" dirty="0">
                <a:latin typeface="Times New Roman" panose="02020603050405020304" pitchFamily="18" charset="0"/>
              </a:rPr>
              <a:t>SLUČAJ</a:t>
            </a:r>
            <a:r>
              <a:rPr lang="en-IE" altLang="sr-Latn-RS" sz="2400" b="1" dirty="0">
                <a:latin typeface="Times New Roman" panose="02020603050405020304" pitchFamily="18" charset="0"/>
              </a:rPr>
              <a:t> – I </a:t>
            </a:r>
            <a:endParaRPr lang="hr-HR" altLang="sr-Latn-RS" sz="2400" b="1" dirty="0">
              <a:latin typeface="Times New Roman" panose="02020603050405020304" pitchFamily="18" charset="0"/>
            </a:endParaRPr>
          </a:p>
          <a:p>
            <a:pPr eaLnBrk="1" hangingPunct="1">
              <a:lnSpc>
                <a:spcPct val="90000"/>
              </a:lnSpc>
              <a:buFontTx/>
              <a:buNone/>
            </a:pPr>
            <a:r>
              <a:rPr lang="hr-HR" altLang="sr-Latn-RS" sz="2400" b="1" dirty="0">
                <a:latin typeface="Times New Roman" panose="02020603050405020304" pitchFamily="18" charset="0"/>
              </a:rPr>
              <a:t>	</a:t>
            </a:r>
            <a:r>
              <a:rPr lang="hr-HR" altLang="sr-Latn-RS" sz="2000" dirty="0">
                <a:latin typeface="Times New Roman" panose="02020603050405020304" pitchFamily="18" charset="0"/>
              </a:rPr>
              <a:t>Pridruživanje kodova regija krajnjim točkama linije za </a:t>
            </a:r>
            <a:r>
              <a:rPr lang="hr-HR" altLang="sr-Latn-RS" sz="2000" b="1" i="1" dirty="0">
                <a:latin typeface="Times New Roman" panose="02020603050405020304" pitchFamily="18" charset="0"/>
              </a:rPr>
              <a:t>Kanonski</a:t>
            </a:r>
            <a:r>
              <a:rPr lang="en-IE" altLang="sr-Latn-RS" sz="2000" b="1" i="1" dirty="0">
                <a:latin typeface="Times New Roman" panose="02020603050405020304" pitchFamily="18" charset="0"/>
              </a:rPr>
              <a:t> </a:t>
            </a:r>
            <a:r>
              <a:rPr lang="hr-HR" altLang="sr-Latn-RS" sz="2000" b="1" i="1" dirty="0">
                <a:latin typeface="Times New Roman" panose="02020603050405020304" pitchFamily="18" charset="0"/>
              </a:rPr>
              <a:t>Volumen Pogleda za paralelnu projekciju</a:t>
            </a:r>
            <a:r>
              <a:rPr lang="en-IE" altLang="sr-Latn-RS" sz="2000" dirty="0">
                <a:latin typeface="Times New Roman" panose="02020603050405020304" pitchFamily="18" charset="0"/>
              </a:rPr>
              <a:t> </a:t>
            </a:r>
            <a:r>
              <a:rPr lang="en-IE" altLang="sr-Latn-RS" sz="2000" dirty="0" err="1">
                <a:latin typeface="Times New Roman" panose="02020603050405020304" pitchFamily="18" charset="0"/>
              </a:rPr>
              <a:t>defin</a:t>
            </a:r>
            <a:r>
              <a:rPr lang="hr-HR" altLang="sr-Latn-RS" sz="2000" dirty="0" err="1">
                <a:latin typeface="Times New Roman" panose="02020603050405020304" pitchFamily="18" charset="0"/>
              </a:rPr>
              <a:t>iranog</a:t>
            </a:r>
            <a:r>
              <a:rPr lang="hr-HR" altLang="sr-Latn-RS" sz="2000" dirty="0">
                <a:latin typeface="Times New Roman" panose="02020603050405020304" pitchFamily="18" charset="0"/>
              </a:rPr>
              <a:t> s</a:t>
            </a:r>
            <a:r>
              <a:rPr lang="en-IE" altLang="sr-Latn-RS" sz="2000" dirty="0">
                <a:latin typeface="Times New Roman" panose="02020603050405020304" pitchFamily="18" charset="0"/>
              </a:rPr>
              <a:t>:</a:t>
            </a:r>
          </a:p>
          <a:p>
            <a:pPr eaLnBrk="1" hangingPunct="1">
              <a:lnSpc>
                <a:spcPct val="90000"/>
              </a:lnSpc>
              <a:buFontTx/>
              <a:buNone/>
            </a:pPr>
            <a:r>
              <a:rPr lang="en-GB" altLang="sr-Latn-RS" sz="2000" i="1" dirty="0">
                <a:latin typeface="Times New Roman" panose="02020603050405020304" pitchFamily="18" charset="0"/>
              </a:rPr>
              <a:t>	</a:t>
            </a:r>
            <a:endParaRPr lang="hr-HR" altLang="sr-Latn-RS" sz="2000" i="1" dirty="0">
              <a:latin typeface="Times New Roman" panose="02020603050405020304" pitchFamily="18" charset="0"/>
            </a:endParaRPr>
          </a:p>
          <a:p>
            <a:pPr eaLnBrk="1" hangingPunct="1">
              <a:lnSpc>
                <a:spcPct val="90000"/>
              </a:lnSpc>
              <a:buFontTx/>
              <a:buNone/>
            </a:pPr>
            <a:r>
              <a:rPr lang="hr-HR" altLang="sr-Latn-RS" sz="2000" i="1" dirty="0">
                <a:latin typeface="Times New Roman" panose="02020603050405020304" pitchFamily="18" charset="0"/>
              </a:rPr>
              <a:t>	</a:t>
            </a:r>
            <a:r>
              <a:rPr lang="en-GB" altLang="sr-Latn-RS" sz="2000" i="1" dirty="0">
                <a:latin typeface="Times New Roman" panose="02020603050405020304" pitchFamily="18" charset="0"/>
              </a:rPr>
              <a:t>x = </a:t>
            </a:r>
            <a:r>
              <a:rPr lang="hr-HR" altLang="sr-Latn-RS" sz="2000" i="1" dirty="0">
                <a:latin typeface="Times New Roman" panose="02020603050405020304" pitchFamily="18" charset="0"/>
              </a:rPr>
              <a:t>-1</a:t>
            </a:r>
            <a:r>
              <a:rPr lang="en-GB" altLang="sr-Latn-RS" sz="2000" i="1" dirty="0">
                <a:latin typeface="Times New Roman" panose="02020603050405020304" pitchFamily="18" charset="0"/>
              </a:rPr>
              <a:t> , x = 1;	y = </a:t>
            </a:r>
            <a:r>
              <a:rPr lang="hr-HR" altLang="sr-Latn-RS" sz="2000" i="1" dirty="0">
                <a:latin typeface="Times New Roman" panose="02020603050405020304" pitchFamily="18" charset="0"/>
              </a:rPr>
              <a:t>-1</a:t>
            </a:r>
            <a:r>
              <a:rPr lang="en-GB" altLang="sr-Latn-RS" sz="2000" i="1" dirty="0">
                <a:latin typeface="Times New Roman" panose="02020603050405020304" pitchFamily="18" charset="0"/>
              </a:rPr>
              <a:t>,  y = 1;		z = </a:t>
            </a:r>
            <a:r>
              <a:rPr lang="hr-HR" altLang="sr-Latn-RS" sz="2000" i="1" dirty="0">
                <a:latin typeface="Times New Roman" panose="02020603050405020304" pitchFamily="18" charset="0"/>
              </a:rPr>
              <a:t>-1</a:t>
            </a:r>
            <a:r>
              <a:rPr lang="en-GB" altLang="sr-Latn-RS" sz="2000" i="1" dirty="0">
                <a:latin typeface="Times New Roman" panose="02020603050405020304" pitchFamily="18" charset="0"/>
              </a:rPr>
              <a:t>, z = </a:t>
            </a:r>
            <a:r>
              <a:rPr lang="hr-HR" altLang="sr-Latn-RS" sz="2000" i="1" dirty="0">
                <a:latin typeface="Times New Roman" panose="02020603050405020304" pitchFamily="18" charset="0"/>
              </a:rPr>
              <a:t>0</a:t>
            </a:r>
            <a:r>
              <a:rPr lang="en-IE" altLang="sr-Latn-RS" sz="2000" dirty="0">
                <a:latin typeface="Times New Roman" panose="02020603050405020304" pitchFamily="18" charset="0"/>
              </a:rPr>
              <a:t> </a:t>
            </a:r>
          </a:p>
          <a:p>
            <a:pPr eaLnBrk="1" hangingPunct="1">
              <a:lnSpc>
                <a:spcPct val="90000"/>
              </a:lnSpc>
              <a:buFontTx/>
              <a:buNone/>
            </a:pPr>
            <a:r>
              <a:rPr lang="en-IE" altLang="sr-Latn-RS" sz="2000" dirty="0">
                <a:latin typeface="Times New Roman" panose="02020603050405020304" pitchFamily="18" charset="0"/>
              </a:rPr>
              <a:t>	</a:t>
            </a:r>
          </a:p>
          <a:p>
            <a:pPr eaLnBrk="1" hangingPunct="1">
              <a:lnSpc>
                <a:spcPct val="90000"/>
              </a:lnSpc>
              <a:buFontTx/>
              <a:buNone/>
            </a:pPr>
            <a:r>
              <a:rPr lang="en-IE" altLang="sr-Latn-RS" sz="2000" dirty="0">
                <a:latin typeface="Times New Roman" panose="02020603050405020304" pitchFamily="18" charset="0"/>
              </a:rPr>
              <a:t>	</a:t>
            </a:r>
            <a:r>
              <a:rPr lang="hr-HR" altLang="sr-Latn-RS" sz="2000" dirty="0">
                <a:latin typeface="Times New Roman" panose="02020603050405020304" pitchFamily="18" charset="0"/>
              </a:rPr>
              <a:t>Kodovi se postavljaju u </a:t>
            </a:r>
            <a:r>
              <a:rPr lang="en-IE" altLang="sr-Latn-RS" sz="2000" dirty="0">
                <a:latin typeface="Times New Roman" panose="02020603050405020304" pitchFamily="18" charset="0"/>
              </a:rPr>
              <a:t>true(1) </a:t>
            </a:r>
            <a:r>
              <a:rPr lang="hr-HR" altLang="sr-Latn-RS" sz="2000" dirty="0">
                <a:latin typeface="Times New Roman" panose="02020603050405020304" pitchFamily="18" charset="0"/>
              </a:rPr>
              <a:t>ili</a:t>
            </a:r>
            <a:r>
              <a:rPr lang="en-IE" altLang="sr-Latn-RS" sz="2000" dirty="0">
                <a:latin typeface="Times New Roman" panose="02020603050405020304" pitchFamily="18" charset="0"/>
              </a:rPr>
              <a:t> false(0) </a:t>
            </a:r>
            <a:r>
              <a:rPr lang="hr-HR" altLang="sr-Latn-RS" sz="2000" dirty="0">
                <a:latin typeface="Times New Roman" panose="02020603050405020304" pitchFamily="18" charset="0"/>
              </a:rPr>
              <a:t>ovisno o sljedećim jednadžbama</a:t>
            </a:r>
            <a:r>
              <a:rPr lang="en-IE" altLang="sr-Latn-RS" sz="2000" dirty="0">
                <a:latin typeface="Times New Roman" panose="02020603050405020304" pitchFamily="18" charset="0"/>
              </a:rPr>
              <a:t>:</a:t>
            </a:r>
          </a:p>
          <a:p>
            <a:pPr eaLnBrk="1" hangingPunct="1">
              <a:lnSpc>
                <a:spcPct val="90000"/>
              </a:lnSpc>
              <a:buFontTx/>
              <a:buNone/>
            </a:pPr>
            <a:r>
              <a:rPr lang="en-IE" altLang="sr-Latn-RS" sz="2000" dirty="0">
                <a:latin typeface="Times New Roman" panose="02020603050405020304" pitchFamily="18" charset="0"/>
              </a:rPr>
              <a:t>	</a:t>
            </a:r>
            <a:endParaRPr lang="en-IE" altLang="sr-Latn-RS" sz="2000" dirty="0">
              <a:latin typeface="Courier New" panose="02070309020205020404" pitchFamily="49" charset="0"/>
            </a:endParaRPr>
          </a:p>
        </p:txBody>
      </p:sp>
      <p:sp>
        <p:nvSpPr>
          <p:cNvPr id="7" name="Rectangle 2">
            <a:extLst>
              <a:ext uri="{FF2B5EF4-FFF2-40B4-BE49-F238E27FC236}">
                <a16:creationId xmlns:a16="http://schemas.microsoft.com/office/drawing/2014/main" id="{1ECCFD38-3A13-EAFD-F6B6-5E7464037B42}"/>
              </a:ext>
            </a:extLst>
          </p:cNvPr>
          <p:cNvSpPr>
            <a:spLocks noGrp="1" noChangeArrowheads="1"/>
          </p:cNvSpPr>
          <p:nvPr>
            <p:ph type="title"/>
          </p:nvPr>
        </p:nvSpPr>
        <p:spPr>
          <a:xfrm>
            <a:off x="628650" y="365126"/>
            <a:ext cx="7886700" cy="1325563"/>
          </a:xfrm>
        </p:spPr>
        <p:txBody>
          <a:bodyPr>
            <a:normAutofit/>
          </a:bodyPr>
          <a:lstStyle/>
          <a:p>
            <a:pPr eaLnBrk="1" hangingPunct="1"/>
            <a:r>
              <a:rPr lang="en-IE" altLang="sr-Latn-RS" sz="3200" dirty="0">
                <a:latin typeface="Times New Roman" panose="02020603050405020304" pitchFamily="18" charset="0"/>
              </a:rPr>
              <a:t>3D Cohen-Sutherland </a:t>
            </a:r>
            <a:r>
              <a:rPr lang="hr-HR" altLang="sr-Latn-RS" sz="3200" dirty="0">
                <a:latin typeface="Times New Roman" panose="02020603050405020304" pitchFamily="18" charset="0"/>
              </a:rPr>
              <a:t>algoritam odrezivanja</a:t>
            </a:r>
            <a:endParaRPr lang="en-GB" altLang="sr-Latn-RS" sz="3200" dirty="0">
              <a:latin typeface="Times New Roman" panose="02020603050405020304" pitchFamily="18" charset="0"/>
            </a:endParaRPr>
          </a:p>
        </p:txBody>
      </p:sp>
      <p:pic>
        <p:nvPicPr>
          <p:cNvPr id="3" name="Slika 2">
            <a:extLst>
              <a:ext uri="{FF2B5EF4-FFF2-40B4-BE49-F238E27FC236}">
                <a16:creationId xmlns:a16="http://schemas.microsoft.com/office/drawing/2014/main" id="{9CF4383A-3A29-3BFC-CA37-2A7914EF5354}"/>
              </a:ext>
            </a:extLst>
          </p:cNvPr>
          <p:cNvPicPr>
            <a:picLocks noChangeAspect="1"/>
          </p:cNvPicPr>
          <p:nvPr/>
        </p:nvPicPr>
        <p:blipFill>
          <a:blip r:embed="rId2"/>
          <a:stretch>
            <a:fillRect/>
          </a:stretch>
        </p:blipFill>
        <p:spPr>
          <a:xfrm>
            <a:off x="2195736" y="4768551"/>
            <a:ext cx="4989560" cy="16631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0AA0306-0063-94B9-D2D5-475C4DF0974A}"/>
              </a:ext>
            </a:extLst>
          </p:cNvPr>
          <p:cNvSpPr>
            <a:spLocks noGrp="1"/>
          </p:cNvSpPr>
          <p:nvPr>
            <p:ph type="dt" sz="quarter" idx="10"/>
          </p:nvPr>
        </p:nvSpPr>
        <p:spPr/>
        <p:txBody>
          <a:bodyPr/>
          <a:lstStyle/>
          <a:p>
            <a:pPr>
              <a:defRPr/>
            </a:pPr>
            <a:fld id="{15186730-75DD-48A5-8C6C-2A7ED249287F}" type="datetime1">
              <a:rPr lang="hr-HR" smtClean="0"/>
              <a:t>6.11.2025.</a:t>
            </a:fld>
            <a:endParaRPr lang="en-US"/>
          </a:p>
        </p:txBody>
      </p:sp>
      <p:sp>
        <p:nvSpPr>
          <p:cNvPr id="6" name="Slide Number Placeholder 5">
            <a:extLst>
              <a:ext uri="{FF2B5EF4-FFF2-40B4-BE49-F238E27FC236}">
                <a16:creationId xmlns:a16="http://schemas.microsoft.com/office/drawing/2014/main" id="{55DFFDD7-509C-B1CB-31D7-30B465524F9D}"/>
              </a:ext>
            </a:extLst>
          </p:cNvPr>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7454740-557A-4B12-81D8-955F8E3B3F18}" type="slidenum">
              <a:rPr lang="en-US" altLang="sr-Latn-RS" sz="1400">
                <a:latin typeface="Arial" panose="020B0604020202020204" pitchFamily="34" charset="0"/>
              </a:rPr>
              <a:pPr eaLnBrk="1" hangingPunct="1"/>
              <a:t>7</a:t>
            </a:fld>
            <a:endParaRPr lang="en-US" altLang="sr-Latn-RS" sz="1400">
              <a:latin typeface="Arial" panose="020B0604020202020204" pitchFamily="34" charset="0"/>
            </a:endParaRPr>
          </a:p>
        </p:txBody>
      </p:sp>
      <p:sp>
        <p:nvSpPr>
          <p:cNvPr id="25606" name="Rectangle 3">
            <a:extLst>
              <a:ext uri="{FF2B5EF4-FFF2-40B4-BE49-F238E27FC236}">
                <a16:creationId xmlns:a16="http://schemas.microsoft.com/office/drawing/2014/main" id="{45647A26-4066-A92D-F2C9-CF3FD3CB6FE6}"/>
              </a:ext>
            </a:extLst>
          </p:cNvPr>
          <p:cNvSpPr>
            <a:spLocks noGrp="1" noChangeArrowheads="1"/>
          </p:cNvSpPr>
          <p:nvPr>
            <p:ph type="body" idx="1"/>
          </p:nvPr>
        </p:nvSpPr>
        <p:spPr/>
        <p:txBody>
          <a:bodyPr>
            <a:normAutofit/>
          </a:bodyPr>
          <a:lstStyle/>
          <a:p>
            <a:pPr eaLnBrk="1" hangingPunct="1">
              <a:lnSpc>
                <a:spcPct val="90000"/>
              </a:lnSpc>
              <a:buFontTx/>
              <a:buNone/>
            </a:pPr>
            <a:r>
              <a:rPr lang="hr-HR" altLang="sr-Latn-RS" sz="2400" b="1" dirty="0">
                <a:latin typeface="Times New Roman" panose="02020603050405020304" pitchFamily="18" charset="0"/>
              </a:rPr>
              <a:t>SLUČAJ</a:t>
            </a:r>
            <a:r>
              <a:rPr lang="en-IE" altLang="sr-Latn-RS" sz="2400" b="1" dirty="0">
                <a:latin typeface="Times New Roman" panose="02020603050405020304" pitchFamily="18" charset="0"/>
              </a:rPr>
              <a:t> – I </a:t>
            </a:r>
            <a:endParaRPr lang="hr-HR" altLang="sr-Latn-RS" sz="2400" b="1" dirty="0">
              <a:latin typeface="Times New Roman" panose="02020603050405020304" pitchFamily="18" charset="0"/>
            </a:endParaRPr>
          </a:p>
          <a:p>
            <a:pPr eaLnBrk="1" hangingPunct="1">
              <a:lnSpc>
                <a:spcPct val="90000"/>
              </a:lnSpc>
              <a:buFontTx/>
              <a:buNone/>
            </a:pPr>
            <a:r>
              <a:rPr lang="hr-HR" altLang="sr-Latn-RS" sz="2000" dirty="0">
                <a:latin typeface="Times New Roman" panose="02020603050405020304" pitchFamily="18" charset="0"/>
              </a:rPr>
              <a:t>	Izračunavanje točaka presjeka:</a:t>
            </a:r>
          </a:p>
          <a:p>
            <a:pPr eaLnBrk="1" hangingPunct="1">
              <a:lnSpc>
                <a:spcPct val="90000"/>
              </a:lnSpc>
              <a:buFontTx/>
              <a:buNone/>
            </a:pPr>
            <a:endParaRPr lang="hr-HR" altLang="sr-Latn-RS" sz="1200" dirty="0">
              <a:latin typeface="Times New Roman" panose="02020603050405020304" pitchFamily="18" charset="0"/>
            </a:endParaRPr>
          </a:p>
          <a:p>
            <a:r>
              <a:rPr lang="hr-HR" altLang="sr-Latn-RS" sz="2000" dirty="0">
                <a:latin typeface="Times New Roman" panose="02020603050405020304" pitchFamily="18" charset="0"/>
                <a:cs typeface="Times New Roman" panose="02020603050405020304" pitchFamily="18" charset="0"/>
              </a:rPr>
              <a:t>Koristi parametarski zapis linije za izračunavanje</a:t>
            </a:r>
          </a:p>
          <a:p>
            <a:r>
              <a:rPr lang="hr-HR" altLang="sr-Latn-RS" sz="2000" dirty="0">
                <a:latin typeface="Times New Roman" panose="02020603050405020304" pitchFamily="18" charset="0"/>
                <a:cs typeface="Times New Roman" panose="02020603050405020304" pitchFamily="18" charset="0"/>
              </a:rPr>
              <a:t>Za ravninu </a:t>
            </a:r>
            <a:r>
              <a:rPr lang="hr-HR" altLang="sr-Latn-RS" sz="2000" i="1" dirty="0">
                <a:latin typeface="Times New Roman" panose="02020603050405020304" pitchFamily="18" charset="0"/>
                <a:cs typeface="Times New Roman" panose="02020603050405020304" pitchFamily="18" charset="0"/>
              </a:rPr>
              <a:t>y = 1 </a:t>
            </a:r>
            <a:r>
              <a:rPr lang="hr-HR" altLang="sr-Latn-RS" sz="2000" dirty="0">
                <a:latin typeface="Times New Roman" panose="02020603050405020304" pitchFamily="18" charset="0"/>
                <a:cs typeface="Times New Roman" panose="02020603050405020304" pitchFamily="18" charset="0"/>
              </a:rPr>
              <a:t>zamijeni </a:t>
            </a:r>
            <a:r>
              <a:rPr lang="hr-HR" altLang="sr-Latn-RS" sz="2000" i="1" dirty="0">
                <a:latin typeface="Times New Roman" panose="02020603050405020304" pitchFamily="18" charset="0"/>
                <a:cs typeface="Times New Roman" panose="02020603050405020304" pitchFamily="18" charset="0"/>
              </a:rPr>
              <a:t>y</a:t>
            </a:r>
            <a:r>
              <a:rPr lang="hr-HR" altLang="sr-Latn-RS" sz="2000" dirty="0">
                <a:latin typeface="Times New Roman" panose="02020603050405020304" pitchFamily="18" charset="0"/>
                <a:cs typeface="Times New Roman" panose="02020603050405020304" pitchFamily="18" charset="0"/>
              </a:rPr>
              <a:t> s 1 i izračunaj </a:t>
            </a:r>
            <a:r>
              <a:rPr lang="hr-HR" altLang="sr-Latn-RS" sz="2000" i="1" dirty="0">
                <a:latin typeface="Times New Roman" panose="02020603050405020304" pitchFamily="18" charset="0"/>
                <a:cs typeface="Times New Roman" panose="02020603050405020304" pitchFamily="18" charset="0"/>
              </a:rPr>
              <a:t>t </a:t>
            </a:r>
            <a:r>
              <a:rPr lang="hr-HR" altLang="sr-Latn-RS" sz="2000" dirty="0">
                <a:latin typeface="Times New Roman" panose="02020603050405020304" pitchFamily="18" charset="0"/>
                <a:cs typeface="Times New Roman" panose="02020603050405020304" pitchFamily="18" charset="0"/>
              </a:rPr>
              <a:t>(početna i krajnja točka su poznate)</a:t>
            </a:r>
          </a:p>
          <a:p>
            <a:r>
              <a:rPr lang="hr-HR" altLang="sr-Latn-RS" sz="2000" dirty="0">
                <a:latin typeface="Times New Roman" panose="02020603050405020304" pitchFamily="18" charset="0"/>
                <a:cs typeface="Times New Roman" panose="02020603050405020304" pitchFamily="18" charset="0"/>
              </a:rPr>
              <a:t>Ako vrijedi </a:t>
            </a:r>
            <a:r>
              <a:rPr lang="hr-HR" altLang="sr-Latn-RS" sz="2000" i="1" dirty="0">
                <a:latin typeface="Times New Roman" panose="02020603050405020304" pitchFamily="18" charset="0"/>
                <a:cs typeface="Times New Roman" panose="02020603050405020304" pitchFamily="18" charset="0"/>
              </a:rPr>
              <a:t>1 ≥ t ≥ 0 </a:t>
            </a:r>
            <a:r>
              <a:rPr lang="hr-HR" altLang="sr-Latn-RS" sz="2000" dirty="0">
                <a:latin typeface="Times New Roman" panose="02020603050405020304" pitchFamily="18" charset="0"/>
                <a:cs typeface="Times New Roman" panose="02020603050405020304" pitchFamily="18" charset="0"/>
              </a:rPr>
              <a:t>onda ga upotrijebi za izračunavanje </a:t>
            </a:r>
            <a:r>
              <a:rPr lang="hr-HR" altLang="sr-Latn-RS" sz="2000" i="1" dirty="0">
                <a:latin typeface="Times New Roman" panose="02020603050405020304" pitchFamily="18" charset="0"/>
                <a:cs typeface="Times New Roman" panose="02020603050405020304" pitchFamily="18" charset="0"/>
              </a:rPr>
              <a:t>x</a:t>
            </a:r>
            <a:r>
              <a:rPr lang="hr-HR" altLang="sr-Latn-RS" sz="2000" dirty="0">
                <a:latin typeface="Times New Roman" panose="02020603050405020304" pitchFamily="18" charset="0"/>
                <a:cs typeface="Times New Roman" panose="02020603050405020304" pitchFamily="18" charset="0"/>
              </a:rPr>
              <a:t> i </a:t>
            </a:r>
            <a:r>
              <a:rPr lang="hr-HR" altLang="sr-Latn-RS" sz="2000" i="1" dirty="0">
                <a:latin typeface="Times New Roman" panose="02020603050405020304" pitchFamily="18" charset="0"/>
                <a:cs typeface="Times New Roman" panose="02020603050405020304" pitchFamily="18" charset="0"/>
              </a:rPr>
              <a:t>z</a:t>
            </a:r>
          </a:p>
          <a:p>
            <a:r>
              <a:rPr lang="hr-HR" altLang="sr-Latn-RS" sz="2000" dirty="0">
                <a:latin typeface="Times New Roman" panose="02020603050405020304" pitchFamily="18" charset="0"/>
                <a:cs typeface="Times New Roman" panose="02020603050405020304" pitchFamily="18" charset="0"/>
              </a:rPr>
              <a:t>Ispitaj jesu li </a:t>
            </a:r>
            <a:r>
              <a:rPr lang="hr-HR" altLang="sr-Latn-RS" sz="2000" i="1" dirty="0">
                <a:latin typeface="Times New Roman" panose="02020603050405020304" pitchFamily="18" charset="0"/>
                <a:cs typeface="Times New Roman" panose="02020603050405020304" pitchFamily="18" charset="0"/>
              </a:rPr>
              <a:t>x</a:t>
            </a:r>
            <a:r>
              <a:rPr lang="hr-HR" altLang="sr-Latn-RS" sz="2000" dirty="0">
                <a:latin typeface="Times New Roman" panose="02020603050405020304" pitchFamily="18" charset="0"/>
                <a:cs typeface="Times New Roman" panose="02020603050405020304" pitchFamily="18" charset="0"/>
              </a:rPr>
              <a:t> i </a:t>
            </a:r>
            <a:r>
              <a:rPr lang="hr-HR" altLang="sr-Latn-RS" sz="2000" i="1" dirty="0">
                <a:latin typeface="Times New Roman" panose="02020603050405020304" pitchFamily="18" charset="0"/>
                <a:cs typeface="Times New Roman" panose="02020603050405020304" pitchFamily="18" charset="0"/>
              </a:rPr>
              <a:t>z</a:t>
            </a:r>
            <a:r>
              <a:rPr lang="hr-HR" altLang="sr-Latn-RS" sz="2000" dirty="0">
                <a:latin typeface="Times New Roman" panose="02020603050405020304" pitchFamily="18" charset="0"/>
                <a:cs typeface="Times New Roman" panose="02020603050405020304" pitchFamily="18" charset="0"/>
              </a:rPr>
              <a:t> vrijednosti unutar intervala prihvaćanja </a:t>
            </a:r>
          </a:p>
          <a:p>
            <a:r>
              <a:rPr lang="hr-HR" altLang="sr-Latn-RS" sz="2000" dirty="0">
                <a:latin typeface="Times New Roman" panose="02020603050405020304" pitchFamily="18" charset="0"/>
                <a:cs typeface="Times New Roman" panose="02020603050405020304" pitchFamily="18" charset="0"/>
              </a:rPr>
              <a:t>Ponovi postupak za ravnine y = -1, x = 1, x = -1, z = -1, z = 0</a:t>
            </a:r>
          </a:p>
          <a:p>
            <a:pPr marL="0" indent="0">
              <a:buNone/>
            </a:pPr>
            <a:endParaRPr lang="hr-HR" altLang="sr-Latn-RS" sz="2000" dirty="0">
              <a:latin typeface="Times New Roman" panose="02020603050405020304" pitchFamily="18" charset="0"/>
              <a:cs typeface="Times New Roman" panose="02020603050405020304" pitchFamily="18" charset="0"/>
            </a:endParaRPr>
          </a:p>
          <a:p>
            <a:pPr eaLnBrk="1" hangingPunct="1">
              <a:lnSpc>
                <a:spcPct val="90000"/>
              </a:lnSpc>
              <a:buFontTx/>
              <a:buNone/>
            </a:pPr>
            <a:endParaRPr lang="en-IE" altLang="sr-Latn-RS" sz="2000"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1ECCFD38-3A13-EAFD-F6B6-5E7464037B42}"/>
              </a:ext>
            </a:extLst>
          </p:cNvPr>
          <p:cNvSpPr>
            <a:spLocks noGrp="1" noChangeArrowheads="1"/>
          </p:cNvSpPr>
          <p:nvPr>
            <p:ph type="title"/>
          </p:nvPr>
        </p:nvSpPr>
        <p:spPr>
          <a:xfrm>
            <a:off x="628650" y="365126"/>
            <a:ext cx="7886700" cy="1325563"/>
          </a:xfrm>
        </p:spPr>
        <p:txBody>
          <a:bodyPr>
            <a:normAutofit/>
          </a:bodyPr>
          <a:lstStyle/>
          <a:p>
            <a:pPr eaLnBrk="1" hangingPunct="1"/>
            <a:r>
              <a:rPr lang="en-IE" altLang="sr-Latn-RS" sz="3200" dirty="0">
                <a:latin typeface="Times New Roman" panose="02020603050405020304" pitchFamily="18" charset="0"/>
              </a:rPr>
              <a:t>3D Cohen-Sutherland </a:t>
            </a:r>
            <a:r>
              <a:rPr lang="hr-HR" altLang="sr-Latn-RS" sz="3200" dirty="0">
                <a:latin typeface="Times New Roman" panose="02020603050405020304" pitchFamily="18" charset="0"/>
              </a:rPr>
              <a:t>algoritam odrezivanja</a:t>
            </a:r>
            <a:endParaRPr lang="en-GB" altLang="sr-Latn-RS" sz="3200" dirty="0">
              <a:latin typeface="Times New Roman" panose="02020603050405020304" pitchFamily="18" charset="0"/>
            </a:endParaRPr>
          </a:p>
        </p:txBody>
      </p:sp>
      <p:pic>
        <p:nvPicPr>
          <p:cNvPr id="5" name="Slika 4">
            <a:extLst>
              <a:ext uri="{FF2B5EF4-FFF2-40B4-BE49-F238E27FC236}">
                <a16:creationId xmlns:a16="http://schemas.microsoft.com/office/drawing/2014/main" id="{AB0E99A6-2ADB-0A5F-8830-3FAECAB1970C}"/>
              </a:ext>
            </a:extLst>
          </p:cNvPr>
          <p:cNvPicPr>
            <a:picLocks noChangeAspect="1"/>
          </p:cNvPicPr>
          <p:nvPr/>
        </p:nvPicPr>
        <p:blipFill>
          <a:blip r:embed="rId2"/>
          <a:stretch>
            <a:fillRect/>
          </a:stretch>
        </p:blipFill>
        <p:spPr>
          <a:xfrm>
            <a:off x="2152049" y="5136981"/>
            <a:ext cx="4305901" cy="1219370"/>
          </a:xfrm>
          <a:prstGeom prst="rect">
            <a:avLst/>
          </a:prstGeom>
        </p:spPr>
      </p:pic>
      <p:cxnSp>
        <p:nvCxnSpPr>
          <p:cNvPr id="9" name="Ravni poveznik sa strelicom 8">
            <a:extLst>
              <a:ext uri="{FF2B5EF4-FFF2-40B4-BE49-F238E27FC236}">
                <a16:creationId xmlns:a16="http://schemas.microsoft.com/office/drawing/2014/main" id="{9DA1D0F1-23F6-E0A8-BE04-AFF06F3A749A}"/>
              </a:ext>
            </a:extLst>
          </p:cNvPr>
          <p:cNvCxnSpPr/>
          <p:nvPr/>
        </p:nvCxnSpPr>
        <p:spPr>
          <a:xfrm>
            <a:off x="2483768" y="3645024"/>
            <a:ext cx="2736304" cy="187220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Ravni poveznik sa strelicom 9">
            <a:extLst>
              <a:ext uri="{FF2B5EF4-FFF2-40B4-BE49-F238E27FC236}">
                <a16:creationId xmlns:a16="http://schemas.microsoft.com/office/drawing/2014/main" id="{22829396-B214-CEC1-ADB7-BD25B4421047}"/>
              </a:ext>
            </a:extLst>
          </p:cNvPr>
          <p:cNvCxnSpPr>
            <a:cxnSpLocks/>
          </p:cNvCxnSpPr>
          <p:nvPr/>
        </p:nvCxnSpPr>
        <p:spPr>
          <a:xfrm flipH="1" flipV="1">
            <a:off x="4139952" y="5370524"/>
            <a:ext cx="792088" cy="32609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Ravni poveznik sa strelicom 13">
            <a:extLst>
              <a:ext uri="{FF2B5EF4-FFF2-40B4-BE49-F238E27FC236}">
                <a16:creationId xmlns:a16="http://schemas.microsoft.com/office/drawing/2014/main" id="{74F96C06-115E-3E0B-DA36-5E1D8A44255F}"/>
              </a:ext>
            </a:extLst>
          </p:cNvPr>
          <p:cNvCxnSpPr>
            <a:cxnSpLocks/>
          </p:cNvCxnSpPr>
          <p:nvPr/>
        </p:nvCxnSpPr>
        <p:spPr>
          <a:xfrm flipH="1">
            <a:off x="4067944" y="5735649"/>
            <a:ext cx="792088" cy="40043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Ravni poveznik sa strelicom 17">
            <a:extLst>
              <a:ext uri="{FF2B5EF4-FFF2-40B4-BE49-F238E27FC236}">
                <a16:creationId xmlns:a16="http://schemas.microsoft.com/office/drawing/2014/main" id="{015AA399-AA3F-52FF-D7A3-0AEC2A2DDF97}"/>
              </a:ext>
            </a:extLst>
          </p:cNvPr>
          <p:cNvCxnSpPr>
            <a:cxnSpLocks/>
          </p:cNvCxnSpPr>
          <p:nvPr/>
        </p:nvCxnSpPr>
        <p:spPr>
          <a:xfrm>
            <a:off x="196765" y="3429000"/>
            <a:ext cx="44059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Ravni poveznik sa strelicom 19">
            <a:extLst>
              <a:ext uri="{FF2B5EF4-FFF2-40B4-BE49-F238E27FC236}">
                <a16:creationId xmlns:a16="http://schemas.microsoft.com/office/drawing/2014/main" id="{45DEF272-778B-9323-7B0F-FEF12BE4FF15}"/>
              </a:ext>
            </a:extLst>
          </p:cNvPr>
          <p:cNvCxnSpPr>
            <a:cxnSpLocks/>
          </p:cNvCxnSpPr>
          <p:nvPr/>
        </p:nvCxnSpPr>
        <p:spPr>
          <a:xfrm>
            <a:off x="170967" y="4077072"/>
            <a:ext cx="44059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9123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77540F8-EF54-A514-9978-2A30C4F5D6AA}"/>
              </a:ext>
            </a:extLst>
          </p:cNvPr>
          <p:cNvSpPr>
            <a:spLocks noGrp="1"/>
          </p:cNvSpPr>
          <p:nvPr>
            <p:ph type="dt" sz="quarter" idx="10"/>
          </p:nvPr>
        </p:nvSpPr>
        <p:spPr/>
        <p:txBody>
          <a:bodyPr/>
          <a:lstStyle/>
          <a:p>
            <a:pPr>
              <a:defRPr/>
            </a:pPr>
            <a:fld id="{490EA706-F484-41F1-8351-8D1F96EB771C}" type="datetime1">
              <a:rPr lang="hr-HR" smtClean="0"/>
              <a:t>6.11.2025.</a:t>
            </a:fld>
            <a:endParaRPr lang="en-US"/>
          </a:p>
        </p:txBody>
      </p:sp>
      <p:sp>
        <p:nvSpPr>
          <p:cNvPr id="6" name="Slide Number Placeholder 5">
            <a:extLst>
              <a:ext uri="{FF2B5EF4-FFF2-40B4-BE49-F238E27FC236}">
                <a16:creationId xmlns:a16="http://schemas.microsoft.com/office/drawing/2014/main" id="{6A8BEE73-BE99-4AE6-1C74-7EA81E50DA14}"/>
              </a:ext>
            </a:extLst>
          </p:cNvPr>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C79C165-930D-4E14-974F-A5505864B79C}" type="slidenum">
              <a:rPr lang="en-US" altLang="sr-Latn-RS" sz="1400">
                <a:latin typeface="Arial" panose="020B0604020202020204" pitchFamily="34" charset="0"/>
              </a:rPr>
              <a:pPr eaLnBrk="1" hangingPunct="1"/>
              <a:t>8</a:t>
            </a:fld>
            <a:endParaRPr lang="en-US" altLang="sr-Latn-RS" sz="1400">
              <a:latin typeface="Arial" panose="020B0604020202020204" pitchFamily="34" charset="0"/>
            </a:endParaRPr>
          </a:p>
        </p:txBody>
      </p:sp>
      <p:sp>
        <p:nvSpPr>
          <p:cNvPr id="26630" name="Rectangle 3">
            <a:extLst>
              <a:ext uri="{FF2B5EF4-FFF2-40B4-BE49-F238E27FC236}">
                <a16:creationId xmlns:a16="http://schemas.microsoft.com/office/drawing/2014/main" id="{782A93A2-FD23-5714-5B73-6D565181FC03}"/>
              </a:ext>
            </a:extLst>
          </p:cNvPr>
          <p:cNvSpPr>
            <a:spLocks noGrp="1" noChangeArrowheads="1"/>
          </p:cNvSpPr>
          <p:nvPr>
            <p:ph type="body" idx="1"/>
          </p:nvPr>
        </p:nvSpPr>
        <p:spPr/>
        <p:txBody>
          <a:bodyPr>
            <a:normAutofit/>
          </a:bodyPr>
          <a:lstStyle/>
          <a:p>
            <a:pPr eaLnBrk="1" hangingPunct="1">
              <a:lnSpc>
                <a:spcPct val="90000"/>
              </a:lnSpc>
              <a:buFontTx/>
              <a:buNone/>
            </a:pPr>
            <a:r>
              <a:rPr lang="hr-HR" altLang="sr-Latn-RS" sz="2400" b="1" dirty="0">
                <a:latin typeface="Times New Roman" panose="02020603050405020304" pitchFamily="18" charset="0"/>
              </a:rPr>
              <a:t>SLUČAJ</a:t>
            </a:r>
            <a:r>
              <a:rPr lang="en-IE" altLang="sr-Latn-RS" sz="2400" b="1" dirty="0">
                <a:latin typeface="Times New Roman" panose="02020603050405020304" pitchFamily="18" charset="0"/>
              </a:rPr>
              <a:t> – II </a:t>
            </a:r>
            <a:endParaRPr lang="hr-HR" altLang="sr-Latn-RS" sz="2400" b="1" dirty="0">
              <a:latin typeface="Times New Roman" panose="02020603050405020304" pitchFamily="18" charset="0"/>
            </a:endParaRPr>
          </a:p>
          <a:p>
            <a:pPr eaLnBrk="1" hangingPunct="1">
              <a:lnSpc>
                <a:spcPct val="90000"/>
              </a:lnSpc>
              <a:buFontTx/>
              <a:buNone/>
            </a:pPr>
            <a:r>
              <a:rPr lang="hr-HR" altLang="sr-Latn-RS" sz="2400" b="1" dirty="0">
                <a:latin typeface="Times New Roman" panose="02020603050405020304" pitchFamily="18" charset="0"/>
              </a:rPr>
              <a:t>	</a:t>
            </a:r>
            <a:r>
              <a:rPr lang="hr-HR" altLang="sr-Latn-RS" sz="2200" dirty="0">
                <a:latin typeface="Times New Roman" panose="02020603050405020304" pitchFamily="18" charset="0"/>
              </a:rPr>
              <a:t>Pridruživanje kodova regija krajnjim točkama linije za</a:t>
            </a:r>
            <a:r>
              <a:rPr lang="en-IE" altLang="sr-Latn-RS" sz="2200" dirty="0">
                <a:latin typeface="Times New Roman" panose="02020603050405020304" pitchFamily="18" charset="0"/>
              </a:rPr>
              <a:t> </a:t>
            </a:r>
            <a:r>
              <a:rPr lang="hr-HR" altLang="sr-Latn-RS" sz="2200" b="1" i="1" dirty="0">
                <a:latin typeface="Times New Roman" panose="02020603050405020304" pitchFamily="18" charset="0"/>
              </a:rPr>
              <a:t>Kanonski Volumen pogleda za perspektivnu projekciju</a:t>
            </a:r>
            <a:r>
              <a:rPr lang="en-IE" altLang="sr-Latn-RS" sz="2200" dirty="0">
                <a:latin typeface="Times New Roman" panose="02020603050405020304" pitchFamily="18" charset="0"/>
              </a:rPr>
              <a:t> </a:t>
            </a:r>
            <a:r>
              <a:rPr lang="en-IE" altLang="sr-Latn-RS" sz="2200" dirty="0" err="1">
                <a:latin typeface="Times New Roman" panose="02020603050405020304" pitchFamily="18" charset="0"/>
              </a:rPr>
              <a:t>defin</a:t>
            </a:r>
            <a:r>
              <a:rPr lang="hr-HR" altLang="sr-Latn-RS" sz="2200" dirty="0" err="1">
                <a:latin typeface="Times New Roman" panose="02020603050405020304" pitchFamily="18" charset="0"/>
              </a:rPr>
              <a:t>iranog</a:t>
            </a:r>
            <a:r>
              <a:rPr lang="hr-HR" altLang="sr-Latn-RS" sz="2200" dirty="0">
                <a:latin typeface="Times New Roman" panose="02020603050405020304" pitchFamily="18" charset="0"/>
              </a:rPr>
              <a:t> s</a:t>
            </a:r>
            <a:r>
              <a:rPr lang="en-IE" altLang="sr-Latn-RS" sz="2200" dirty="0">
                <a:latin typeface="Times New Roman" panose="02020603050405020304" pitchFamily="18" charset="0"/>
              </a:rPr>
              <a:t>:</a:t>
            </a:r>
          </a:p>
          <a:p>
            <a:pPr eaLnBrk="1" hangingPunct="1">
              <a:lnSpc>
                <a:spcPct val="90000"/>
              </a:lnSpc>
              <a:buFontTx/>
              <a:buNone/>
            </a:pPr>
            <a:r>
              <a:rPr lang="en-GB" altLang="sr-Latn-RS" sz="1400" i="1" dirty="0">
                <a:latin typeface="Times New Roman" panose="02020603050405020304" pitchFamily="18" charset="0"/>
              </a:rPr>
              <a:t>	</a:t>
            </a:r>
            <a:endParaRPr lang="hr-HR" altLang="sr-Latn-RS" sz="1400" i="1" dirty="0">
              <a:latin typeface="Times New Roman" panose="02020603050405020304" pitchFamily="18" charset="0"/>
            </a:endParaRPr>
          </a:p>
          <a:p>
            <a:pPr eaLnBrk="1" hangingPunct="1">
              <a:lnSpc>
                <a:spcPct val="90000"/>
              </a:lnSpc>
              <a:buFontTx/>
              <a:buNone/>
            </a:pPr>
            <a:r>
              <a:rPr lang="hr-HR" altLang="sr-Latn-RS" sz="2200" i="1" dirty="0">
                <a:latin typeface="Times New Roman" panose="02020603050405020304" pitchFamily="18" charset="0"/>
              </a:rPr>
              <a:t>	</a:t>
            </a:r>
            <a:r>
              <a:rPr lang="en-GB" altLang="sr-Latn-RS" sz="2200" i="1" dirty="0">
                <a:latin typeface="Times New Roman" panose="02020603050405020304" pitchFamily="18" charset="0"/>
              </a:rPr>
              <a:t>x = -z , x = z;	y = -z,  y = z;		z = z</a:t>
            </a:r>
            <a:r>
              <a:rPr lang="hr-HR" altLang="sr-Latn-RS" sz="2200" i="1" baseline="-25000" dirty="0">
                <a:latin typeface="Times New Roman" panose="02020603050405020304" pitchFamily="18" charset="0"/>
              </a:rPr>
              <a:t>min</a:t>
            </a:r>
            <a:r>
              <a:rPr lang="en-GB" altLang="sr-Latn-RS" sz="2200" i="1" dirty="0">
                <a:latin typeface="Times New Roman" panose="02020603050405020304" pitchFamily="18" charset="0"/>
              </a:rPr>
              <a:t> , z = </a:t>
            </a:r>
            <a:r>
              <a:rPr lang="hr-HR" altLang="sr-Latn-RS" sz="2200" i="1" dirty="0">
                <a:latin typeface="Times New Roman" panose="02020603050405020304" pitchFamily="18" charset="0"/>
              </a:rPr>
              <a:t>-</a:t>
            </a:r>
            <a:r>
              <a:rPr lang="en-GB" altLang="sr-Latn-RS" sz="2200" i="1" dirty="0">
                <a:latin typeface="Times New Roman" panose="02020603050405020304" pitchFamily="18" charset="0"/>
              </a:rPr>
              <a:t>1</a:t>
            </a:r>
            <a:r>
              <a:rPr lang="en-IE" altLang="sr-Latn-RS" sz="2200" dirty="0">
                <a:latin typeface="Times New Roman" panose="02020603050405020304" pitchFamily="18" charset="0"/>
              </a:rPr>
              <a:t> </a:t>
            </a:r>
          </a:p>
          <a:p>
            <a:pPr eaLnBrk="1" hangingPunct="1">
              <a:lnSpc>
                <a:spcPct val="90000"/>
              </a:lnSpc>
              <a:buFontTx/>
              <a:buNone/>
            </a:pPr>
            <a:r>
              <a:rPr lang="en-IE" altLang="sr-Latn-RS" sz="1400" dirty="0">
                <a:latin typeface="Times New Roman" panose="02020603050405020304" pitchFamily="18" charset="0"/>
              </a:rPr>
              <a:t>	</a:t>
            </a:r>
          </a:p>
          <a:p>
            <a:pPr>
              <a:buNone/>
            </a:pPr>
            <a:r>
              <a:rPr lang="en-IE" altLang="sr-Latn-RS" sz="2400" dirty="0">
                <a:latin typeface="Times New Roman" panose="02020603050405020304" pitchFamily="18" charset="0"/>
              </a:rPr>
              <a:t>	</a:t>
            </a:r>
            <a:r>
              <a:rPr lang="hr-HR" altLang="sr-Latn-RS" sz="2200" dirty="0">
                <a:latin typeface="Times New Roman" panose="02020603050405020304" pitchFamily="18" charset="0"/>
              </a:rPr>
              <a:t>Kodovi se postavljaju u </a:t>
            </a:r>
            <a:r>
              <a:rPr lang="en-IE" altLang="sr-Latn-RS" sz="2200" dirty="0">
                <a:latin typeface="Times New Roman" panose="02020603050405020304" pitchFamily="18" charset="0"/>
              </a:rPr>
              <a:t>true(1) </a:t>
            </a:r>
            <a:r>
              <a:rPr lang="hr-HR" altLang="sr-Latn-RS" sz="2200" dirty="0">
                <a:latin typeface="Times New Roman" panose="02020603050405020304" pitchFamily="18" charset="0"/>
              </a:rPr>
              <a:t>ili</a:t>
            </a:r>
            <a:r>
              <a:rPr lang="en-IE" altLang="sr-Latn-RS" sz="2200" dirty="0">
                <a:latin typeface="Times New Roman" panose="02020603050405020304" pitchFamily="18" charset="0"/>
              </a:rPr>
              <a:t> false(0) </a:t>
            </a:r>
            <a:r>
              <a:rPr lang="hr-HR" altLang="sr-Latn-RS" sz="2200" dirty="0">
                <a:latin typeface="Times New Roman" panose="02020603050405020304" pitchFamily="18" charset="0"/>
              </a:rPr>
              <a:t>ovisno o sljedećim jednadžbama</a:t>
            </a:r>
            <a:r>
              <a:rPr lang="en-IE" altLang="sr-Latn-RS" sz="2200" dirty="0">
                <a:latin typeface="Times New Roman" panose="02020603050405020304" pitchFamily="18" charset="0"/>
              </a:rPr>
              <a:t>:</a:t>
            </a:r>
          </a:p>
          <a:p>
            <a:pPr eaLnBrk="1" hangingPunct="1">
              <a:lnSpc>
                <a:spcPct val="90000"/>
              </a:lnSpc>
              <a:buFontTx/>
              <a:buNone/>
            </a:pPr>
            <a:r>
              <a:rPr lang="en-IE" altLang="sr-Latn-RS" sz="2400" dirty="0">
                <a:latin typeface="Times New Roman" panose="02020603050405020304" pitchFamily="18" charset="0"/>
              </a:rPr>
              <a:t>	</a:t>
            </a:r>
            <a:endParaRPr lang="en-IE" altLang="sr-Latn-RS" sz="1800" dirty="0">
              <a:latin typeface="Courier New" panose="02070309020205020404" pitchFamily="49" charset="0"/>
            </a:endParaRPr>
          </a:p>
        </p:txBody>
      </p:sp>
      <p:sp>
        <p:nvSpPr>
          <p:cNvPr id="7" name="Rectangle 2">
            <a:extLst>
              <a:ext uri="{FF2B5EF4-FFF2-40B4-BE49-F238E27FC236}">
                <a16:creationId xmlns:a16="http://schemas.microsoft.com/office/drawing/2014/main" id="{DD30BC8D-F84B-8963-4C32-044FD9399159}"/>
              </a:ext>
            </a:extLst>
          </p:cNvPr>
          <p:cNvSpPr>
            <a:spLocks noGrp="1" noChangeArrowheads="1"/>
          </p:cNvSpPr>
          <p:nvPr>
            <p:ph type="title"/>
          </p:nvPr>
        </p:nvSpPr>
        <p:spPr>
          <a:xfrm>
            <a:off x="628650" y="365126"/>
            <a:ext cx="7886700" cy="1325563"/>
          </a:xfrm>
        </p:spPr>
        <p:txBody>
          <a:bodyPr>
            <a:normAutofit/>
          </a:bodyPr>
          <a:lstStyle/>
          <a:p>
            <a:pPr eaLnBrk="1" hangingPunct="1"/>
            <a:r>
              <a:rPr lang="en-IE" altLang="sr-Latn-RS" sz="3200" dirty="0">
                <a:latin typeface="Times New Roman" panose="02020603050405020304" pitchFamily="18" charset="0"/>
              </a:rPr>
              <a:t>3D Cohen-Sutherland </a:t>
            </a:r>
            <a:r>
              <a:rPr lang="hr-HR" altLang="sr-Latn-RS" sz="3200" dirty="0">
                <a:latin typeface="Times New Roman" panose="02020603050405020304" pitchFamily="18" charset="0"/>
              </a:rPr>
              <a:t>algoritam odrezivanja</a:t>
            </a:r>
            <a:endParaRPr lang="en-GB" altLang="sr-Latn-RS" sz="3200" dirty="0">
              <a:latin typeface="Times New Roman" panose="02020603050405020304" pitchFamily="18" charset="0"/>
            </a:endParaRPr>
          </a:p>
        </p:txBody>
      </p:sp>
      <p:pic>
        <p:nvPicPr>
          <p:cNvPr id="3" name="Slika 2">
            <a:extLst>
              <a:ext uri="{FF2B5EF4-FFF2-40B4-BE49-F238E27FC236}">
                <a16:creationId xmlns:a16="http://schemas.microsoft.com/office/drawing/2014/main" id="{4DE46A60-A631-BA19-F55F-24A298C67200}"/>
              </a:ext>
            </a:extLst>
          </p:cNvPr>
          <p:cNvPicPr>
            <a:picLocks noChangeAspect="1"/>
          </p:cNvPicPr>
          <p:nvPr/>
        </p:nvPicPr>
        <p:blipFill>
          <a:blip r:embed="rId2"/>
          <a:stretch>
            <a:fillRect/>
          </a:stretch>
        </p:blipFill>
        <p:spPr>
          <a:xfrm>
            <a:off x="2267744" y="4818615"/>
            <a:ext cx="5096586" cy="1867161"/>
          </a:xfrm>
          <a:prstGeom prst="rect">
            <a:avLst/>
          </a:prstGeom>
        </p:spPr>
      </p:pic>
      <p:pic>
        <p:nvPicPr>
          <p:cNvPr id="8" name="Slika 7" descr="Slika na kojoj se prikazuje crta, trokut, umjetničko djelo, dizajn&#10;&#10;Opis je automatski generiran">
            <a:extLst>
              <a:ext uri="{FF2B5EF4-FFF2-40B4-BE49-F238E27FC236}">
                <a16:creationId xmlns:a16="http://schemas.microsoft.com/office/drawing/2014/main" id="{ED9591D3-93E6-E6E0-E7CA-36CE62F788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0272" y="1007269"/>
            <a:ext cx="2019300" cy="14573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14D8F92-7EB5-E3DB-FDD1-080C016FEFD5}"/>
              </a:ext>
            </a:extLst>
          </p:cNvPr>
          <p:cNvSpPr>
            <a:spLocks noGrp="1"/>
          </p:cNvSpPr>
          <p:nvPr>
            <p:ph type="dt" sz="quarter" idx="10"/>
          </p:nvPr>
        </p:nvSpPr>
        <p:spPr/>
        <p:txBody>
          <a:bodyPr/>
          <a:lstStyle/>
          <a:p>
            <a:pPr>
              <a:defRPr/>
            </a:pPr>
            <a:fld id="{2C80EA1B-8A9C-4284-8A91-BD5B30699727}" type="datetime1">
              <a:rPr lang="hr-HR" smtClean="0"/>
              <a:t>6.11.2025.</a:t>
            </a:fld>
            <a:endParaRPr lang="en-US"/>
          </a:p>
        </p:txBody>
      </p:sp>
      <p:sp>
        <p:nvSpPr>
          <p:cNvPr id="6" name="Slide Number Placeholder 5">
            <a:extLst>
              <a:ext uri="{FF2B5EF4-FFF2-40B4-BE49-F238E27FC236}">
                <a16:creationId xmlns:a16="http://schemas.microsoft.com/office/drawing/2014/main" id="{AE352F79-4A0C-C275-B320-DAF707F6B012}"/>
              </a:ext>
            </a:extLst>
          </p:cNvPr>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70B9B1A-56D9-41D6-80C8-2520F7D02CE7}" type="slidenum">
              <a:rPr lang="en-US" altLang="sr-Latn-RS" sz="1400">
                <a:latin typeface="Arial" panose="020B0604020202020204" pitchFamily="34" charset="0"/>
              </a:rPr>
              <a:pPr eaLnBrk="1" hangingPunct="1"/>
              <a:t>9</a:t>
            </a:fld>
            <a:endParaRPr lang="en-US" altLang="sr-Latn-RS" sz="1400">
              <a:latin typeface="Arial" panose="020B0604020202020204" pitchFamily="34" charset="0"/>
            </a:endParaRPr>
          </a:p>
        </p:txBody>
      </p:sp>
      <p:sp>
        <p:nvSpPr>
          <p:cNvPr id="27654" name="Rectangle 3">
            <a:extLst>
              <a:ext uri="{FF2B5EF4-FFF2-40B4-BE49-F238E27FC236}">
                <a16:creationId xmlns:a16="http://schemas.microsoft.com/office/drawing/2014/main" id="{C900BE25-22C7-C7DD-5A19-BEC5F82F2053}"/>
              </a:ext>
            </a:extLst>
          </p:cNvPr>
          <p:cNvSpPr>
            <a:spLocks noGrp="1" noChangeArrowheads="1"/>
          </p:cNvSpPr>
          <p:nvPr>
            <p:ph type="body" idx="1"/>
          </p:nvPr>
        </p:nvSpPr>
        <p:spPr/>
        <p:txBody>
          <a:bodyPr>
            <a:normAutofit/>
          </a:bodyPr>
          <a:lstStyle/>
          <a:p>
            <a:pPr eaLnBrk="1" hangingPunct="1"/>
            <a:r>
              <a:rPr lang="hr-HR" altLang="sr-Latn-RS" sz="2000" dirty="0">
                <a:latin typeface="Times New Roman" panose="02020603050405020304" pitchFamily="18" charset="0"/>
              </a:rPr>
              <a:t>Za odrezivanje prvo se označavaju sve krajnje točke s odgovarajućim kodom regije.</a:t>
            </a:r>
            <a:endParaRPr lang="en-IE" altLang="sr-Latn-RS" sz="2000" dirty="0">
              <a:latin typeface="Times New Roman" panose="02020603050405020304" pitchFamily="18" charset="0"/>
            </a:endParaRPr>
          </a:p>
          <a:p>
            <a:pPr eaLnBrk="1" hangingPunct="1"/>
            <a:r>
              <a:rPr lang="hr-HR" altLang="sr-Latn-RS" sz="2000" dirty="0">
                <a:latin typeface="Times New Roman" panose="02020603050405020304" pitchFamily="18" charset="0"/>
              </a:rPr>
              <a:t>Klasificira se kategorija linijskog segmenta na sljedeći način:</a:t>
            </a:r>
            <a:endParaRPr lang="en-GB" altLang="sr-Latn-RS" sz="2000" dirty="0">
              <a:latin typeface="Times New Roman" panose="02020603050405020304" pitchFamily="18" charset="0"/>
            </a:endParaRPr>
          </a:p>
          <a:p>
            <a:pPr lvl="1" eaLnBrk="1" hangingPunct="1"/>
            <a:r>
              <a:rPr lang="en-GB" altLang="sr-Latn-RS" sz="2000" b="1" i="1" dirty="0">
                <a:latin typeface="Times New Roman" panose="02020603050405020304" pitchFamily="18" charset="0"/>
              </a:rPr>
              <a:t>Vi</a:t>
            </a:r>
            <a:r>
              <a:rPr lang="hr-HR" altLang="sr-Latn-RS" sz="2000" b="1" i="1" dirty="0" err="1">
                <a:latin typeface="Times New Roman" panose="02020603050405020304" pitchFamily="18" charset="0"/>
              </a:rPr>
              <a:t>dljiv</a:t>
            </a:r>
            <a:r>
              <a:rPr lang="en-GB" altLang="sr-Latn-RS" sz="2000" dirty="0">
                <a:latin typeface="Times New Roman" panose="02020603050405020304" pitchFamily="18" charset="0"/>
              </a:rPr>
              <a:t>: </a:t>
            </a:r>
            <a:r>
              <a:rPr lang="hr-HR" altLang="sr-Latn-RS" sz="2000" dirty="0">
                <a:latin typeface="Times New Roman" panose="02020603050405020304" pitchFamily="18" charset="0"/>
              </a:rPr>
              <a:t>ako su </a:t>
            </a:r>
            <a:r>
              <a:rPr lang="hr-HR" altLang="sr-Latn-RS" sz="2000" dirty="0" err="1">
                <a:latin typeface="Times New Roman" panose="02020603050405020304" pitchFamily="18" charset="0"/>
              </a:rPr>
              <a:t>obe</a:t>
            </a:r>
            <a:r>
              <a:rPr lang="hr-HR" altLang="sr-Latn-RS" sz="2000" dirty="0">
                <a:latin typeface="Times New Roman" panose="02020603050405020304" pitchFamily="18" charset="0"/>
              </a:rPr>
              <a:t> krajnje točke s kodom</a:t>
            </a:r>
            <a:r>
              <a:rPr lang="en-GB" altLang="sr-Latn-RS" sz="2000" dirty="0">
                <a:latin typeface="Times New Roman" panose="02020603050405020304" pitchFamily="18" charset="0"/>
              </a:rPr>
              <a:t> 000000</a:t>
            </a:r>
            <a:r>
              <a:rPr lang="hr-HR" altLang="sr-Latn-RS" sz="2000" dirty="0">
                <a:latin typeface="Times New Roman" panose="02020603050405020304" pitchFamily="18" charset="0"/>
              </a:rPr>
              <a:t> (</a:t>
            </a:r>
            <a:r>
              <a:rPr lang="pl-PL" altLang="sr-Latn-RS" sz="2000" dirty="0">
                <a:latin typeface="Times New Roman" panose="02020603050405020304" pitchFamily="18" charset="0"/>
              </a:rPr>
              <a:t>logička ILI funkcija po bitovima 	kodova daje rezultat 000000) </a:t>
            </a:r>
            <a:endParaRPr lang="en-GB" altLang="sr-Latn-RS" sz="2000" dirty="0">
              <a:latin typeface="Times New Roman" panose="02020603050405020304" pitchFamily="18" charset="0"/>
            </a:endParaRPr>
          </a:p>
          <a:p>
            <a:pPr lvl="1" eaLnBrk="1" hangingPunct="1"/>
            <a:r>
              <a:rPr lang="hr-HR" altLang="sr-Latn-RS" sz="2000" b="1" i="1" dirty="0">
                <a:latin typeface="Times New Roman" panose="02020603050405020304" pitchFamily="18" charset="0"/>
              </a:rPr>
              <a:t>Nevidljiv</a:t>
            </a:r>
            <a:r>
              <a:rPr lang="en-GB" altLang="sr-Latn-RS" sz="2000" dirty="0">
                <a:latin typeface="Times New Roman" panose="02020603050405020304" pitchFamily="18" charset="0"/>
              </a:rPr>
              <a:t>: </a:t>
            </a:r>
            <a:r>
              <a:rPr lang="hr-HR" altLang="sr-Latn-RS" sz="2000" dirty="0">
                <a:latin typeface="Times New Roman" panose="02020603050405020304" pitchFamily="18" charset="0"/>
              </a:rPr>
              <a:t>ako logička ILI provjera po bitovima krajnjih točaka nije</a:t>
            </a:r>
            <a:r>
              <a:rPr lang="en-GB" altLang="sr-Latn-RS" sz="2000" dirty="0">
                <a:latin typeface="Times New Roman" panose="02020603050405020304" pitchFamily="18" charset="0"/>
              </a:rPr>
              <a:t> 000000</a:t>
            </a:r>
          </a:p>
          <a:p>
            <a:pPr lvl="1" eaLnBrk="1" hangingPunct="1"/>
            <a:r>
              <a:rPr lang="hr-HR" altLang="sr-Latn-RS" sz="2000" b="1" i="1" dirty="0">
                <a:latin typeface="Times New Roman" panose="02020603050405020304" pitchFamily="18" charset="0"/>
              </a:rPr>
              <a:t>Kandidat za odrezivanje</a:t>
            </a:r>
            <a:r>
              <a:rPr lang="en-GB" altLang="sr-Latn-RS" sz="2000" dirty="0">
                <a:latin typeface="Times New Roman" panose="02020603050405020304" pitchFamily="18" charset="0"/>
              </a:rPr>
              <a:t>: </a:t>
            </a:r>
            <a:r>
              <a:rPr lang="hr-HR" altLang="sr-Latn-RS" sz="2000" dirty="0">
                <a:latin typeface="Times New Roman" panose="02020603050405020304" pitchFamily="18" charset="0"/>
              </a:rPr>
              <a:t>ako logička I funkcija po bitovima daje rezultat</a:t>
            </a:r>
            <a:r>
              <a:rPr lang="en-GB" altLang="sr-Latn-RS" sz="2000" dirty="0">
                <a:latin typeface="Times New Roman" panose="02020603050405020304" pitchFamily="18" charset="0"/>
              </a:rPr>
              <a:t> 000000</a:t>
            </a:r>
          </a:p>
          <a:p>
            <a:pPr eaLnBrk="1" hangingPunct="1"/>
            <a:r>
              <a:rPr lang="hr-HR" altLang="sr-Latn-RS" sz="2000" dirty="0">
                <a:latin typeface="Times New Roman" panose="02020603050405020304" pitchFamily="18" charset="0"/>
              </a:rPr>
              <a:t>Trivijalno prihvaćamo sve linije kojima su </a:t>
            </a:r>
            <a:r>
              <a:rPr lang="hr-HR" altLang="sr-Latn-RS" sz="2000" dirty="0" err="1">
                <a:latin typeface="Times New Roman" panose="02020603050405020304" pitchFamily="18" charset="0"/>
              </a:rPr>
              <a:t>obe</a:t>
            </a:r>
            <a:r>
              <a:rPr lang="hr-HR" altLang="sr-Latn-RS" sz="2000" dirty="0">
                <a:latin typeface="Times New Roman" panose="02020603050405020304" pitchFamily="18" charset="0"/>
              </a:rPr>
              <a:t> krajnje točke u </a:t>
            </a:r>
            <a:r>
              <a:rPr lang="en-IE" altLang="sr-Latn-RS" sz="2000" dirty="0">
                <a:latin typeface="Times New Roman" panose="02020603050405020304" pitchFamily="18" charset="0"/>
              </a:rPr>
              <a:t>[000000] </a:t>
            </a:r>
            <a:r>
              <a:rPr lang="en-IE" altLang="sr-Latn-RS" sz="2000" dirty="0" err="1">
                <a:latin typeface="Times New Roman" panose="02020603050405020304" pitchFamily="18" charset="0"/>
              </a:rPr>
              <a:t>regi</a:t>
            </a:r>
            <a:r>
              <a:rPr lang="hr-HR" altLang="sr-Latn-RS" sz="2000" dirty="0" err="1">
                <a:latin typeface="Times New Roman" panose="02020603050405020304" pitchFamily="18" charset="0"/>
              </a:rPr>
              <a:t>ji</a:t>
            </a:r>
            <a:r>
              <a:rPr lang="en-IE" altLang="sr-Latn-RS" sz="2000" dirty="0">
                <a:latin typeface="Times New Roman" panose="02020603050405020304" pitchFamily="18" charset="0"/>
              </a:rPr>
              <a:t>.</a:t>
            </a:r>
          </a:p>
          <a:p>
            <a:pPr eaLnBrk="1" hangingPunct="1"/>
            <a:r>
              <a:rPr lang="hr-HR" altLang="sr-Latn-RS" sz="2000" dirty="0">
                <a:latin typeface="Times New Roman" panose="02020603050405020304" pitchFamily="18" charset="0"/>
              </a:rPr>
              <a:t>Trivijalno odbacujemo sve linije kojima krajnje točke imaju isti bit postavljen u 1.</a:t>
            </a:r>
            <a:endParaRPr lang="en-GB" altLang="sr-Latn-RS" sz="2000" dirty="0">
              <a:latin typeface="Times New Roman" panose="02020603050405020304" pitchFamily="18" charset="0"/>
            </a:endParaRPr>
          </a:p>
        </p:txBody>
      </p:sp>
      <p:sp>
        <p:nvSpPr>
          <p:cNvPr id="7" name="Rectangle 2">
            <a:extLst>
              <a:ext uri="{FF2B5EF4-FFF2-40B4-BE49-F238E27FC236}">
                <a16:creationId xmlns:a16="http://schemas.microsoft.com/office/drawing/2014/main" id="{6B7AEC44-1FF6-E415-CC82-F7EBE0B6BB94}"/>
              </a:ext>
            </a:extLst>
          </p:cNvPr>
          <p:cNvSpPr>
            <a:spLocks noGrp="1" noChangeArrowheads="1"/>
          </p:cNvSpPr>
          <p:nvPr>
            <p:ph type="title"/>
          </p:nvPr>
        </p:nvSpPr>
        <p:spPr>
          <a:xfrm>
            <a:off x="628650" y="365126"/>
            <a:ext cx="7886700" cy="1325563"/>
          </a:xfrm>
        </p:spPr>
        <p:txBody>
          <a:bodyPr>
            <a:normAutofit/>
          </a:bodyPr>
          <a:lstStyle/>
          <a:p>
            <a:pPr eaLnBrk="1" hangingPunct="1"/>
            <a:r>
              <a:rPr lang="en-IE" altLang="sr-Latn-RS" sz="3200" dirty="0">
                <a:latin typeface="Times New Roman" panose="02020603050405020304" pitchFamily="18" charset="0"/>
              </a:rPr>
              <a:t>3D Cohen-Sutherland </a:t>
            </a:r>
            <a:r>
              <a:rPr lang="hr-HR" altLang="sr-Latn-RS" sz="3200" dirty="0">
                <a:latin typeface="Times New Roman" panose="02020603050405020304" pitchFamily="18" charset="0"/>
              </a:rPr>
              <a:t>algoritam odrezivanja</a:t>
            </a:r>
            <a:endParaRPr lang="en-GB" altLang="sr-Latn-RS" sz="3200" dirty="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77540F8-EF54-A514-9978-2A30C4F5D6AA}"/>
              </a:ext>
            </a:extLst>
          </p:cNvPr>
          <p:cNvSpPr>
            <a:spLocks noGrp="1"/>
          </p:cNvSpPr>
          <p:nvPr>
            <p:ph type="dt" sz="quarter" idx="10"/>
          </p:nvPr>
        </p:nvSpPr>
        <p:spPr/>
        <p:txBody>
          <a:bodyPr/>
          <a:lstStyle/>
          <a:p>
            <a:pPr>
              <a:defRPr/>
            </a:pPr>
            <a:fld id="{490EA706-F484-41F1-8351-8D1F96EB771C}" type="datetime1">
              <a:rPr lang="hr-HR" smtClean="0"/>
              <a:t>6.11.2025.</a:t>
            </a:fld>
            <a:endParaRPr lang="en-US"/>
          </a:p>
        </p:txBody>
      </p:sp>
      <p:sp>
        <p:nvSpPr>
          <p:cNvPr id="6" name="Slide Number Placeholder 5">
            <a:extLst>
              <a:ext uri="{FF2B5EF4-FFF2-40B4-BE49-F238E27FC236}">
                <a16:creationId xmlns:a16="http://schemas.microsoft.com/office/drawing/2014/main" id="{6A8BEE73-BE99-4AE6-1C74-7EA81E50DA14}"/>
              </a:ext>
            </a:extLst>
          </p:cNvPr>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C79C165-930D-4E14-974F-A5505864B79C}" type="slidenum">
              <a:rPr lang="en-US" altLang="sr-Latn-RS" sz="1400">
                <a:latin typeface="Arial" panose="020B0604020202020204" pitchFamily="34" charset="0"/>
              </a:rPr>
              <a:pPr eaLnBrk="1" hangingPunct="1"/>
              <a:t>10</a:t>
            </a:fld>
            <a:endParaRPr lang="en-US" altLang="sr-Latn-RS" sz="1400">
              <a:latin typeface="Arial" panose="020B0604020202020204" pitchFamily="34" charset="0"/>
            </a:endParaRPr>
          </a:p>
        </p:txBody>
      </p:sp>
      <p:sp>
        <p:nvSpPr>
          <p:cNvPr id="26630" name="Rectangle 3">
            <a:extLst>
              <a:ext uri="{FF2B5EF4-FFF2-40B4-BE49-F238E27FC236}">
                <a16:creationId xmlns:a16="http://schemas.microsoft.com/office/drawing/2014/main" id="{782A93A2-FD23-5714-5B73-6D565181FC03}"/>
              </a:ext>
            </a:extLst>
          </p:cNvPr>
          <p:cNvSpPr>
            <a:spLocks noGrp="1" noChangeArrowheads="1"/>
          </p:cNvSpPr>
          <p:nvPr>
            <p:ph type="body" idx="1"/>
          </p:nvPr>
        </p:nvSpPr>
        <p:spPr/>
        <p:txBody>
          <a:bodyPr>
            <a:normAutofit/>
          </a:bodyPr>
          <a:lstStyle/>
          <a:p>
            <a:pPr eaLnBrk="1" hangingPunct="1">
              <a:lnSpc>
                <a:spcPct val="90000"/>
              </a:lnSpc>
              <a:buFontTx/>
              <a:buNone/>
            </a:pPr>
            <a:r>
              <a:rPr lang="hr-HR" altLang="sr-Latn-RS" sz="2400" b="1" dirty="0">
                <a:latin typeface="Times New Roman" panose="02020603050405020304" pitchFamily="18" charset="0"/>
              </a:rPr>
              <a:t>SLUČAJ</a:t>
            </a:r>
            <a:r>
              <a:rPr lang="en-IE" altLang="sr-Latn-RS" sz="2400" b="1" dirty="0">
                <a:latin typeface="Times New Roman" panose="02020603050405020304" pitchFamily="18" charset="0"/>
              </a:rPr>
              <a:t> – II </a:t>
            </a:r>
            <a:endParaRPr lang="hr-HR" altLang="sr-Latn-RS" sz="2400" b="1" dirty="0">
              <a:latin typeface="Times New Roman" panose="02020603050405020304" pitchFamily="18" charset="0"/>
            </a:endParaRPr>
          </a:p>
          <a:p>
            <a:pPr eaLnBrk="1" hangingPunct="1">
              <a:lnSpc>
                <a:spcPct val="90000"/>
              </a:lnSpc>
              <a:buFontTx/>
              <a:buNone/>
            </a:pPr>
            <a:r>
              <a:rPr lang="hr-HR" altLang="sr-Latn-RS" sz="2400" b="1" dirty="0">
                <a:latin typeface="Times New Roman" panose="02020603050405020304" pitchFamily="18" charset="0"/>
              </a:rPr>
              <a:t>	</a:t>
            </a:r>
            <a:r>
              <a:rPr lang="hr-HR" altLang="sr-Latn-RS" sz="1800" dirty="0">
                <a:latin typeface="Times New Roman" panose="02020603050405020304" pitchFamily="18" charset="0"/>
              </a:rPr>
              <a:t>Izračunavanje točaka presjeka:</a:t>
            </a:r>
          </a:p>
          <a:p>
            <a:pPr eaLnBrk="1" hangingPunct="1">
              <a:lnSpc>
                <a:spcPct val="90000"/>
              </a:lnSpc>
              <a:buFontTx/>
              <a:buNone/>
            </a:pPr>
            <a:endParaRPr lang="hr-HR" altLang="sr-Latn-RS" sz="1100" dirty="0">
              <a:latin typeface="Times New Roman" panose="02020603050405020304" pitchFamily="18" charset="0"/>
            </a:endParaRPr>
          </a:p>
          <a:p>
            <a:r>
              <a:rPr lang="hr-HR" altLang="sr-Latn-RS" sz="1800" dirty="0">
                <a:latin typeface="Times New Roman" panose="02020603050405020304" pitchFamily="18" charset="0"/>
                <a:cs typeface="Times New Roman" panose="02020603050405020304" pitchFamily="18" charset="0"/>
              </a:rPr>
              <a:t>Presjeci sa ravninama z = -1, z = </a:t>
            </a:r>
            <a:r>
              <a:rPr lang="hr-HR" altLang="sr-Latn-RS" sz="1800" dirty="0" err="1">
                <a:latin typeface="Times New Roman" panose="02020603050405020304" pitchFamily="18" charset="0"/>
                <a:cs typeface="Times New Roman" panose="02020603050405020304" pitchFamily="18" charset="0"/>
              </a:rPr>
              <a:t>z</a:t>
            </a:r>
            <a:r>
              <a:rPr lang="hr-HR" altLang="sr-Latn-RS" sz="1800" baseline="-25000" dirty="0" err="1">
                <a:latin typeface="Times New Roman" panose="02020603050405020304" pitchFamily="18" charset="0"/>
                <a:cs typeface="Times New Roman" panose="02020603050405020304" pitchFamily="18" charset="0"/>
              </a:rPr>
              <a:t>min</a:t>
            </a:r>
            <a:r>
              <a:rPr lang="hr-HR" altLang="sr-Latn-RS" sz="1800" dirty="0">
                <a:latin typeface="Times New Roman" panose="02020603050405020304" pitchFamily="18" charset="0"/>
                <a:cs typeface="Times New Roman" panose="02020603050405020304" pitchFamily="18" charset="0"/>
              </a:rPr>
              <a:t> su iste.</a:t>
            </a:r>
          </a:p>
          <a:p>
            <a:r>
              <a:rPr lang="hr-HR" altLang="sr-Latn-RS" sz="1800" dirty="0">
                <a:latin typeface="Times New Roman" panose="02020603050405020304" pitchFamily="18" charset="0"/>
                <a:cs typeface="Times New Roman" panose="02020603050405020304" pitchFamily="18" charset="0"/>
              </a:rPr>
              <a:t>Za izračunavanje presjeka sa kosim ravninama…</a:t>
            </a:r>
          </a:p>
          <a:p>
            <a:r>
              <a:rPr lang="hr-HR" altLang="sr-Latn-RS" sz="1800" dirty="0">
                <a:latin typeface="Times New Roman" panose="02020603050405020304" pitchFamily="18" charset="0"/>
                <a:cs typeface="Times New Roman" panose="02020603050405020304" pitchFamily="18" charset="0"/>
              </a:rPr>
              <a:t>Za ravninu y = z ove dvije jednadžbe (za y i z) su iste</a:t>
            </a:r>
          </a:p>
          <a:p>
            <a:r>
              <a:rPr lang="hr-HR" altLang="sr-Latn-RS" sz="1800" dirty="0">
                <a:latin typeface="Times New Roman" panose="02020603050405020304" pitchFamily="18" charset="0"/>
                <a:cs typeface="Times New Roman" panose="02020603050405020304" pitchFamily="18" charset="0"/>
              </a:rPr>
              <a:t>Ponovi proračun za ravnine y = -z, x = z, x = -z</a:t>
            </a:r>
          </a:p>
          <a:p>
            <a:endParaRPr lang="hr-HR" altLang="sr-Latn-RS" sz="1800" dirty="0">
              <a:latin typeface="Times New Roman" panose="02020603050405020304" pitchFamily="18" charset="0"/>
              <a:cs typeface="Times New Roman" panose="02020603050405020304" pitchFamily="18" charset="0"/>
            </a:endParaRPr>
          </a:p>
          <a:p>
            <a:endParaRPr lang="hr-HR" altLang="sr-Latn-RS" sz="1800" dirty="0">
              <a:latin typeface="Times New Roman" panose="02020603050405020304" pitchFamily="18" charset="0"/>
              <a:cs typeface="Times New Roman" panose="02020603050405020304" pitchFamily="18" charset="0"/>
            </a:endParaRPr>
          </a:p>
          <a:p>
            <a:pPr eaLnBrk="1" hangingPunct="1">
              <a:lnSpc>
                <a:spcPct val="90000"/>
              </a:lnSpc>
              <a:buFontTx/>
              <a:buNone/>
            </a:pPr>
            <a:endParaRPr lang="en-IE" altLang="sr-Latn-RS" sz="1800" dirty="0">
              <a:latin typeface="Courier New" panose="02070309020205020404" pitchFamily="49" charset="0"/>
            </a:endParaRPr>
          </a:p>
        </p:txBody>
      </p:sp>
      <p:sp>
        <p:nvSpPr>
          <p:cNvPr id="7" name="Rectangle 2">
            <a:extLst>
              <a:ext uri="{FF2B5EF4-FFF2-40B4-BE49-F238E27FC236}">
                <a16:creationId xmlns:a16="http://schemas.microsoft.com/office/drawing/2014/main" id="{DD30BC8D-F84B-8963-4C32-044FD9399159}"/>
              </a:ext>
            </a:extLst>
          </p:cNvPr>
          <p:cNvSpPr>
            <a:spLocks noGrp="1" noChangeArrowheads="1"/>
          </p:cNvSpPr>
          <p:nvPr>
            <p:ph type="title"/>
          </p:nvPr>
        </p:nvSpPr>
        <p:spPr>
          <a:xfrm>
            <a:off x="628650" y="365126"/>
            <a:ext cx="7886700" cy="1325563"/>
          </a:xfrm>
        </p:spPr>
        <p:txBody>
          <a:bodyPr>
            <a:normAutofit/>
          </a:bodyPr>
          <a:lstStyle/>
          <a:p>
            <a:pPr eaLnBrk="1" hangingPunct="1"/>
            <a:r>
              <a:rPr lang="en-IE" altLang="sr-Latn-RS" sz="3200" dirty="0">
                <a:latin typeface="Times New Roman" panose="02020603050405020304" pitchFamily="18" charset="0"/>
              </a:rPr>
              <a:t>3D Cohen-Sutherland </a:t>
            </a:r>
            <a:r>
              <a:rPr lang="hr-HR" altLang="sr-Latn-RS" sz="3200" dirty="0">
                <a:latin typeface="Times New Roman" panose="02020603050405020304" pitchFamily="18" charset="0"/>
              </a:rPr>
              <a:t>algoritam odrezivanja</a:t>
            </a:r>
            <a:endParaRPr lang="en-GB" altLang="sr-Latn-RS" sz="3200" dirty="0">
              <a:latin typeface="Times New Roman" panose="02020603050405020304" pitchFamily="18" charset="0"/>
            </a:endParaRPr>
          </a:p>
        </p:txBody>
      </p:sp>
      <p:pic>
        <p:nvPicPr>
          <p:cNvPr id="5" name="Slika 4">
            <a:extLst>
              <a:ext uri="{FF2B5EF4-FFF2-40B4-BE49-F238E27FC236}">
                <a16:creationId xmlns:a16="http://schemas.microsoft.com/office/drawing/2014/main" id="{F8262441-62C8-29BF-6A73-835CF5EBBCB5}"/>
              </a:ext>
            </a:extLst>
          </p:cNvPr>
          <p:cNvPicPr>
            <a:picLocks noChangeAspect="1"/>
          </p:cNvPicPr>
          <p:nvPr/>
        </p:nvPicPr>
        <p:blipFill>
          <a:blip r:embed="rId2"/>
          <a:stretch>
            <a:fillRect/>
          </a:stretch>
        </p:blipFill>
        <p:spPr>
          <a:xfrm>
            <a:off x="842582" y="4875024"/>
            <a:ext cx="1971950" cy="1152686"/>
          </a:xfrm>
          <a:prstGeom prst="rect">
            <a:avLst/>
          </a:prstGeom>
        </p:spPr>
      </p:pic>
      <mc:AlternateContent xmlns:mc="http://schemas.openxmlformats.org/markup-compatibility/2006" xmlns:a14="http://schemas.microsoft.com/office/drawing/2010/main">
        <mc:Choice Requires="a14">
          <p:sp>
            <p:nvSpPr>
              <p:cNvPr id="8" name="TekstniOkvir 7">
                <a:extLst>
                  <a:ext uri="{FF2B5EF4-FFF2-40B4-BE49-F238E27FC236}">
                    <a16:creationId xmlns:a16="http://schemas.microsoft.com/office/drawing/2014/main" id="{6022B6D1-B7A5-C386-7534-1B5757B1C79E}"/>
                  </a:ext>
                </a:extLst>
              </p:cNvPr>
              <p:cNvSpPr txBox="1"/>
              <p:nvPr/>
            </p:nvSpPr>
            <p:spPr>
              <a:xfrm>
                <a:off x="4276382" y="5162987"/>
                <a:ext cx="2591222"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hr-HR" b="0" i="1" smtClean="0">
                          <a:latin typeface="Cambria Math" panose="02040503050406030204" pitchFamily="18" charset="0"/>
                        </a:rPr>
                        <m:t>𝑡</m:t>
                      </m:r>
                      <m:r>
                        <a:rPr lang="hr-HR" b="0" i="1" smtClean="0">
                          <a:latin typeface="Cambria Math" panose="02040503050406030204" pitchFamily="18" charset="0"/>
                        </a:rPr>
                        <m:t>= </m:t>
                      </m:r>
                      <m:f>
                        <m:fPr>
                          <m:ctrlPr>
                            <a:rPr lang="hr-HR" b="0" i="1" smtClean="0">
                              <a:latin typeface="Cambria Math" panose="02040503050406030204" pitchFamily="18" charset="0"/>
                            </a:rPr>
                          </m:ctrlPr>
                        </m:fPr>
                        <m:num>
                          <m:r>
                            <a:rPr lang="hr-HR" b="0" i="1" smtClean="0">
                              <a:latin typeface="Cambria Math" panose="02040503050406030204" pitchFamily="18" charset="0"/>
                            </a:rPr>
                            <m:t>(</m:t>
                          </m:r>
                          <m:sSub>
                            <m:sSubPr>
                              <m:ctrlPr>
                                <a:rPr lang="hr-HR" b="0" i="1" smtClean="0">
                                  <a:latin typeface="Cambria Math" panose="02040503050406030204" pitchFamily="18" charset="0"/>
                                </a:rPr>
                              </m:ctrlPr>
                            </m:sSubPr>
                            <m:e>
                              <m:r>
                                <a:rPr lang="hr-HR" b="0" i="1" smtClean="0">
                                  <a:latin typeface="Cambria Math" panose="02040503050406030204" pitchFamily="18" charset="0"/>
                                </a:rPr>
                                <m:t>𝑧</m:t>
                              </m:r>
                            </m:e>
                            <m:sub>
                              <m:r>
                                <a:rPr lang="hr-HR" b="0" i="1" smtClean="0">
                                  <a:latin typeface="Cambria Math" panose="02040503050406030204" pitchFamily="18" charset="0"/>
                                </a:rPr>
                                <m:t>0</m:t>
                              </m:r>
                            </m:sub>
                          </m:sSub>
                          <m:r>
                            <a:rPr lang="hr-HR" b="0" i="1" smtClean="0">
                              <a:latin typeface="Cambria Math" panose="02040503050406030204" pitchFamily="18" charset="0"/>
                            </a:rPr>
                            <m:t>−</m:t>
                          </m:r>
                          <m:sSub>
                            <m:sSubPr>
                              <m:ctrlPr>
                                <a:rPr lang="hr-HR" b="0" i="1" smtClean="0">
                                  <a:latin typeface="Cambria Math" panose="02040503050406030204" pitchFamily="18" charset="0"/>
                                </a:rPr>
                              </m:ctrlPr>
                            </m:sSubPr>
                            <m:e>
                              <m:r>
                                <a:rPr lang="hr-HR" b="0" i="1" smtClean="0">
                                  <a:latin typeface="Cambria Math" panose="02040503050406030204" pitchFamily="18" charset="0"/>
                                </a:rPr>
                                <m:t>𝑦</m:t>
                              </m:r>
                            </m:e>
                            <m:sub>
                              <m:r>
                                <a:rPr lang="hr-HR" b="0" i="1" smtClean="0">
                                  <a:latin typeface="Cambria Math" panose="02040503050406030204" pitchFamily="18" charset="0"/>
                                </a:rPr>
                                <m:t>0</m:t>
                              </m:r>
                            </m:sub>
                          </m:sSub>
                          <m:r>
                            <a:rPr lang="hr-HR" b="0" i="1" smtClean="0">
                              <a:latin typeface="Cambria Math" panose="02040503050406030204" pitchFamily="18" charset="0"/>
                            </a:rPr>
                            <m:t>)</m:t>
                          </m:r>
                        </m:num>
                        <m:den>
                          <m:d>
                            <m:dPr>
                              <m:ctrlPr>
                                <a:rPr lang="hr-HR" i="1">
                                  <a:latin typeface="Cambria Math" panose="02040503050406030204" pitchFamily="18" charset="0"/>
                                </a:rPr>
                              </m:ctrlPr>
                            </m:dPr>
                            <m:e>
                              <m:sSub>
                                <m:sSubPr>
                                  <m:ctrlPr>
                                    <a:rPr lang="hr-HR" i="1">
                                      <a:latin typeface="Cambria Math" panose="02040503050406030204" pitchFamily="18" charset="0"/>
                                    </a:rPr>
                                  </m:ctrlPr>
                                </m:sSubPr>
                                <m:e>
                                  <m:r>
                                    <a:rPr lang="hr-HR" b="0" i="1" smtClean="0">
                                      <a:latin typeface="Cambria Math" panose="02040503050406030204" pitchFamily="18" charset="0"/>
                                    </a:rPr>
                                    <m:t>𝑦</m:t>
                                  </m:r>
                                </m:e>
                                <m:sub>
                                  <m:r>
                                    <a:rPr lang="hr-HR" b="0" i="1" smtClean="0">
                                      <a:latin typeface="Cambria Math" panose="02040503050406030204" pitchFamily="18" charset="0"/>
                                    </a:rPr>
                                    <m:t>1</m:t>
                                  </m:r>
                                </m:sub>
                              </m:sSub>
                              <m:r>
                                <a:rPr lang="hr-HR" i="1">
                                  <a:latin typeface="Cambria Math" panose="02040503050406030204" pitchFamily="18" charset="0"/>
                                </a:rPr>
                                <m:t>−</m:t>
                              </m:r>
                              <m:sSub>
                                <m:sSubPr>
                                  <m:ctrlPr>
                                    <a:rPr lang="hr-HR" i="1">
                                      <a:latin typeface="Cambria Math" panose="02040503050406030204" pitchFamily="18" charset="0"/>
                                    </a:rPr>
                                  </m:ctrlPr>
                                </m:sSubPr>
                                <m:e>
                                  <m:r>
                                    <a:rPr lang="hr-HR" i="1">
                                      <a:latin typeface="Cambria Math" panose="02040503050406030204" pitchFamily="18" charset="0"/>
                                    </a:rPr>
                                    <m:t>𝑦</m:t>
                                  </m:r>
                                </m:e>
                                <m:sub>
                                  <m:r>
                                    <a:rPr lang="hr-HR" i="1">
                                      <a:latin typeface="Cambria Math" panose="02040503050406030204" pitchFamily="18" charset="0"/>
                                    </a:rPr>
                                    <m:t>0</m:t>
                                  </m:r>
                                </m:sub>
                              </m:sSub>
                            </m:e>
                          </m:d>
                          <m:r>
                            <a:rPr lang="hr-HR" b="0" i="1" smtClean="0">
                              <a:latin typeface="Cambria Math" panose="02040503050406030204" pitchFamily="18" charset="0"/>
                            </a:rPr>
                            <m:t>−</m:t>
                          </m:r>
                          <m:r>
                            <a:rPr lang="hr-HR" i="1">
                              <a:latin typeface="Cambria Math" panose="02040503050406030204" pitchFamily="18" charset="0"/>
                            </a:rPr>
                            <m:t>(</m:t>
                          </m:r>
                          <m:sSub>
                            <m:sSubPr>
                              <m:ctrlPr>
                                <a:rPr lang="hr-HR" i="1">
                                  <a:latin typeface="Cambria Math" panose="02040503050406030204" pitchFamily="18" charset="0"/>
                                </a:rPr>
                              </m:ctrlPr>
                            </m:sSubPr>
                            <m:e>
                              <m:r>
                                <a:rPr lang="hr-HR" i="1">
                                  <a:latin typeface="Cambria Math" panose="02040503050406030204" pitchFamily="18" charset="0"/>
                                </a:rPr>
                                <m:t>𝑧</m:t>
                              </m:r>
                            </m:e>
                            <m:sub>
                              <m:r>
                                <a:rPr lang="hr-HR" b="0" i="1" smtClean="0">
                                  <a:latin typeface="Cambria Math" panose="02040503050406030204" pitchFamily="18" charset="0"/>
                                </a:rPr>
                                <m:t>1</m:t>
                              </m:r>
                            </m:sub>
                          </m:sSub>
                          <m:r>
                            <a:rPr lang="hr-HR" i="1">
                              <a:latin typeface="Cambria Math" panose="02040503050406030204" pitchFamily="18" charset="0"/>
                            </a:rPr>
                            <m:t>−</m:t>
                          </m:r>
                          <m:sSub>
                            <m:sSubPr>
                              <m:ctrlPr>
                                <a:rPr lang="hr-HR" i="1">
                                  <a:latin typeface="Cambria Math" panose="02040503050406030204" pitchFamily="18" charset="0"/>
                                </a:rPr>
                              </m:ctrlPr>
                            </m:sSubPr>
                            <m:e>
                              <m:r>
                                <a:rPr lang="hr-HR" b="0" i="1" smtClean="0">
                                  <a:latin typeface="Cambria Math" panose="02040503050406030204" pitchFamily="18" charset="0"/>
                                </a:rPr>
                                <m:t>𝑧</m:t>
                              </m:r>
                            </m:e>
                            <m:sub>
                              <m:r>
                                <a:rPr lang="hr-HR" i="1">
                                  <a:latin typeface="Cambria Math" panose="02040503050406030204" pitchFamily="18" charset="0"/>
                                </a:rPr>
                                <m:t>0</m:t>
                              </m:r>
                            </m:sub>
                          </m:sSub>
                          <m:r>
                            <a:rPr lang="hr-HR" i="1">
                              <a:latin typeface="Cambria Math" panose="02040503050406030204" pitchFamily="18" charset="0"/>
                            </a:rPr>
                            <m:t>)</m:t>
                          </m:r>
                        </m:den>
                      </m:f>
                    </m:oMath>
                  </m:oMathPara>
                </a14:m>
                <a:endParaRPr lang="hr-HR" dirty="0"/>
              </a:p>
            </p:txBody>
          </p:sp>
        </mc:Choice>
        <mc:Fallback xmlns="">
          <p:sp>
            <p:nvSpPr>
              <p:cNvPr id="8" name="TekstniOkvir 7">
                <a:extLst>
                  <a:ext uri="{FF2B5EF4-FFF2-40B4-BE49-F238E27FC236}">
                    <a16:creationId xmlns:a16="http://schemas.microsoft.com/office/drawing/2014/main" id="{6022B6D1-B7A5-C386-7534-1B5757B1C79E}"/>
                  </a:ext>
                </a:extLst>
              </p:cNvPr>
              <p:cNvSpPr txBox="1">
                <a:spLocks noRot="1" noChangeAspect="1" noMove="1" noResize="1" noEditPoints="1" noAdjustHandles="1" noChangeArrowheads="1" noChangeShapeType="1" noTextEdit="1"/>
              </p:cNvSpPr>
              <p:nvPr/>
            </p:nvSpPr>
            <p:spPr>
              <a:xfrm>
                <a:off x="4276382" y="5162987"/>
                <a:ext cx="2591222" cy="576761"/>
              </a:xfrm>
              <a:prstGeom prst="rect">
                <a:avLst/>
              </a:prstGeom>
              <a:blipFill>
                <a:blip r:embed="rId3"/>
                <a:stretch>
                  <a:fillRect/>
                </a:stretch>
              </a:blipFill>
            </p:spPr>
            <p:txBody>
              <a:bodyPr/>
              <a:lstStyle/>
              <a:p>
                <a:r>
                  <a:rPr lang="hr-HR">
                    <a:noFill/>
                  </a:rPr>
                  <a:t> </a:t>
                </a:r>
              </a:p>
            </p:txBody>
          </p:sp>
        </mc:Fallback>
      </mc:AlternateContent>
      <p:cxnSp>
        <p:nvCxnSpPr>
          <p:cNvPr id="9" name="Ravni poveznik sa strelicom 8">
            <a:extLst>
              <a:ext uri="{FF2B5EF4-FFF2-40B4-BE49-F238E27FC236}">
                <a16:creationId xmlns:a16="http://schemas.microsoft.com/office/drawing/2014/main" id="{FA47388E-11A4-219C-83C4-A87CD3E48B16}"/>
              </a:ext>
            </a:extLst>
          </p:cNvPr>
          <p:cNvCxnSpPr>
            <a:cxnSpLocks/>
            <a:endCxn id="5" idx="3"/>
          </p:cNvCxnSpPr>
          <p:nvPr/>
        </p:nvCxnSpPr>
        <p:spPr>
          <a:xfrm flipH="1">
            <a:off x="2814532" y="4005064"/>
            <a:ext cx="1037388" cy="144630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Ravni poveznik sa strelicom 11">
            <a:extLst>
              <a:ext uri="{FF2B5EF4-FFF2-40B4-BE49-F238E27FC236}">
                <a16:creationId xmlns:a16="http://schemas.microsoft.com/office/drawing/2014/main" id="{4A60C758-CD2B-697C-5C04-3775CD1ABB1F}"/>
              </a:ext>
            </a:extLst>
          </p:cNvPr>
          <p:cNvCxnSpPr>
            <a:cxnSpLocks/>
          </p:cNvCxnSpPr>
          <p:nvPr/>
        </p:nvCxnSpPr>
        <p:spPr>
          <a:xfrm flipH="1">
            <a:off x="2814532" y="4005064"/>
            <a:ext cx="1037388" cy="18002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1167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Date Placeholder 2">
            <a:extLst>
              <a:ext uri="{FF2B5EF4-FFF2-40B4-BE49-F238E27FC236}">
                <a16:creationId xmlns:a16="http://schemas.microsoft.com/office/drawing/2014/main" id="{A798BB9A-BE6D-1E27-D334-C3B52918B1F5}"/>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1D01E1D0-0D44-4B0F-A385-92E962D29D9D}"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94212" name="Slide Number Placeholder 4">
            <a:extLst>
              <a:ext uri="{FF2B5EF4-FFF2-40B4-BE49-F238E27FC236}">
                <a16:creationId xmlns:a16="http://schemas.microsoft.com/office/drawing/2014/main" id="{29089B9F-A0A0-8F26-3286-B0453D53AD1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A29752E2-C622-4DB6-887E-82A2287205B1}" type="slidenum">
              <a:rPr lang="en-GB" altLang="sr-Latn-RS" sz="1400" smtClean="0">
                <a:latin typeface="Times New Roman" panose="02020603050405020304" pitchFamily="18" charset="0"/>
              </a:rPr>
              <a:pPr>
                <a:spcBef>
                  <a:spcPct val="50000"/>
                </a:spcBef>
                <a:buClrTx/>
                <a:buSzTx/>
                <a:buFontTx/>
                <a:buNone/>
              </a:pPr>
              <a:t>11</a:t>
            </a:fld>
            <a:endParaRPr lang="en-GB" altLang="sr-Latn-RS" sz="1400">
              <a:latin typeface="Times New Roman" panose="02020603050405020304" pitchFamily="18" charset="0"/>
            </a:endParaRPr>
          </a:p>
        </p:txBody>
      </p:sp>
      <p:sp>
        <p:nvSpPr>
          <p:cNvPr id="94213" name="Text Box 2">
            <a:extLst>
              <a:ext uri="{FF2B5EF4-FFF2-40B4-BE49-F238E27FC236}">
                <a16:creationId xmlns:a16="http://schemas.microsoft.com/office/drawing/2014/main" id="{FF9F2A0C-B445-DFBC-1643-5B5AB105F3BF}"/>
              </a:ext>
            </a:extLst>
          </p:cNvPr>
          <p:cNvSpPr txBox="1">
            <a:spLocks noChangeArrowheads="1"/>
          </p:cNvSpPr>
          <p:nvPr/>
        </p:nvSpPr>
        <p:spPr bwMode="auto">
          <a:xfrm>
            <a:off x="539552" y="1340768"/>
            <a:ext cx="7924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3200" b="1" dirty="0">
                <a:solidFill>
                  <a:srgbClr val="0070C0"/>
                </a:solidFill>
                <a:latin typeface="Arial" panose="020B0604020202020204" pitchFamily="34" charset="0"/>
                <a:cs typeface="Arial" panose="020B0604020202020204" pitchFamily="34" charset="0"/>
              </a:rPr>
              <a:t>Osnovni algoritmi rasterske grafike</a:t>
            </a:r>
            <a:endParaRPr lang="en-GB" altLang="sr-Latn-RS" sz="3200" b="1" dirty="0">
              <a:solidFill>
                <a:srgbClr val="0070C0"/>
              </a:solidFill>
              <a:latin typeface="Arial" panose="020B0604020202020204" pitchFamily="34" charset="0"/>
              <a:cs typeface="Arial" panose="020B0604020202020204" pitchFamily="34" charset="0"/>
            </a:endParaRPr>
          </a:p>
        </p:txBody>
      </p:sp>
      <p:pic>
        <p:nvPicPr>
          <p:cNvPr id="2" name="Picture 10">
            <a:extLst>
              <a:ext uri="{FF2B5EF4-FFF2-40B4-BE49-F238E27FC236}">
                <a16:creationId xmlns:a16="http://schemas.microsoft.com/office/drawing/2014/main" id="{A21185AC-4C7F-929F-C5EB-B96A4B788E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4652963"/>
            <a:ext cx="8480425"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11">
            <a:extLst>
              <a:ext uri="{FF2B5EF4-FFF2-40B4-BE49-F238E27FC236}">
                <a16:creationId xmlns:a16="http://schemas.microsoft.com/office/drawing/2014/main" id="{B317B27B-842B-A1A9-35D0-E9FB1B85A8A1}"/>
              </a:ext>
            </a:extLst>
          </p:cNvPr>
          <p:cNvSpPr>
            <a:spLocks noChangeArrowheads="1"/>
          </p:cNvSpPr>
          <p:nvPr/>
        </p:nvSpPr>
        <p:spPr bwMode="auto">
          <a:xfrm>
            <a:off x="3132138" y="5084763"/>
            <a:ext cx="4608512" cy="936625"/>
          </a:xfrm>
          <a:prstGeom prst="rect">
            <a:avLst/>
          </a:prstGeom>
          <a:noFill/>
          <a:ln w="41275"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pic>
        <p:nvPicPr>
          <p:cNvPr id="4" name="Slika 2">
            <a:extLst>
              <a:ext uri="{FF2B5EF4-FFF2-40B4-BE49-F238E27FC236}">
                <a16:creationId xmlns:a16="http://schemas.microsoft.com/office/drawing/2014/main" id="{8D81DD5A-8B37-48CB-5626-4163C5955C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9250" y="3404838"/>
            <a:ext cx="4851400"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kstniOkvir 5">
            <a:extLst>
              <a:ext uri="{FF2B5EF4-FFF2-40B4-BE49-F238E27FC236}">
                <a16:creationId xmlns:a16="http://schemas.microsoft.com/office/drawing/2014/main" id="{03A85197-9CFC-7E00-F218-F89C3AC681D3}"/>
              </a:ext>
            </a:extLst>
          </p:cNvPr>
          <p:cNvSpPr txBox="1"/>
          <p:nvPr/>
        </p:nvSpPr>
        <p:spPr>
          <a:xfrm>
            <a:off x="3132138" y="4276474"/>
            <a:ext cx="1989658" cy="307777"/>
          </a:xfrm>
          <a:prstGeom prst="rect">
            <a:avLst/>
          </a:prstGeom>
          <a:solidFill>
            <a:srgbClr val="FFFF00"/>
          </a:solidFill>
          <a:ln w="12700">
            <a:solidFill>
              <a:schemeClr val="tx1"/>
            </a:solidFill>
          </a:ln>
        </p:spPr>
        <p:txBody>
          <a:bodyPr wrap="square" rtlCol="0">
            <a:spAutoFit/>
          </a:bodyPr>
          <a:lstStyle/>
          <a:p>
            <a:pPr algn="ctr"/>
            <a:r>
              <a:rPr lang="hr-HR" sz="1400" b="1" dirty="0" err="1">
                <a:solidFill>
                  <a:schemeClr val="tx1"/>
                </a:solidFill>
                <a:latin typeface="Arial" panose="020B0604020202020204" pitchFamily="34" charset="0"/>
                <a:cs typeface="Arial" panose="020B0604020202020204" pitchFamily="34" charset="0"/>
              </a:rPr>
              <a:t>Rasterizacija</a:t>
            </a:r>
            <a:endParaRPr lang="hr-HR" sz="1400" b="1"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Date Placeholder 2">
            <a:extLst>
              <a:ext uri="{FF2B5EF4-FFF2-40B4-BE49-F238E27FC236}">
                <a16:creationId xmlns:a16="http://schemas.microsoft.com/office/drawing/2014/main" id="{E6FD2F3E-8162-01BC-5CEC-4874B1BCE352}"/>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9917306D-E8AB-4AA3-85C2-51E7964CB416}"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96260" name="Slide Number Placeholder 4">
            <a:extLst>
              <a:ext uri="{FF2B5EF4-FFF2-40B4-BE49-F238E27FC236}">
                <a16:creationId xmlns:a16="http://schemas.microsoft.com/office/drawing/2014/main" id="{B5B64532-11A4-8F78-C909-220D2106685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D409D00D-85CC-471F-87C6-618462D1152D}" type="slidenum">
              <a:rPr lang="en-GB" altLang="sr-Latn-RS" sz="1400" smtClean="0">
                <a:latin typeface="Times New Roman" panose="02020603050405020304" pitchFamily="18" charset="0"/>
              </a:rPr>
              <a:pPr>
                <a:spcBef>
                  <a:spcPct val="50000"/>
                </a:spcBef>
                <a:buClrTx/>
                <a:buSzTx/>
                <a:buFontTx/>
                <a:buNone/>
              </a:pPr>
              <a:t>12</a:t>
            </a:fld>
            <a:endParaRPr lang="en-GB" altLang="sr-Latn-RS" sz="1400">
              <a:latin typeface="Times New Roman" panose="02020603050405020304" pitchFamily="18" charset="0"/>
            </a:endParaRPr>
          </a:p>
        </p:txBody>
      </p:sp>
      <p:sp>
        <p:nvSpPr>
          <p:cNvPr id="96261" name="Text Box 2">
            <a:extLst>
              <a:ext uri="{FF2B5EF4-FFF2-40B4-BE49-F238E27FC236}">
                <a16:creationId xmlns:a16="http://schemas.microsoft.com/office/drawing/2014/main" id="{9B1203AF-F2A2-12A0-B09A-51ED2AF00BAE}"/>
              </a:ext>
            </a:extLst>
          </p:cNvPr>
          <p:cNvSpPr txBox="1">
            <a:spLocks noChangeArrowheads="1"/>
          </p:cNvSpPr>
          <p:nvPr/>
        </p:nvSpPr>
        <p:spPr bwMode="auto">
          <a:xfrm>
            <a:off x="684213" y="692150"/>
            <a:ext cx="7924800"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a:t>
            </a:r>
          </a:p>
          <a:p>
            <a:pPr algn="just" eaLnBrk="1" hangingPunct="1">
              <a:spcBef>
                <a:spcPct val="50000"/>
              </a:spcBef>
              <a:buClrTx/>
              <a:buSzTx/>
              <a:buFontTx/>
              <a:buNone/>
            </a:pPr>
            <a:endParaRPr lang="hr-HR" altLang="sr-Latn-RS" sz="800">
              <a:latin typeface="Arial" panose="020B0604020202020204" pitchFamily="34" charset="0"/>
              <a:cs typeface="Arial" panose="020B0604020202020204" pitchFamily="34" charset="0"/>
            </a:endParaRPr>
          </a:p>
          <a:p>
            <a:pPr algn="just"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 	</a:t>
            </a:r>
            <a:r>
              <a:rPr lang="hr-HR" altLang="sr-Latn-RS" sz="2000" b="1">
                <a:latin typeface="Arial" panose="020B0604020202020204" pitchFamily="34" charset="0"/>
                <a:cs typeface="Arial" panose="020B0604020202020204" pitchFamily="34" charset="0"/>
              </a:rPr>
              <a:t>Osnovni problem</a:t>
            </a:r>
            <a:r>
              <a:rPr lang="hr-HR" altLang="sr-Latn-RS" sz="2000">
                <a:latin typeface="Arial" panose="020B0604020202020204" pitchFamily="34" charset="0"/>
                <a:cs typeface="Arial" panose="020B0604020202020204" pitchFamily="34" charset="0"/>
              </a:rPr>
              <a:t>:</a:t>
            </a:r>
          </a:p>
          <a:p>
            <a:pPr algn="just" eaLnBrk="1" hangingPunct="1">
              <a:spcBef>
                <a:spcPct val="50000"/>
              </a:spcBef>
              <a:buClrTx/>
              <a:buSzTx/>
              <a:buFontTx/>
              <a:buChar char="•"/>
            </a:pPr>
            <a:r>
              <a:rPr lang="hr-HR" altLang="sr-Latn-RS" sz="2000">
                <a:solidFill>
                  <a:srgbClr val="0070C0"/>
                </a:solidFill>
                <a:latin typeface="Arial" panose="020B0604020202020204" pitchFamily="34" charset="0"/>
                <a:cs typeface="Arial" panose="020B0604020202020204" pitchFamily="34" charset="0"/>
              </a:rPr>
              <a:t>Crtanje kose ravne crte širine jednog piksela na dvorazinskom rasterskom prikaznom uređaju. </a:t>
            </a:r>
          </a:p>
          <a:p>
            <a:pPr algn="just" eaLnBrk="1" hangingPunct="1">
              <a:spcBef>
                <a:spcPct val="50000"/>
              </a:spcBef>
              <a:buClrTx/>
              <a:buSzTx/>
              <a:buFont typeface="Arial" panose="020B0604020202020204" pitchFamily="34" charset="0"/>
              <a:buChar char="•"/>
            </a:pPr>
            <a:r>
              <a:rPr lang="hr-HR" altLang="sr-Latn-RS" sz="2000">
                <a:latin typeface="Arial" panose="020B0604020202020204" pitchFamily="34" charset="0"/>
                <a:cs typeface="Arial" panose="020B0604020202020204" pitchFamily="34" charset="0"/>
              </a:rPr>
              <a:t>Algoritmi za rasterski prikaz ravnih crta proračunavaju koordinate piksela na 2D rasteru koji su najbliži idealnoj, beskonačno uskoj ravnoj crti.  </a:t>
            </a:r>
          </a:p>
          <a:p>
            <a:pPr algn="just"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Poželjne značajke prikazane ravne crte uključuju:</a:t>
            </a:r>
          </a:p>
          <a:p>
            <a:pPr algn="just" eaLnBrk="1" hangingPunct="1">
              <a:spcBef>
                <a:spcPct val="50000"/>
              </a:spcBef>
              <a:buClrTx/>
              <a:buSzTx/>
              <a:buFont typeface="Arial" panose="020B0604020202020204" pitchFamily="34" charset="0"/>
              <a:buChar char="•"/>
            </a:pPr>
            <a:r>
              <a:rPr lang="hr-HR" altLang="sr-Latn-RS" sz="2000">
                <a:latin typeface="Arial" panose="020B0604020202020204" pitchFamily="34" charset="0"/>
                <a:cs typeface="Arial" panose="020B0604020202020204" pitchFamily="34" charset="0"/>
              </a:rPr>
              <a:t>jednolik intenzitet crte čitavom dužinom,</a:t>
            </a:r>
          </a:p>
          <a:p>
            <a:pPr algn="just" eaLnBrk="1" hangingPunct="1">
              <a:spcBef>
                <a:spcPct val="50000"/>
              </a:spcBef>
              <a:buClrTx/>
              <a:buSzTx/>
              <a:buFont typeface="Arial" panose="020B0604020202020204" pitchFamily="34" charset="0"/>
              <a:buChar char="•"/>
            </a:pPr>
            <a:r>
              <a:rPr lang="hr-HR" altLang="sr-Latn-RS" sz="2000">
                <a:latin typeface="Arial" panose="020B0604020202020204" pitchFamily="34" charset="0"/>
                <a:cs typeface="Arial" panose="020B0604020202020204" pitchFamily="34" charset="0"/>
              </a:rPr>
              <a:t>jednolik intenzitet crte neovisno o nagibu,</a:t>
            </a:r>
          </a:p>
          <a:p>
            <a:pPr algn="just" eaLnBrk="1" hangingPunct="1">
              <a:spcBef>
                <a:spcPct val="50000"/>
              </a:spcBef>
              <a:buClrTx/>
              <a:buSzTx/>
              <a:buFont typeface="Arial" panose="020B0604020202020204" pitchFamily="34" charset="0"/>
              <a:buChar char="•"/>
            </a:pPr>
            <a:r>
              <a:rPr lang="hr-HR" altLang="sr-Latn-RS" sz="2000">
                <a:latin typeface="Arial" panose="020B0604020202020204" pitchFamily="34" charset="0"/>
                <a:cs typeface="Arial" panose="020B0604020202020204" pitchFamily="34" charset="0"/>
              </a:rPr>
              <a:t>mogućnost proizvoljnog odabira širine crte,</a:t>
            </a:r>
          </a:p>
          <a:p>
            <a:pPr algn="just" eaLnBrk="1" hangingPunct="1">
              <a:spcBef>
                <a:spcPct val="50000"/>
              </a:spcBef>
              <a:buClrTx/>
              <a:buSzTx/>
              <a:buFont typeface="Arial" panose="020B0604020202020204" pitchFamily="34" charset="0"/>
              <a:buChar char="•"/>
            </a:pPr>
            <a:r>
              <a:rPr lang="hr-HR" altLang="sr-Latn-RS" sz="2000">
                <a:latin typeface="Arial" panose="020B0604020202020204" pitchFamily="34" charset="0"/>
                <a:cs typeface="Arial" panose="020B0604020202020204" pitchFamily="34" charset="0"/>
              </a:rPr>
              <a:t>mogućnost proizvoljnog oblikovanja krajeva,</a:t>
            </a:r>
          </a:p>
        </p:txBody>
      </p:sp>
      <p:sp>
        <p:nvSpPr>
          <p:cNvPr id="96262" name="Rectangle 3">
            <a:extLst>
              <a:ext uri="{FF2B5EF4-FFF2-40B4-BE49-F238E27FC236}">
                <a16:creationId xmlns:a16="http://schemas.microsoft.com/office/drawing/2014/main" id="{9EF9AEA8-1BB7-1E02-0E25-FD9C836F52ED}"/>
              </a:ext>
            </a:extLst>
          </p:cNvPr>
          <p:cNvSpPr>
            <a:spLocks noChangeArrowheads="1"/>
          </p:cNvSpPr>
          <p:nvPr/>
        </p:nvSpPr>
        <p:spPr bwMode="auto">
          <a:xfrm>
            <a:off x="169545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96263" name="Rectangle 4">
            <a:extLst>
              <a:ext uri="{FF2B5EF4-FFF2-40B4-BE49-F238E27FC236}">
                <a16:creationId xmlns:a16="http://schemas.microsoft.com/office/drawing/2014/main" id="{1FF354A4-3C99-D057-2B2D-32D27A83A653}"/>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Date Placeholder 2">
            <a:extLst>
              <a:ext uri="{FF2B5EF4-FFF2-40B4-BE49-F238E27FC236}">
                <a16:creationId xmlns:a16="http://schemas.microsoft.com/office/drawing/2014/main" id="{2D5F386D-F281-FE61-3CF2-925089AF8A26}"/>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15965605-2D08-48DE-9E5E-8C371CCAD865}"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98308" name="Slide Number Placeholder 4">
            <a:extLst>
              <a:ext uri="{FF2B5EF4-FFF2-40B4-BE49-F238E27FC236}">
                <a16:creationId xmlns:a16="http://schemas.microsoft.com/office/drawing/2014/main" id="{B03A5FDC-FDB7-56E1-587E-33FFBF803BC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F5FA7CE0-EFBB-43AE-BD5E-1E2BA1B39C02}" type="slidenum">
              <a:rPr lang="en-GB" altLang="sr-Latn-RS" sz="1400" smtClean="0">
                <a:latin typeface="Times New Roman" panose="02020603050405020304" pitchFamily="18" charset="0"/>
              </a:rPr>
              <a:pPr>
                <a:spcBef>
                  <a:spcPct val="50000"/>
                </a:spcBef>
                <a:buClrTx/>
                <a:buSzTx/>
                <a:buFontTx/>
                <a:buNone/>
              </a:pPr>
              <a:t>13</a:t>
            </a:fld>
            <a:endParaRPr lang="en-GB" altLang="sr-Latn-RS" sz="1400">
              <a:latin typeface="Times New Roman" panose="02020603050405020304" pitchFamily="18" charset="0"/>
            </a:endParaRPr>
          </a:p>
        </p:txBody>
      </p:sp>
      <p:sp>
        <p:nvSpPr>
          <p:cNvPr id="98309" name="Text Box 2">
            <a:extLst>
              <a:ext uri="{FF2B5EF4-FFF2-40B4-BE49-F238E27FC236}">
                <a16:creationId xmlns:a16="http://schemas.microsoft.com/office/drawing/2014/main" id="{58C8199B-3147-D3A4-D42F-D3D3C7F8BC43}"/>
              </a:ext>
            </a:extLst>
          </p:cNvPr>
          <p:cNvSpPr txBox="1">
            <a:spLocks noChangeArrowheads="1"/>
          </p:cNvSpPr>
          <p:nvPr/>
        </p:nvSpPr>
        <p:spPr bwMode="auto">
          <a:xfrm>
            <a:off x="611188" y="620713"/>
            <a:ext cx="7924800" cy="575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ravnih crta</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a:p>
            <a:pPr algn="ctr" eaLnBrk="1" hangingPunct="1">
              <a:spcBef>
                <a:spcPct val="50000"/>
              </a:spcBef>
              <a:buClrTx/>
              <a:buSzTx/>
              <a:buFontTx/>
              <a:buNone/>
            </a:pPr>
            <a:r>
              <a:rPr lang="hr-HR" altLang="sr-Latn-RS" sz="800">
                <a:latin typeface="Arial" panose="020B0604020202020204" pitchFamily="34" charset="0"/>
                <a:cs typeface="Arial" panose="020B0604020202020204" pitchFamily="34" charset="0"/>
              </a:rPr>
              <a:t> </a:t>
            </a:r>
          </a:p>
          <a:p>
            <a:pPr algn="ctr" eaLnBrk="1" hangingPunct="1">
              <a:spcBef>
                <a:spcPct val="50000"/>
              </a:spcBef>
              <a:buClrTx/>
              <a:buSzTx/>
              <a:buFontTx/>
              <a:buNone/>
            </a:pPr>
            <a:r>
              <a:rPr lang="hr-HR" altLang="sr-Latn-RS" sz="2400" b="1">
                <a:latin typeface="Arial" panose="020B0604020202020204" pitchFamily="34" charset="0"/>
                <a:cs typeface="Arial" panose="020B0604020202020204" pitchFamily="34" charset="0"/>
              </a:rPr>
              <a:t>Osnovni inkrementalni algoritam</a:t>
            </a:r>
          </a:p>
          <a:p>
            <a:pPr algn="just" eaLnBrk="1" hangingPunct="1">
              <a:spcBef>
                <a:spcPct val="50000"/>
              </a:spcBef>
              <a:buClrTx/>
              <a:buSzTx/>
              <a:buFontTx/>
              <a:buNone/>
            </a:pPr>
            <a:r>
              <a:rPr lang="hr-HR" altLang="sr-Latn-RS" sz="800">
                <a:latin typeface="Arial" panose="020B0604020202020204" pitchFamily="34" charset="0"/>
                <a:cs typeface="Arial" panose="020B0604020202020204" pitchFamily="34" charset="0"/>
              </a:rPr>
              <a:t> </a:t>
            </a:r>
          </a:p>
          <a:p>
            <a:pPr algn="just" eaLnBrk="1" hangingPunct="1">
              <a:spcBef>
                <a:spcPct val="50000"/>
              </a:spcBef>
              <a:buClrTx/>
              <a:buSzTx/>
              <a:buFontTx/>
              <a:buChar char="•"/>
            </a:pPr>
            <a:r>
              <a:rPr lang="hr-HR" altLang="sr-Latn-RS" sz="2000">
                <a:latin typeface="Arial" panose="020B0604020202020204" pitchFamily="34" charset="0"/>
                <a:cs typeface="Arial" panose="020B0604020202020204" pitchFamily="34" charset="0"/>
              </a:rPr>
              <a:t>najjednostavniji pristup</a:t>
            </a:r>
          </a:p>
          <a:p>
            <a:pPr algn="just" eaLnBrk="1" hangingPunct="1">
              <a:spcBef>
                <a:spcPct val="50000"/>
              </a:spcBef>
              <a:buClrTx/>
              <a:buSzTx/>
              <a:buFontTx/>
              <a:buChar char="•"/>
            </a:pPr>
            <a:r>
              <a:rPr lang="hr-HR" altLang="sr-Latn-RS" sz="2000">
                <a:latin typeface="Arial" panose="020B0604020202020204" pitchFamily="34" charset="0"/>
                <a:cs typeface="Arial" panose="020B0604020202020204" pitchFamily="34" charset="0"/>
              </a:rPr>
              <a:t>proračun piksel po piksel na osnovi eksplicitnog oblika jednadžbe pravca.</a:t>
            </a:r>
          </a:p>
          <a:p>
            <a:pPr algn="just" eaLnBrk="1" hangingPunct="1">
              <a:spcBef>
                <a:spcPct val="50000"/>
              </a:spcBef>
              <a:buClrTx/>
              <a:buSzTx/>
              <a:buFontTx/>
              <a:buChar char="•"/>
            </a:pPr>
            <a:endParaRPr lang="hr-HR" altLang="sr-Latn-RS" sz="800">
              <a:latin typeface="Arial" panose="020B0604020202020204" pitchFamily="34" charset="0"/>
              <a:cs typeface="Arial" panose="020B0604020202020204" pitchFamily="34" charset="0"/>
            </a:endParaRPr>
          </a:p>
          <a:p>
            <a:pPr algn="just" eaLnBrk="1" hangingPunct="1">
              <a:spcBef>
                <a:spcPct val="50000"/>
              </a:spcBef>
              <a:buClrTx/>
              <a:buSzTx/>
              <a:buFontTx/>
              <a:buNone/>
            </a:pPr>
            <a:r>
              <a:rPr lang="hr-HR" altLang="sr-Latn-RS" sz="2000">
                <a:latin typeface="Times New Roman" panose="02020603050405020304" pitchFamily="18" charset="0"/>
                <a:cs typeface="Times New Roman" panose="02020603050405020304" pitchFamily="18" charset="0"/>
              </a:rPr>
              <a:t> </a:t>
            </a:r>
            <a:r>
              <a:rPr lang="hr-HR" altLang="sr-Latn-RS" sz="2000" u="sng">
                <a:latin typeface="Times New Roman" panose="02020603050405020304" pitchFamily="18" charset="0"/>
                <a:cs typeface="Times New Roman" panose="02020603050405020304" pitchFamily="18" charset="0"/>
              </a:rPr>
              <a:t>Algoritam</a:t>
            </a:r>
            <a:r>
              <a:rPr lang="hr-HR" altLang="sr-Latn-RS" sz="2000" u="sng">
                <a:latin typeface="Times New Roman" panose="02020603050405020304" pitchFamily="18" charset="0"/>
              </a:rPr>
              <a:t>:</a:t>
            </a:r>
            <a:endParaRPr lang="hr-HR" altLang="sr-Latn-RS" sz="2000" u="sng">
              <a:latin typeface="Times New Roman" panose="02020603050405020304" pitchFamily="18" charset="0"/>
              <a:cs typeface="Times New Roman" panose="02020603050405020304" pitchFamily="18" charset="0"/>
            </a:endParaRPr>
          </a:p>
          <a:p>
            <a:pPr algn="just" eaLnBrk="1" hangingPunct="1">
              <a:spcBef>
                <a:spcPct val="50000"/>
              </a:spcBef>
              <a:buClrTx/>
              <a:buSzTx/>
              <a:buFontTx/>
              <a:buAutoNum type="arabicPeriod"/>
            </a:pPr>
            <a:r>
              <a:rPr lang="hr-HR" altLang="sr-Latn-RS" sz="1600">
                <a:latin typeface="Courier New" panose="02070309020205020404" pitchFamily="49" charset="0"/>
                <a:cs typeface="Courier New" panose="02070309020205020404" pitchFamily="49" charset="0"/>
              </a:rPr>
              <a:t>proračun nagiba pravca (|m| &lt; 1)</a:t>
            </a:r>
          </a:p>
          <a:p>
            <a:pPr algn="just" eaLnBrk="1" hangingPunct="1">
              <a:spcBef>
                <a:spcPct val="50000"/>
              </a:spcBef>
              <a:buClrTx/>
              <a:buSzTx/>
              <a:buFontTx/>
              <a:buAutoNum type="arabicPeriod"/>
            </a:pPr>
            <a:r>
              <a:rPr lang="hr-HR" altLang="sr-Latn-RS" sz="1600">
                <a:latin typeface="Courier New" panose="02070309020205020404" pitchFamily="49" charset="0"/>
                <a:cs typeface="Courier New" panose="02070309020205020404" pitchFamily="49" charset="0"/>
              </a:rPr>
              <a:t>proračun nove vrijednosti </a:t>
            </a:r>
            <a:r>
              <a:rPr lang="hr-HR" altLang="sr-Latn-RS" sz="1600" i="1">
                <a:latin typeface="Courier New" panose="02070309020205020404" pitchFamily="49" charset="0"/>
                <a:cs typeface="Courier New" panose="02070309020205020404" pitchFamily="49" charset="0"/>
              </a:rPr>
              <a:t>x</a:t>
            </a:r>
            <a:r>
              <a:rPr lang="hr-HR" altLang="sr-Latn-RS" sz="1600" i="1" baseline="-30000">
                <a:latin typeface="Courier New" panose="02070309020205020404" pitchFamily="49" charset="0"/>
                <a:cs typeface="Courier New" panose="02070309020205020404" pitchFamily="49" charset="0"/>
              </a:rPr>
              <a:t>i</a:t>
            </a:r>
            <a:r>
              <a:rPr lang="hr-HR" altLang="sr-Latn-RS" sz="1600">
                <a:latin typeface="Courier New" panose="02070309020205020404" pitchFamily="49" charset="0"/>
                <a:cs typeface="Courier New" panose="02070309020205020404" pitchFamily="49" charset="0"/>
              </a:rPr>
              <a:t> povećanjem prethodne vrijednosti za 1</a:t>
            </a:r>
          </a:p>
          <a:p>
            <a:pPr algn="just" eaLnBrk="1" hangingPunct="1">
              <a:spcBef>
                <a:spcPct val="50000"/>
              </a:spcBef>
              <a:buClrTx/>
              <a:buSzTx/>
              <a:buFontTx/>
              <a:buAutoNum type="arabicPeriod"/>
            </a:pPr>
            <a:r>
              <a:rPr lang="hr-HR" altLang="sr-Latn-RS" sz="1600">
                <a:latin typeface="Courier New" panose="02070309020205020404" pitchFamily="49" charset="0"/>
                <a:cs typeface="Courier New" panose="02070309020205020404" pitchFamily="49" charset="0"/>
              </a:rPr>
              <a:t>proračun vrijednosti</a:t>
            </a:r>
          </a:p>
          <a:p>
            <a:pPr algn="just" eaLnBrk="1" hangingPunct="1">
              <a:spcBef>
                <a:spcPct val="50000"/>
              </a:spcBef>
              <a:buClrTx/>
              <a:buSzTx/>
              <a:buFontTx/>
              <a:buAutoNum type="arabicPeriod"/>
            </a:pPr>
            <a:r>
              <a:rPr lang="hr-HR" altLang="sr-Latn-RS" sz="1600">
                <a:latin typeface="Courier New" panose="02070309020205020404" pitchFamily="49" charset="0"/>
                <a:cs typeface="Courier New" panose="02070309020205020404" pitchFamily="49" charset="0"/>
              </a:rPr>
              <a:t>isticanje piksela (</a:t>
            </a:r>
            <a:r>
              <a:rPr lang="hr-HR" altLang="sr-Latn-RS" sz="1600" i="1">
                <a:latin typeface="Courier New" panose="02070309020205020404" pitchFamily="49" charset="0"/>
                <a:cs typeface="Courier New" panose="02070309020205020404" pitchFamily="49" charset="0"/>
              </a:rPr>
              <a:t>x</a:t>
            </a:r>
            <a:r>
              <a:rPr lang="hr-HR" altLang="sr-Latn-RS" sz="1600" i="1" baseline="-30000">
                <a:latin typeface="Courier New" panose="02070309020205020404" pitchFamily="49" charset="0"/>
                <a:cs typeface="Courier New" panose="02070309020205020404" pitchFamily="49" charset="0"/>
              </a:rPr>
              <a:t>i</a:t>
            </a:r>
            <a:r>
              <a:rPr lang="hr-HR" altLang="sr-Latn-RS" sz="1600">
                <a:latin typeface="Courier New" panose="02070309020205020404" pitchFamily="49" charset="0"/>
                <a:cs typeface="Courier New" panose="02070309020205020404" pitchFamily="49" charset="0"/>
              </a:rPr>
              <a:t>, </a:t>
            </a:r>
            <a:r>
              <a:rPr lang="hr-HR" altLang="sr-Latn-RS" sz="1600" i="1">
                <a:latin typeface="Courier New" panose="02070309020205020404" pitchFamily="49" charset="0"/>
                <a:cs typeface="Courier New" panose="02070309020205020404" pitchFamily="49" charset="0"/>
              </a:rPr>
              <a:t>Round(y</a:t>
            </a:r>
            <a:r>
              <a:rPr lang="hr-HR" altLang="sr-Latn-RS" sz="1600" i="1" baseline="-30000">
                <a:latin typeface="Courier New" panose="02070309020205020404" pitchFamily="49" charset="0"/>
                <a:cs typeface="Courier New" panose="02070309020205020404" pitchFamily="49" charset="0"/>
              </a:rPr>
              <a:t>i</a:t>
            </a:r>
            <a:r>
              <a:rPr lang="hr-HR" altLang="sr-Latn-RS" sz="1600" i="1">
                <a:latin typeface="Courier New" panose="02070309020205020404" pitchFamily="49" charset="0"/>
                <a:cs typeface="Courier New" panose="02070309020205020404" pitchFamily="49" charset="0"/>
              </a:rPr>
              <a:t>)</a:t>
            </a:r>
            <a:r>
              <a:rPr lang="hr-HR" altLang="sr-Latn-RS" sz="1600">
                <a:latin typeface="Courier New" panose="02070309020205020404" pitchFamily="49" charset="0"/>
                <a:cs typeface="Courier New" panose="02070309020205020404" pitchFamily="49" charset="0"/>
              </a:rPr>
              <a:t>) gdje je </a:t>
            </a:r>
            <a:r>
              <a:rPr lang="hr-HR" altLang="sr-Latn-RS" sz="1600" i="1">
                <a:latin typeface="Courier New" panose="02070309020205020404" pitchFamily="49" charset="0"/>
                <a:cs typeface="Courier New" panose="02070309020205020404" pitchFamily="49" charset="0"/>
              </a:rPr>
              <a:t>Round(y</a:t>
            </a:r>
            <a:r>
              <a:rPr lang="hr-HR" altLang="sr-Latn-RS" sz="1600" i="1" baseline="-30000">
                <a:latin typeface="Courier New" panose="02070309020205020404" pitchFamily="49" charset="0"/>
                <a:cs typeface="Courier New" panose="02070309020205020404" pitchFamily="49" charset="0"/>
              </a:rPr>
              <a:t>i</a:t>
            </a:r>
            <a:r>
              <a:rPr lang="hr-HR" altLang="sr-Latn-RS" sz="1600" i="1">
                <a:latin typeface="Courier New" panose="02070309020205020404" pitchFamily="49" charset="0"/>
                <a:cs typeface="Courier New" panose="02070309020205020404" pitchFamily="49" charset="0"/>
              </a:rPr>
              <a:t>)</a:t>
            </a:r>
            <a:r>
              <a:rPr lang="hr-HR" altLang="sr-Latn-RS" sz="1600">
                <a:latin typeface="Courier New" panose="02070309020205020404" pitchFamily="49" charset="0"/>
                <a:cs typeface="Courier New" panose="02070309020205020404" pitchFamily="49" charset="0"/>
              </a:rPr>
              <a:t> </a:t>
            </a:r>
            <a:r>
              <a:rPr lang="hr-HR" altLang="sr-Latn-RS" sz="1600" i="1">
                <a:latin typeface="Courier New" panose="02070309020205020404" pitchFamily="49" charset="0"/>
                <a:cs typeface="Courier New" panose="02070309020205020404" pitchFamily="49" charset="0"/>
              </a:rPr>
              <a:t>= Floor (0.5 + y</a:t>
            </a:r>
            <a:r>
              <a:rPr lang="hr-HR" altLang="sr-Latn-RS" sz="1600" i="1" baseline="-30000">
                <a:latin typeface="Courier New" panose="02070309020205020404" pitchFamily="49" charset="0"/>
                <a:cs typeface="Courier New" panose="02070309020205020404" pitchFamily="49" charset="0"/>
              </a:rPr>
              <a:t>i</a:t>
            </a:r>
            <a:r>
              <a:rPr lang="hr-HR" altLang="sr-Latn-RS" sz="1600" i="1">
                <a:latin typeface="Courier New" panose="02070309020205020404" pitchFamily="49" charset="0"/>
                <a:cs typeface="Courier New" panose="02070309020205020404" pitchFamily="49" charset="0"/>
              </a:rPr>
              <a:t>)</a:t>
            </a:r>
            <a:r>
              <a:rPr lang="hr-HR" altLang="sr-Latn-RS" sz="1600">
                <a:latin typeface="Courier New" panose="02070309020205020404" pitchFamily="49" charset="0"/>
                <a:cs typeface="Courier New" panose="02070309020205020404" pitchFamily="49" charset="0"/>
              </a:rPr>
              <a:t>.</a:t>
            </a:r>
          </a:p>
          <a:p>
            <a:pPr algn="just" eaLnBrk="1" hangingPunct="1">
              <a:spcBef>
                <a:spcPct val="50000"/>
              </a:spcBef>
              <a:buClrTx/>
              <a:buSzTx/>
              <a:buFontTx/>
              <a:buChar char="•"/>
            </a:pPr>
            <a:endParaRPr lang="hr-HR" altLang="sr-Latn-RS" sz="2000">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Date Placeholder 2">
            <a:extLst>
              <a:ext uri="{FF2B5EF4-FFF2-40B4-BE49-F238E27FC236}">
                <a16:creationId xmlns:a16="http://schemas.microsoft.com/office/drawing/2014/main" id="{3AD1DA98-4CB0-4C76-E161-CBE1973F58F3}"/>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37A6113C-6EE7-4B14-BEC8-81E162CF6088}"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00356" name="Slide Number Placeholder 4">
            <a:extLst>
              <a:ext uri="{FF2B5EF4-FFF2-40B4-BE49-F238E27FC236}">
                <a16:creationId xmlns:a16="http://schemas.microsoft.com/office/drawing/2014/main" id="{9C833107-FDBE-9450-6C8D-46CE6802B23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3B95A36A-9993-49E7-A1B3-FAEC88DA39ED}" type="slidenum">
              <a:rPr lang="en-GB" altLang="sr-Latn-RS" sz="1400" smtClean="0">
                <a:latin typeface="Times New Roman" panose="02020603050405020304" pitchFamily="18" charset="0"/>
              </a:rPr>
              <a:pPr>
                <a:spcBef>
                  <a:spcPct val="50000"/>
                </a:spcBef>
                <a:buClrTx/>
                <a:buSzTx/>
                <a:buFontTx/>
                <a:buNone/>
              </a:pPr>
              <a:t>14</a:t>
            </a:fld>
            <a:endParaRPr lang="en-GB" altLang="sr-Latn-RS" sz="1400">
              <a:latin typeface="Times New Roman" panose="02020603050405020304" pitchFamily="18" charset="0"/>
            </a:endParaRPr>
          </a:p>
        </p:txBody>
      </p:sp>
      <p:sp>
        <p:nvSpPr>
          <p:cNvPr id="100357" name="Text Box 2">
            <a:extLst>
              <a:ext uri="{FF2B5EF4-FFF2-40B4-BE49-F238E27FC236}">
                <a16:creationId xmlns:a16="http://schemas.microsoft.com/office/drawing/2014/main" id="{026D3302-076D-CBA6-A9CD-7F0C12C70948}"/>
              </a:ext>
            </a:extLst>
          </p:cNvPr>
          <p:cNvSpPr txBox="1">
            <a:spLocks noChangeArrowheads="1"/>
          </p:cNvSpPr>
          <p:nvPr/>
        </p:nvSpPr>
        <p:spPr bwMode="auto">
          <a:xfrm>
            <a:off x="762000" y="404813"/>
            <a:ext cx="7924800"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ravnih crta</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a:p>
            <a:pPr algn="ctr" eaLnBrk="1" hangingPunct="1">
              <a:spcBef>
                <a:spcPct val="50000"/>
              </a:spcBef>
              <a:buClrTx/>
              <a:buSzTx/>
              <a:buFontTx/>
              <a:buNone/>
            </a:pPr>
            <a:r>
              <a:rPr lang="hr-HR" altLang="sr-Latn-RS" sz="800">
                <a:latin typeface="Arial" panose="020B0604020202020204" pitchFamily="34" charset="0"/>
                <a:cs typeface="Arial" panose="020B0604020202020204" pitchFamily="34" charset="0"/>
              </a:rPr>
              <a:t> </a:t>
            </a:r>
          </a:p>
          <a:p>
            <a:pPr algn="ctr" eaLnBrk="1" hangingPunct="1">
              <a:spcBef>
                <a:spcPct val="50000"/>
              </a:spcBef>
              <a:buClrTx/>
              <a:buSzTx/>
              <a:buFontTx/>
              <a:buNone/>
            </a:pPr>
            <a:r>
              <a:rPr lang="hr-HR" altLang="sr-Latn-RS" sz="2400" b="1">
                <a:latin typeface="Arial" panose="020B0604020202020204" pitchFamily="34" charset="0"/>
                <a:cs typeface="Arial" panose="020B0604020202020204" pitchFamily="34" charset="0"/>
              </a:rPr>
              <a:t>Osnovni inkrementalni algoritam</a:t>
            </a:r>
          </a:p>
          <a:p>
            <a:pPr algn="just" eaLnBrk="1" hangingPunct="1">
              <a:spcBef>
                <a:spcPct val="50000"/>
              </a:spcBef>
              <a:buClrTx/>
              <a:buSzTx/>
              <a:buFontTx/>
              <a:buNone/>
            </a:pPr>
            <a:r>
              <a:rPr lang="hr-HR" altLang="sr-Latn-RS" sz="800">
                <a:latin typeface="Arial" panose="020B0604020202020204" pitchFamily="34" charset="0"/>
                <a:cs typeface="Arial" panose="020B0604020202020204" pitchFamily="34" charset="0"/>
              </a:rPr>
              <a:t> </a:t>
            </a:r>
          </a:p>
          <a:p>
            <a:pPr algn="just" eaLnBrk="1" hangingPunct="1">
              <a:spcBef>
                <a:spcPct val="50000"/>
              </a:spcBef>
              <a:buClrTx/>
              <a:buSzTx/>
              <a:buFontTx/>
              <a:buChar char="•"/>
            </a:pPr>
            <a:r>
              <a:rPr lang="hr-HR" altLang="sr-Latn-RS" sz="2000">
                <a:latin typeface="Arial" panose="020B0604020202020204" pitchFamily="34" charset="0"/>
                <a:cs typeface="Arial" panose="020B0604020202020204" pitchFamily="34" charset="0"/>
              </a:rPr>
              <a:t>odabire točke koje su najmanje udaljene od idealne crte</a:t>
            </a:r>
          </a:p>
          <a:p>
            <a:pPr algn="just" eaLnBrk="1" hangingPunct="1">
              <a:spcBef>
                <a:spcPct val="50000"/>
              </a:spcBef>
              <a:buClrTx/>
              <a:buSzTx/>
              <a:buFontTx/>
              <a:buChar char="•"/>
            </a:pPr>
            <a:r>
              <a:rPr lang="hr-HR" altLang="sr-Latn-RS" sz="2000">
                <a:latin typeface="Arial" panose="020B0604020202020204" pitchFamily="34" charset="0"/>
                <a:cs typeface="Arial" panose="020B0604020202020204" pitchFamily="34" charset="0"/>
              </a:rPr>
              <a:t>nije učinkovit jer se u svakoj iteraciji obavljaju operacije množenja i zbrajanja s realnim ili (racionalnim) brojevima kao i poziv funkcije </a:t>
            </a:r>
            <a:r>
              <a:rPr lang="hr-HR" altLang="sr-Latn-RS" sz="2000" i="1">
                <a:latin typeface="Arial" panose="020B0604020202020204" pitchFamily="34" charset="0"/>
                <a:cs typeface="Arial" panose="020B0604020202020204" pitchFamily="34" charset="0"/>
              </a:rPr>
              <a:t>Floor</a:t>
            </a:r>
            <a:r>
              <a:rPr lang="hr-HR" altLang="sr-Latn-RS" sz="2000">
                <a:latin typeface="Arial" panose="020B0604020202020204" pitchFamily="34" charset="0"/>
                <a:cs typeface="Arial" panose="020B0604020202020204" pitchFamily="34" charset="0"/>
              </a:rPr>
              <a:t>.</a:t>
            </a:r>
            <a:r>
              <a:rPr lang="en-GB" altLang="sr-Latn-RS" sz="2000">
                <a:latin typeface="Arial" panose="020B0604020202020204" pitchFamily="34" charset="0"/>
                <a:cs typeface="Arial" panose="020B0604020202020204" pitchFamily="34" charset="0"/>
              </a:rPr>
              <a:t> </a:t>
            </a:r>
            <a:endParaRPr lang="hr-HR" altLang="sr-Latn-RS" sz="2000">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Date Placeholder 2">
            <a:extLst>
              <a:ext uri="{FF2B5EF4-FFF2-40B4-BE49-F238E27FC236}">
                <a16:creationId xmlns:a16="http://schemas.microsoft.com/office/drawing/2014/main" id="{89B0A200-171C-14D9-A08C-E739C7BC18D6}"/>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4CD6798B-22D6-43FA-B12A-57B7796FBE86}"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02404" name="Slide Number Placeholder 4">
            <a:extLst>
              <a:ext uri="{FF2B5EF4-FFF2-40B4-BE49-F238E27FC236}">
                <a16:creationId xmlns:a16="http://schemas.microsoft.com/office/drawing/2014/main" id="{039C154F-E342-D8A6-6235-8122188D751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60CCBE2B-A309-4231-88D5-4C36B085FCE5}" type="slidenum">
              <a:rPr lang="en-GB" altLang="sr-Latn-RS" sz="1400" smtClean="0">
                <a:latin typeface="Times New Roman" panose="02020603050405020304" pitchFamily="18" charset="0"/>
              </a:rPr>
              <a:pPr>
                <a:spcBef>
                  <a:spcPct val="50000"/>
                </a:spcBef>
                <a:buClrTx/>
                <a:buSzTx/>
                <a:buFontTx/>
                <a:buNone/>
              </a:pPr>
              <a:t>15</a:t>
            </a:fld>
            <a:endParaRPr lang="en-GB" altLang="sr-Latn-RS" sz="1400">
              <a:latin typeface="Times New Roman" panose="02020603050405020304" pitchFamily="18" charset="0"/>
            </a:endParaRPr>
          </a:p>
        </p:txBody>
      </p:sp>
      <p:sp>
        <p:nvSpPr>
          <p:cNvPr id="102405" name="Text Box 2">
            <a:extLst>
              <a:ext uri="{FF2B5EF4-FFF2-40B4-BE49-F238E27FC236}">
                <a16:creationId xmlns:a16="http://schemas.microsoft.com/office/drawing/2014/main" id="{E8B50817-E42E-00F3-A9A3-236E9BB0FAF9}"/>
              </a:ext>
            </a:extLst>
          </p:cNvPr>
          <p:cNvSpPr txBox="1">
            <a:spLocks noChangeArrowheads="1"/>
          </p:cNvSpPr>
          <p:nvPr/>
        </p:nvSpPr>
        <p:spPr bwMode="auto">
          <a:xfrm>
            <a:off x="762000" y="463550"/>
            <a:ext cx="79248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ravnih crta</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a:p>
            <a:pPr algn="ctr" eaLnBrk="1" hangingPunct="1">
              <a:spcBef>
                <a:spcPct val="50000"/>
              </a:spcBef>
              <a:buClrTx/>
              <a:buSzTx/>
              <a:buFontTx/>
              <a:buNone/>
            </a:pPr>
            <a:r>
              <a:rPr lang="hr-HR" altLang="sr-Latn-RS" sz="2400" b="1">
                <a:latin typeface="Arial" panose="020B0604020202020204" pitchFamily="34" charset="0"/>
                <a:cs typeface="Arial" panose="020B0604020202020204" pitchFamily="34" charset="0"/>
              </a:rPr>
              <a:t>Osnovni inkrementalni algoritam</a:t>
            </a:r>
          </a:p>
          <a:p>
            <a:pPr algn="just" eaLnBrk="1" hangingPunct="1">
              <a:spcBef>
                <a:spcPct val="50000"/>
              </a:spcBef>
              <a:buClrTx/>
              <a:buSzTx/>
              <a:buFontTx/>
              <a:buNone/>
            </a:pPr>
            <a:r>
              <a:rPr lang="hr-HR" altLang="sr-Latn-RS" sz="2400">
                <a:latin typeface="Arial" panose="020B0604020202020204" pitchFamily="34" charset="0"/>
                <a:cs typeface="Arial" panose="020B0604020202020204" pitchFamily="34" charset="0"/>
              </a:rPr>
              <a:t> </a:t>
            </a:r>
          </a:p>
        </p:txBody>
      </p:sp>
      <p:sp>
        <p:nvSpPr>
          <p:cNvPr id="102406" name="Rectangle 3">
            <a:extLst>
              <a:ext uri="{FF2B5EF4-FFF2-40B4-BE49-F238E27FC236}">
                <a16:creationId xmlns:a16="http://schemas.microsoft.com/office/drawing/2014/main" id="{EEDBEC80-1A9A-3555-393A-4C16C14F1C50}"/>
              </a:ext>
            </a:extLst>
          </p:cNvPr>
          <p:cNvSpPr>
            <a:spLocks noChangeArrowheads="1"/>
          </p:cNvSpPr>
          <p:nvPr/>
        </p:nvSpPr>
        <p:spPr bwMode="auto">
          <a:xfrm>
            <a:off x="169545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2407" name="Rectangle 4">
            <a:extLst>
              <a:ext uri="{FF2B5EF4-FFF2-40B4-BE49-F238E27FC236}">
                <a16:creationId xmlns:a16="http://schemas.microsoft.com/office/drawing/2014/main" id="{42F86FE3-246C-97D1-D9A9-23263195142F}"/>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2408" name="Rectangle 6">
            <a:extLst>
              <a:ext uri="{FF2B5EF4-FFF2-40B4-BE49-F238E27FC236}">
                <a16:creationId xmlns:a16="http://schemas.microsoft.com/office/drawing/2014/main" id="{1A9865A8-14A4-0901-7E36-8F4AD6A10F76}"/>
              </a:ext>
            </a:extLst>
          </p:cNvPr>
          <p:cNvSpPr>
            <a:spLocks noChangeArrowheads="1"/>
          </p:cNvSpPr>
          <p:nvPr/>
        </p:nvSpPr>
        <p:spPr bwMode="auto">
          <a:xfrm>
            <a:off x="2771775" y="12477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pic>
        <p:nvPicPr>
          <p:cNvPr id="102409" name="Picture 5" descr="Slika24">
            <a:extLst>
              <a:ext uri="{FF2B5EF4-FFF2-40B4-BE49-F238E27FC236}">
                <a16:creationId xmlns:a16="http://schemas.microsoft.com/office/drawing/2014/main" id="{39B7E72E-AEE1-4D47-F847-39D3A460D6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4078"/>
          <a:stretch>
            <a:fillRect/>
          </a:stretch>
        </p:blipFill>
        <p:spPr bwMode="auto">
          <a:xfrm>
            <a:off x="533400" y="1981200"/>
            <a:ext cx="3411538"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10" name="Rectangle 7">
            <a:extLst>
              <a:ext uri="{FF2B5EF4-FFF2-40B4-BE49-F238E27FC236}">
                <a16:creationId xmlns:a16="http://schemas.microsoft.com/office/drawing/2014/main" id="{16AB64A5-2EF0-4382-E987-A3FD1B2F9956}"/>
              </a:ext>
            </a:extLst>
          </p:cNvPr>
          <p:cNvSpPr>
            <a:spLocks noChangeArrowheads="1"/>
          </p:cNvSpPr>
          <p:nvPr/>
        </p:nvSpPr>
        <p:spPr bwMode="auto">
          <a:xfrm>
            <a:off x="4191000" y="2057400"/>
            <a:ext cx="4419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hr-HR" altLang="sr-Latn-RS" sz="2000" i="1">
                <a:latin typeface="Arial" panose="020B0604020202020204" pitchFamily="34" charset="0"/>
                <a:cs typeface="Arial" panose="020B0604020202020204" pitchFamily="34" charset="0"/>
              </a:rPr>
              <a:t>Primjer:</a:t>
            </a:r>
            <a:endParaRPr lang="hr-HR" altLang="sr-Latn-RS" sz="2000">
              <a:latin typeface="Arial" panose="020B0604020202020204" pitchFamily="34" charset="0"/>
              <a:cs typeface="Arial" panose="020B0604020202020204" pitchFamily="34" charset="0"/>
            </a:endParaRPr>
          </a:p>
          <a:p>
            <a:pPr>
              <a:spcBef>
                <a:spcPct val="0"/>
              </a:spcBef>
              <a:buClrTx/>
              <a:buSzTx/>
              <a:buFontTx/>
              <a:buNone/>
            </a:pPr>
            <a:r>
              <a:rPr lang="hr-HR" altLang="sr-Latn-RS" sz="2000">
                <a:latin typeface="Arial" panose="020B0604020202020204" pitchFamily="34" charset="0"/>
                <a:cs typeface="Arial" panose="020B0604020202020204" pitchFamily="34" charset="0"/>
              </a:rPr>
              <a:t> </a:t>
            </a:r>
          </a:p>
          <a:p>
            <a:pPr>
              <a:spcBef>
                <a:spcPct val="0"/>
              </a:spcBef>
              <a:buClrTx/>
              <a:buSzTx/>
              <a:buFontTx/>
              <a:buNone/>
            </a:pPr>
            <a:r>
              <a:rPr lang="hr-HR" altLang="sr-Latn-RS" sz="2000">
                <a:latin typeface="Arial" panose="020B0604020202020204" pitchFamily="34" charset="0"/>
                <a:cs typeface="Arial" panose="020B0604020202020204" pitchFamily="34" charset="0"/>
              </a:rPr>
              <a:t>Primjenom osnovnog inkrementalnog algoritma odredite niz piksela koji aproksimiraju ravnu crtu povezuje točke (5,8) i (10,11)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Date Placeholder 2">
            <a:extLst>
              <a:ext uri="{FF2B5EF4-FFF2-40B4-BE49-F238E27FC236}">
                <a16:creationId xmlns:a16="http://schemas.microsoft.com/office/drawing/2014/main" id="{781B21B7-009D-F96A-8F79-4C000F5A246A}"/>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C8A61CAA-C051-469D-9B70-8F70B920E299}"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04452" name="Slide Number Placeholder 4">
            <a:extLst>
              <a:ext uri="{FF2B5EF4-FFF2-40B4-BE49-F238E27FC236}">
                <a16:creationId xmlns:a16="http://schemas.microsoft.com/office/drawing/2014/main" id="{A116A399-E800-FEDE-2B74-F4F2DD3236E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C8D30342-8CF1-4BB0-A5C3-3D5181AAAF29}" type="slidenum">
              <a:rPr lang="en-GB" altLang="sr-Latn-RS" sz="1400" smtClean="0">
                <a:latin typeface="Times New Roman" panose="02020603050405020304" pitchFamily="18" charset="0"/>
              </a:rPr>
              <a:pPr>
                <a:spcBef>
                  <a:spcPct val="50000"/>
                </a:spcBef>
                <a:buClrTx/>
                <a:buSzTx/>
                <a:buFontTx/>
                <a:buNone/>
              </a:pPr>
              <a:t>16</a:t>
            </a:fld>
            <a:endParaRPr lang="en-GB" altLang="sr-Latn-RS" sz="1400">
              <a:latin typeface="Times New Roman" panose="02020603050405020304" pitchFamily="18" charset="0"/>
            </a:endParaRPr>
          </a:p>
        </p:txBody>
      </p:sp>
      <p:sp>
        <p:nvSpPr>
          <p:cNvPr id="104453" name="Text Box 2">
            <a:extLst>
              <a:ext uri="{FF2B5EF4-FFF2-40B4-BE49-F238E27FC236}">
                <a16:creationId xmlns:a16="http://schemas.microsoft.com/office/drawing/2014/main" id="{139F6010-8AED-581E-08C4-5DC983729302}"/>
              </a:ext>
            </a:extLst>
          </p:cNvPr>
          <p:cNvSpPr txBox="1">
            <a:spLocks noChangeArrowheads="1"/>
          </p:cNvSpPr>
          <p:nvPr/>
        </p:nvSpPr>
        <p:spPr bwMode="auto">
          <a:xfrm>
            <a:off x="762000" y="436563"/>
            <a:ext cx="7924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ravnih crta</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a:p>
            <a:pPr algn="ctr" eaLnBrk="1" hangingPunct="1">
              <a:spcBef>
                <a:spcPct val="50000"/>
              </a:spcBef>
              <a:buClrTx/>
              <a:buSzTx/>
              <a:buFontTx/>
              <a:buNone/>
            </a:pPr>
            <a:r>
              <a:rPr lang="hr-HR" altLang="sr-Latn-RS" sz="2400" b="1">
                <a:latin typeface="Arial" panose="020B0604020202020204" pitchFamily="34" charset="0"/>
                <a:cs typeface="Arial" panose="020B0604020202020204" pitchFamily="34" charset="0"/>
              </a:rPr>
              <a:t>Digitalni diferencijalni analizator (DDA)</a:t>
            </a:r>
            <a:r>
              <a:rPr lang="en-GB" altLang="sr-Latn-RS" sz="2400" b="1">
                <a:latin typeface="Arial" panose="020B0604020202020204" pitchFamily="34" charset="0"/>
                <a:cs typeface="Arial" panose="020B0604020202020204" pitchFamily="34" charset="0"/>
              </a:rPr>
              <a:t> </a:t>
            </a:r>
            <a:r>
              <a:rPr lang="hr-HR" altLang="sr-Latn-RS" sz="2400">
                <a:latin typeface="Arial" panose="020B0604020202020204" pitchFamily="34" charset="0"/>
                <a:cs typeface="Arial" panose="020B0604020202020204" pitchFamily="34" charset="0"/>
              </a:rPr>
              <a:t> </a:t>
            </a:r>
          </a:p>
        </p:txBody>
      </p:sp>
      <p:sp>
        <p:nvSpPr>
          <p:cNvPr id="104454" name="Rectangle 4">
            <a:extLst>
              <a:ext uri="{FF2B5EF4-FFF2-40B4-BE49-F238E27FC236}">
                <a16:creationId xmlns:a16="http://schemas.microsoft.com/office/drawing/2014/main" id="{09DDB0DA-419B-74CA-DFBA-D20DC7EE4B72}"/>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4455" name="Rectangle 5">
            <a:extLst>
              <a:ext uri="{FF2B5EF4-FFF2-40B4-BE49-F238E27FC236}">
                <a16:creationId xmlns:a16="http://schemas.microsoft.com/office/drawing/2014/main" id="{40162CAA-52D7-671D-8F80-934978CB3B9F}"/>
              </a:ext>
            </a:extLst>
          </p:cNvPr>
          <p:cNvSpPr>
            <a:spLocks noChangeArrowheads="1"/>
          </p:cNvSpPr>
          <p:nvPr/>
        </p:nvSpPr>
        <p:spPr bwMode="auto">
          <a:xfrm>
            <a:off x="2771775" y="12477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4456" name="Rectangle 7">
            <a:extLst>
              <a:ext uri="{FF2B5EF4-FFF2-40B4-BE49-F238E27FC236}">
                <a16:creationId xmlns:a16="http://schemas.microsoft.com/office/drawing/2014/main" id="{CC62D4D7-9CB8-1AB6-69E2-1B032A197811}"/>
              </a:ext>
            </a:extLst>
          </p:cNvPr>
          <p:cNvSpPr>
            <a:spLocks noChangeArrowheads="1"/>
          </p:cNvSpPr>
          <p:nvPr/>
        </p:nvSpPr>
        <p:spPr bwMode="auto">
          <a:xfrm>
            <a:off x="990600" y="1844675"/>
            <a:ext cx="6477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Char char="•"/>
            </a:pPr>
            <a:r>
              <a:rPr lang="hr-HR" altLang="sr-Latn-RS" sz="2000">
                <a:latin typeface="Arial" panose="020B0604020202020204" pitchFamily="34" charset="0"/>
                <a:cs typeface="Arial" panose="020B0604020202020204" pitchFamily="34" charset="0"/>
              </a:rPr>
              <a:t> izbjegava množenje realnih brojeva</a:t>
            </a:r>
          </a:p>
          <a:p>
            <a:pPr eaLnBrk="1" hangingPunct="1">
              <a:spcBef>
                <a:spcPct val="0"/>
              </a:spcBef>
              <a:buClrTx/>
              <a:buSzTx/>
              <a:buFontTx/>
              <a:buNone/>
            </a:pPr>
            <a:endParaRPr lang="hr-HR" altLang="sr-Latn-RS" sz="2000">
              <a:latin typeface="Arial" panose="020B0604020202020204" pitchFamily="34" charset="0"/>
              <a:cs typeface="Arial" panose="020B0604020202020204" pitchFamily="34" charset="0"/>
            </a:endParaRPr>
          </a:p>
          <a:p>
            <a:pPr eaLnBrk="1" hangingPunct="1">
              <a:spcBef>
                <a:spcPct val="0"/>
              </a:spcBef>
              <a:buClrTx/>
              <a:buSzTx/>
              <a:buFontTx/>
              <a:buChar char="•"/>
            </a:pPr>
            <a:r>
              <a:rPr lang="hr-HR" altLang="sr-Latn-RS" sz="2000">
                <a:latin typeface="Arial" panose="020B0604020202020204" pitchFamily="34" charset="0"/>
                <a:cs typeface="Arial" panose="020B0604020202020204" pitchFamily="34" charset="0"/>
              </a:rPr>
              <a:t> izraz za proračun vrijednosti koordinate y :</a:t>
            </a:r>
          </a:p>
        </p:txBody>
      </p:sp>
      <p:sp>
        <p:nvSpPr>
          <p:cNvPr id="104457" name="Rectangle 9">
            <a:extLst>
              <a:ext uri="{FF2B5EF4-FFF2-40B4-BE49-F238E27FC236}">
                <a16:creationId xmlns:a16="http://schemas.microsoft.com/office/drawing/2014/main" id="{78416916-B48A-9C50-56F4-9DA2EB869098}"/>
              </a:ext>
            </a:extLst>
          </p:cNvPr>
          <p:cNvSpPr>
            <a:spLocks noChangeArrowheads="1"/>
          </p:cNvSpPr>
          <p:nvPr/>
        </p:nvSpPr>
        <p:spPr bwMode="auto">
          <a:xfrm>
            <a:off x="3100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aphicFrame>
        <p:nvGraphicFramePr>
          <p:cNvPr id="104458" name="Object 8">
            <a:extLst>
              <a:ext uri="{FF2B5EF4-FFF2-40B4-BE49-F238E27FC236}">
                <a16:creationId xmlns:a16="http://schemas.microsoft.com/office/drawing/2014/main" id="{57C93F8C-5B30-6CA3-3454-6BCE85B691B1}"/>
              </a:ext>
            </a:extLst>
          </p:cNvPr>
          <p:cNvGraphicFramePr>
            <a:graphicFrameLocks noChangeAspect="1"/>
          </p:cNvGraphicFramePr>
          <p:nvPr/>
        </p:nvGraphicFramePr>
        <p:xfrm>
          <a:off x="1268413" y="3081338"/>
          <a:ext cx="5921375" cy="466725"/>
        </p:xfrm>
        <a:graphic>
          <a:graphicData uri="http://schemas.openxmlformats.org/presentationml/2006/ole">
            <mc:AlternateContent xmlns:mc="http://schemas.openxmlformats.org/markup-compatibility/2006">
              <mc:Choice xmlns:v="urn:schemas-microsoft-com:vml" Requires="v">
                <p:oleObj name="Equation" r:id="rId3" imgW="2400300" imgH="190500" progId="Equation.3">
                  <p:embed/>
                </p:oleObj>
              </mc:Choice>
              <mc:Fallback>
                <p:oleObj name="Equation" r:id="rId3" imgW="2400300" imgH="190500" progId="Equation.3">
                  <p:embed/>
                  <p:pic>
                    <p:nvPicPr>
                      <p:cNvPr id="104458" name="Object 8">
                        <a:extLst>
                          <a:ext uri="{FF2B5EF4-FFF2-40B4-BE49-F238E27FC236}">
                            <a16:creationId xmlns:a16="http://schemas.microsoft.com/office/drawing/2014/main" id="{57C93F8C-5B30-6CA3-3454-6BCE85B691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8413" y="3081338"/>
                        <a:ext cx="5921375" cy="466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4459" name="Rectangle 11">
            <a:extLst>
              <a:ext uri="{FF2B5EF4-FFF2-40B4-BE49-F238E27FC236}">
                <a16:creationId xmlns:a16="http://schemas.microsoft.com/office/drawing/2014/main" id="{56BD7070-8CC0-07E3-8431-8196F1E9C71D}"/>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aphicFrame>
        <p:nvGraphicFramePr>
          <p:cNvPr id="104460" name="Object 10">
            <a:extLst>
              <a:ext uri="{FF2B5EF4-FFF2-40B4-BE49-F238E27FC236}">
                <a16:creationId xmlns:a16="http://schemas.microsoft.com/office/drawing/2014/main" id="{CB052F9A-2282-6044-FF06-DA64B083216B}"/>
              </a:ext>
            </a:extLst>
          </p:cNvPr>
          <p:cNvGraphicFramePr>
            <a:graphicFrameLocks noChangeAspect="1"/>
          </p:cNvGraphicFramePr>
          <p:nvPr/>
        </p:nvGraphicFramePr>
        <p:xfrm>
          <a:off x="1316038" y="3865563"/>
          <a:ext cx="1292225" cy="388937"/>
        </p:xfrm>
        <a:graphic>
          <a:graphicData uri="http://schemas.openxmlformats.org/presentationml/2006/ole">
            <mc:AlternateContent xmlns:mc="http://schemas.openxmlformats.org/markup-compatibility/2006">
              <mc:Choice xmlns:v="urn:schemas-microsoft-com:vml" Requires="v">
                <p:oleObj name="Equation" r:id="rId5" imgW="520474" imgH="152334" progId="Equation.3">
                  <p:embed/>
                </p:oleObj>
              </mc:Choice>
              <mc:Fallback>
                <p:oleObj name="Equation" r:id="rId5" imgW="520474" imgH="152334" progId="Equation.3">
                  <p:embed/>
                  <p:pic>
                    <p:nvPicPr>
                      <p:cNvPr id="104460" name="Object 10">
                        <a:extLst>
                          <a:ext uri="{FF2B5EF4-FFF2-40B4-BE49-F238E27FC236}">
                            <a16:creationId xmlns:a16="http://schemas.microsoft.com/office/drawing/2014/main" id="{CB052F9A-2282-6044-FF06-DA64B08321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16038" y="3865563"/>
                        <a:ext cx="1292225" cy="3889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4461" name="Rectangle 13">
            <a:extLst>
              <a:ext uri="{FF2B5EF4-FFF2-40B4-BE49-F238E27FC236}">
                <a16:creationId xmlns:a16="http://schemas.microsoft.com/office/drawing/2014/main" id="{1BAA3496-C4C7-F250-29B6-1827ED1B6CBB}"/>
              </a:ext>
            </a:extLst>
          </p:cNvPr>
          <p:cNvSpPr>
            <a:spLocks noChangeArrowheads="1"/>
          </p:cNvSpPr>
          <p:nvPr/>
        </p:nvSpPr>
        <p:spPr bwMode="auto">
          <a:xfrm>
            <a:off x="413385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aphicFrame>
        <p:nvGraphicFramePr>
          <p:cNvPr id="104462" name="Object 12">
            <a:extLst>
              <a:ext uri="{FF2B5EF4-FFF2-40B4-BE49-F238E27FC236}">
                <a16:creationId xmlns:a16="http://schemas.microsoft.com/office/drawing/2014/main" id="{76D68765-45CB-A03F-2A9B-CD1C5C0D8F35}"/>
              </a:ext>
            </a:extLst>
          </p:cNvPr>
          <p:cNvGraphicFramePr>
            <a:graphicFrameLocks noChangeAspect="1"/>
          </p:cNvGraphicFramePr>
          <p:nvPr/>
        </p:nvGraphicFramePr>
        <p:xfrm>
          <a:off x="2916238" y="3789363"/>
          <a:ext cx="1905000" cy="496887"/>
        </p:xfrm>
        <a:graphic>
          <a:graphicData uri="http://schemas.openxmlformats.org/presentationml/2006/ole">
            <mc:AlternateContent xmlns:mc="http://schemas.openxmlformats.org/markup-compatibility/2006">
              <mc:Choice xmlns:v="urn:schemas-microsoft-com:vml" Requires="v">
                <p:oleObj r:id="rId7" imgW="723586" imgH="190417" progId="Equation.3">
                  <p:embed/>
                </p:oleObj>
              </mc:Choice>
              <mc:Fallback>
                <p:oleObj r:id="rId7" imgW="723586" imgH="190417" progId="Equation.3">
                  <p:embed/>
                  <p:pic>
                    <p:nvPicPr>
                      <p:cNvPr id="104462" name="Object 12">
                        <a:extLst>
                          <a:ext uri="{FF2B5EF4-FFF2-40B4-BE49-F238E27FC236}">
                            <a16:creationId xmlns:a16="http://schemas.microsoft.com/office/drawing/2014/main" id="{76D68765-45CB-A03F-2A9B-CD1C5C0D8F3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6238" y="3789363"/>
                        <a:ext cx="1905000" cy="496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4463" name="Rectangle 14">
            <a:extLst>
              <a:ext uri="{FF2B5EF4-FFF2-40B4-BE49-F238E27FC236}">
                <a16:creationId xmlns:a16="http://schemas.microsoft.com/office/drawing/2014/main" id="{6B745588-CBCA-EF64-D457-19DF8A13BE0E}"/>
              </a:ext>
            </a:extLst>
          </p:cNvPr>
          <p:cNvSpPr>
            <a:spLocks noChangeArrowheads="1"/>
          </p:cNvSpPr>
          <p:nvPr/>
        </p:nvSpPr>
        <p:spPr bwMode="auto">
          <a:xfrm>
            <a:off x="1143000" y="4624388"/>
            <a:ext cx="7010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hr-HR" altLang="sr-Latn-RS" sz="2000">
                <a:latin typeface="Arial" panose="020B0604020202020204" pitchFamily="34" charset="0"/>
                <a:cs typeface="Arial" panose="020B0604020202020204" pitchFamily="34" charset="0"/>
              </a:rPr>
              <a:t>ako je |m| &gt; 1 mijenjaju se uloge x i y koordinata u algoritmu</a:t>
            </a:r>
            <a:r>
              <a:rPr lang="en-GB" altLang="sr-Latn-RS" sz="2000">
                <a:latin typeface="Arial" panose="020B0604020202020204" pitchFamily="34" charset="0"/>
                <a:cs typeface="Arial" panose="020B0604020202020204" pitchFamily="34" charset="0"/>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Date Placeholder 2">
            <a:extLst>
              <a:ext uri="{FF2B5EF4-FFF2-40B4-BE49-F238E27FC236}">
                <a16:creationId xmlns:a16="http://schemas.microsoft.com/office/drawing/2014/main" id="{86F423C6-8304-05E1-2011-9AF5F5D8A6EC}"/>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220B0836-A851-4FF7-92D5-28FB7202596A}"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06500" name="Slide Number Placeholder 4">
            <a:extLst>
              <a:ext uri="{FF2B5EF4-FFF2-40B4-BE49-F238E27FC236}">
                <a16:creationId xmlns:a16="http://schemas.microsoft.com/office/drawing/2014/main" id="{6F1E0EDE-BB8E-6F31-9C2A-30C66547464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2706F7E0-85C2-4930-A739-952508C29412}" type="slidenum">
              <a:rPr lang="en-GB" altLang="sr-Latn-RS" sz="1400" smtClean="0">
                <a:latin typeface="Times New Roman" panose="02020603050405020304" pitchFamily="18" charset="0"/>
              </a:rPr>
              <a:pPr>
                <a:spcBef>
                  <a:spcPct val="50000"/>
                </a:spcBef>
                <a:buClrTx/>
                <a:buSzTx/>
                <a:buFontTx/>
                <a:buNone/>
              </a:pPr>
              <a:t>17</a:t>
            </a:fld>
            <a:endParaRPr lang="en-GB" altLang="sr-Latn-RS" sz="1400">
              <a:latin typeface="Times New Roman" panose="02020603050405020304" pitchFamily="18" charset="0"/>
            </a:endParaRPr>
          </a:p>
        </p:txBody>
      </p:sp>
      <p:sp>
        <p:nvSpPr>
          <p:cNvPr id="106501" name="Text Box 2">
            <a:extLst>
              <a:ext uri="{FF2B5EF4-FFF2-40B4-BE49-F238E27FC236}">
                <a16:creationId xmlns:a16="http://schemas.microsoft.com/office/drawing/2014/main" id="{6C678051-AF08-527F-DBE3-CA45E5BCC465}"/>
              </a:ext>
            </a:extLst>
          </p:cNvPr>
          <p:cNvSpPr txBox="1">
            <a:spLocks noChangeArrowheads="1"/>
          </p:cNvSpPr>
          <p:nvPr/>
        </p:nvSpPr>
        <p:spPr bwMode="auto">
          <a:xfrm>
            <a:off x="762000" y="549275"/>
            <a:ext cx="7924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ravnih crta</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a:p>
            <a:pPr algn="ctr" eaLnBrk="1" hangingPunct="1">
              <a:spcBef>
                <a:spcPct val="50000"/>
              </a:spcBef>
              <a:buClrTx/>
              <a:buSzTx/>
              <a:buFontTx/>
              <a:buNone/>
            </a:pPr>
            <a:r>
              <a:rPr lang="hr-HR" altLang="sr-Latn-RS" sz="2400" b="1">
                <a:latin typeface="Arial" panose="020B0604020202020204" pitchFamily="34" charset="0"/>
                <a:cs typeface="Arial" panose="020B0604020202020204" pitchFamily="34" charset="0"/>
              </a:rPr>
              <a:t>Digitalni diferencijalni analizator (DDA)</a:t>
            </a:r>
            <a:r>
              <a:rPr lang="en-GB" altLang="sr-Latn-RS" sz="2400" b="1">
                <a:latin typeface="Arial" panose="020B0604020202020204" pitchFamily="34" charset="0"/>
                <a:cs typeface="Arial" panose="020B0604020202020204" pitchFamily="34" charset="0"/>
              </a:rPr>
              <a:t> </a:t>
            </a:r>
            <a:r>
              <a:rPr lang="hr-HR" altLang="sr-Latn-RS" sz="2400">
                <a:latin typeface="Arial" panose="020B0604020202020204" pitchFamily="34" charset="0"/>
                <a:cs typeface="Arial" panose="020B0604020202020204" pitchFamily="34" charset="0"/>
              </a:rPr>
              <a:t> </a:t>
            </a:r>
          </a:p>
        </p:txBody>
      </p:sp>
      <p:sp>
        <p:nvSpPr>
          <p:cNvPr id="106502" name="Rectangle 3">
            <a:extLst>
              <a:ext uri="{FF2B5EF4-FFF2-40B4-BE49-F238E27FC236}">
                <a16:creationId xmlns:a16="http://schemas.microsoft.com/office/drawing/2014/main" id="{0F583ED9-B8CD-F30C-8E04-A91576728837}"/>
              </a:ext>
            </a:extLst>
          </p:cNvPr>
          <p:cNvSpPr>
            <a:spLocks noChangeArrowheads="1"/>
          </p:cNvSpPr>
          <p:nvPr/>
        </p:nvSpPr>
        <p:spPr bwMode="auto">
          <a:xfrm>
            <a:off x="169545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6503" name="Rectangle 4">
            <a:extLst>
              <a:ext uri="{FF2B5EF4-FFF2-40B4-BE49-F238E27FC236}">
                <a16:creationId xmlns:a16="http://schemas.microsoft.com/office/drawing/2014/main" id="{78303B7F-DFDD-F0D4-99F6-00CD0E36876E}"/>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6504" name="Rectangle 5">
            <a:extLst>
              <a:ext uri="{FF2B5EF4-FFF2-40B4-BE49-F238E27FC236}">
                <a16:creationId xmlns:a16="http://schemas.microsoft.com/office/drawing/2014/main" id="{095F38B4-4E17-5E33-6331-A4D05422F316}"/>
              </a:ext>
            </a:extLst>
          </p:cNvPr>
          <p:cNvSpPr>
            <a:spLocks noChangeArrowheads="1"/>
          </p:cNvSpPr>
          <p:nvPr/>
        </p:nvSpPr>
        <p:spPr bwMode="auto">
          <a:xfrm>
            <a:off x="2771775" y="12477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6505" name="Rectangle 6">
            <a:extLst>
              <a:ext uri="{FF2B5EF4-FFF2-40B4-BE49-F238E27FC236}">
                <a16:creationId xmlns:a16="http://schemas.microsoft.com/office/drawing/2014/main" id="{DB6F5B18-B628-FE73-8C57-09CAC237FC28}"/>
              </a:ext>
            </a:extLst>
          </p:cNvPr>
          <p:cNvSpPr>
            <a:spLocks noChangeArrowheads="1"/>
          </p:cNvSpPr>
          <p:nvPr/>
        </p:nvSpPr>
        <p:spPr bwMode="auto">
          <a:xfrm>
            <a:off x="990600" y="2286000"/>
            <a:ext cx="76200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hr-HR" altLang="sr-Latn-RS" sz="2000">
                <a:latin typeface="Arial" panose="020B0604020202020204" pitchFamily="34" charset="0"/>
                <a:cs typeface="Arial" panose="020B0604020202020204" pitchFamily="34" charset="0"/>
              </a:rPr>
              <a:t>Nedostatak:</a:t>
            </a:r>
          </a:p>
          <a:p>
            <a:pPr eaLnBrk="1" hangingPunct="1">
              <a:spcBef>
                <a:spcPct val="0"/>
              </a:spcBef>
              <a:buClrTx/>
              <a:buSzTx/>
              <a:buFontTx/>
              <a:buChar char="•"/>
            </a:pPr>
            <a:endParaRPr lang="hr-HR" altLang="sr-Latn-RS" sz="2000">
              <a:latin typeface="Arial" panose="020B0604020202020204" pitchFamily="34" charset="0"/>
              <a:cs typeface="Arial" panose="020B0604020202020204" pitchFamily="34" charset="0"/>
            </a:endParaRPr>
          </a:p>
          <a:p>
            <a:pPr eaLnBrk="1" hangingPunct="1">
              <a:spcBef>
                <a:spcPct val="0"/>
              </a:spcBef>
              <a:buClrTx/>
              <a:buSzTx/>
              <a:buFontTx/>
              <a:buChar char="•"/>
            </a:pPr>
            <a:r>
              <a:rPr lang="hr-HR" altLang="sr-Latn-RS" sz="2000">
                <a:latin typeface="Arial" panose="020B0604020202020204" pitchFamily="34" charset="0"/>
                <a:cs typeface="Arial" panose="020B0604020202020204" pitchFamily="34" charset="0"/>
              </a:rPr>
              <a:t> zbog nepreciznosti prikaza realnih brojeva u digitalnim procesorima dodavanje ne sasvim točne vrijednosti unosi  kumulativnu pogrešku i otklon od stvarne vrijednosti</a:t>
            </a:r>
          </a:p>
          <a:p>
            <a:pPr eaLnBrk="1" hangingPunct="1">
              <a:spcBef>
                <a:spcPct val="0"/>
              </a:spcBef>
              <a:buClrTx/>
              <a:buSzTx/>
              <a:buFontTx/>
              <a:buChar char="•"/>
            </a:pPr>
            <a:endParaRPr lang="hr-HR" altLang="sr-Latn-RS" sz="2000">
              <a:latin typeface="Arial" panose="020B0604020202020204" pitchFamily="34" charset="0"/>
              <a:cs typeface="Arial" panose="020B0604020202020204" pitchFamily="34" charset="0"/>
            </a:endParaRPr>
          </a:p>
          <a:p>
            <a:pPr eaLnBrk="1" hangingPunct="1">
              <a:spcBef>
                <a:spcPct val="0"/>
              </a:spcBef>
              <a:buClrTx/>
              <a:buSzTx/>
              <a:buFontTx/>
              <a:buChar char="•"/>
            </a:pPr>
            <a:r>
              <a:rPr lang="hr-HR" altLang="sr-Latn-RS" sz="2000">
                <a:latin typeface="Arial" panose="020B0604020202020204" pitchFamily="34" charset="0"/>
                <a:cs typeface="Arial" panose="020B0604020202020204" pitchFamily="34" charset="0"/>
              </a:rPr>
              <a:t> za kratke crte razina pogreške je prihvatljiva</a:t>
            </a:r>
          </a:p>
        </p:txBody>
      </p:sp>
      <p:sp>
        <p:nvSpPr>
          <p:cNvPr id="106506" name="Rectangle 7">
            <a:extLst>
              <a:ext uri="{FF2B5EF4-FFF2-40B4-BE49-F238E27FC236}">
                <a16:creationId xmlns:a16="http://schemas.microsoft.com/office/drawing/2014/main" id="{7730E348-42B7-3A8C-CA2A-E5CBE3EA079D}"/>
              </a:ext>
            </a:extLst>
          </p:cNvPr>
          <p:cNvSpPr>
            <a:spLocks noChangeArrowheads="1"/>
          </p:cNvSpPr>
          <p:nvPr/>
        </p:nvSpPr>
        <p:spPr bwMode="auto">
          <a:xfrm>
            <a:off x="3100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6507" name="Rectangle 9">
            <a:extLst>
              <a:ext uri="{FF2B5EF4-FFF2-40B4-BE49-F238E27FC236}">
                <a16:creationId xmlns:a16="http://schemas.microsoft.com/office/drawing/2014/main" id="{56035EDB-16CC-4BC7-D9D7-DB92DF0DB2EB}"/>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6508" name="Rectangle 11">
            <a:extLst>
              <a:ext uri="{FF2B5EF4-FFF2-40B4-BE49-F238E27FC236}">
                <a16:creationId xmlns:a16="http://schemas.microsoft.com/office/drawing/2014/main" id="{8437B6E8-B5C4-B414-F84C-393F56C1F1F3}"/>
              </a:ext>
            </a:extLst>
          </p:cNvPr>
          <p:cNvSpPr>
            <a:spLocks noChangeArrowheads="1"/>
          </p:cNvSpPr>
          <p:nvPr/>
        </p:nvSpPr>
        <p:spPr bwMode="auto">
          <a:xfrm>
            <a:off x="413385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8546" name="Date Placeholder 2">
            <a:extLst>
              <a:ext uri="{FF2B5EF4-FFF2-40B4-BE49-F238E27FC236}">
                <a16:creationId xmlns:a16="http://schemas.microsoft.com/office/drawing/2014/main" id="{691944AC-6801-F973-3A5C-A69272FDDCDA}"/>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8E1CFADF-9CED-463A-B8D6-4A4190B45981}"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08548" name="Slide Number Placeholder 4">
            <a:extLst>
              <a:ext uri="{FF2B5EF4-FFF2-40B4-BE49-F238E27FC236}">
                <a16:creationId xmlns:a16="http://schemas.microsoft.com/office/drawing/2014/main" id="{434A769A-5C12-C047-C638-DA74BD6A25B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C5BC658C-02A4-4486-8054-B19563291EF6}" type="slidenum">
              <a:rPr lang="en-GB" altLang="sr-Latn-RS" sz="1400" smtClean="0">
                <a:latin typeface="Times New Roman" panose="02020603050405020304" pitchFamily="18" charset="0"/>
              </a:rPr>
              <a:pPr>
                <a:spcBef>
                  <a:spcPct val="50000"/>
                </a:spcBef>
                <a:buClrTx/>
                <a:buSzTx/>
                <a:buFontTx/>
                <a:buNone/>
              </a:pPr>
              <a:t>18</a:t>
            </a:fld>
            <a:endParaRPr lang="en-GB" altLang="sr-Latn-RS" sz="1400">
              <a:latin typeface="Times New Roman" panose="02020603050405020304" pitchFamily="18" charset="0"/>
            </a:endParaRPr>
          </a:p>
        </p:txBody>
      </p:sp>
      <p:sp>
        <p:nvSpPr>
          <p:cNvPr id="108549" name="Text Box 2">
            <a:extLst>
              <a:ext uri="{FF2B5EF4-FFF2-40B4-BE49-F238E27FC236}">
                <a16:creationId xmlns:a16="http://schemas.microsoft.com/office/drawing/2014/main" id="{6470B63A-CCB3-FC57-292D-831095D26A01}"/>
              </a:ext>
            </a:extLst>
          </p:cNvPr>
          <p:cNvSpPr txBox="1">
            <a:spLocks noChangeArrowheads="1"/>
          </p:cNvSpPr>
          <p:nvPr/>
        </p:nvSpPr>
        <p:spPr bwMode="auto">
          <a:xfrm>
            <a:off x="755650" y="404813"/>
            <a:ext cx="7924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ravnih crta</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a:p>
            <a:pPr algn="ctr" eaLnBrk="1" hangingPunct="1">
              <a:spcBef>
                <a:spcPct val="50000"/>
              </a:spcBef>
              <a:buClrTx/>
              <a:buSzTx/>
              <a:buFontTx/>
              <a:buNone/>
            </a:pPr>
            <a:r>
              <a:rPr lang="hr-HR" altLang="sr-Latn-RS" sz="2400" b="1">
                <a:latin typeface="Arial" panose="020B0604020202020204" pitchFamily="34" charset="0"/>
                <a:cs typeface="Arial" panose="020B0604020202020204" pitchFamily="34" charset="0"/>
              </a:rPr>
              <a:t>Digitalni diferencijalni analizator (DDA)</a:t>
            </a:r>
            <a:r>
              <a:rPr lang="en-GB" altLang="sr-Latn-RS" sz="2400" b="1">
                <a:latin typeface="Arial" panose="020B0604020202020204" pitchFamily="34" charset="0"/>
                <a:cs typeface="Arial" panose="020B0604020202020204" pitchFamily="34" charset="0"/>
              </a:rPr>
              <a:t> </a:t>
            </a:r>
            <a:r>
              <a:rPr lang="hr-HR" altLang="sr-Latn-RS" sz="2400">
                <a:latin typeface="Arial" panose="020B0604020202020204" pitchFamily="34" charset="0"/>
                <a:cs typeface="Arial" panose="020B0604020202020204" pitchFamily="34" charset="0"/>
              </a:rPr>
              <a:t> </a:t>
            </a:r>
          </a:p>
        </p:txBody>
      </p:sp>
      <p:sp>
        <p:nvSpPr>
          <p:cNvPr id="108550" name="Rectangle 3">
            <a:extLst>
              <a:ext uri="{FF2B5EF4-FFF2-40B4-BE49-F238E27FC236}">
                <a16:creationId xmlns:a16="http://schemas.microsoft.com/office/drawing/2014/main" id="{0704DAF4-8AD6-1463-C7E6-B04111D7A4A9}"/>
              </a:ext>
            </a:extLst>
          </p:cNvPr>
          <p:cNvSpPr>
            <a:spLocks noChangeArrowheads="1"/>
          </p:cNvSpPr>
          <p:nvPr/>
        </p:nvSpPr>
        <p:spPr bwMode="auto">
          <a:xfrm>
            <a:off x="169545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8551" name="Rectangle 4">
            <a:extLst>
              <a:ext uri="{FF2B5EF4-FFF2-40B4-BE49-F238E27FC236}">
                <a16:creationId xmlns:a16="http://schemas.microsoft.com/office/drawing/2014/main" id="{E2CC95C3-DFAE-CE5B-904D-C8688C91ABA0}"/>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8552" name="Rectangle 7">
            <a:extLst>
              <a:ext uri="{FF2B5EF4-FFF2-40B4-BE49-F238E27FC236}">
                <a16:creationId xmlns:a16="http://schemas.microsoft.com/office/drawing/2014/main" id="{8FC4E017-C199-3CE8-4601-935E26203DEF}"/>
              </a:ext>
            </a:extLst>
          </p:cNvPr>
          <p:cNvSpPr>
            <a:spLocks noChangeArrowheads="1"/>
          </p:cNvSpPr>
          <p:nvPr/>
        </p:nvSpPr>
        <p:spPr bwMode="auto">
          <a:xfrm>
            <a:off x="3100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8553" name="Rectangle 8">
            <a:extLst>
              <a:ext uri="{FF2B5EF4-FFF2-40B4-BE49-F238E27FC236}">
                <a16:creationId xmlns:a16="http://schemas.microsoft.com/office/drawing/2014/main" id="{8D1F1247-43A9-885B-E308-190641F61F2F}"/>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08554" name="Rectangle 12">
            <a:extLst>
              <a:ext uri="{FF2B5EF4-FFF2-40B4-BE49-F238E27FC236}">
                <a16:creationId xmlns:a16="http://schemas.microsoft.com/office/drawing/2014/main" id="{DD5B82AE-B8A4-A6A5-D8D9-A007A49DBE93}"/>
              </a:ext>
            </a:extLst>
          </p:cNvPr>
          <p:cNvSpPr>
            <a:spLocks noChangeArrowheads="1"/>
          </p:cNvSpPr>
          <p:nvPr/>
        </p:nvSpPr>
        <p:spPr bwMode="auto">
          <a:xfrm>
            <a:off x="304800" y="1917700"/>
            <a:ext cx="8458200" cy="4248150"/>
          </a:xfrm>
          <a:prstGeom prst="rect">
            <a:avLst/>
          </a:prstGeom>
          <a:solidFill>
            <a:srgbClr val="E0E0E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hr-HR" altLang="sr-Latn-RS" sz="1600" b="1">
                <a:latin typeface="Arial" panose="020B0604020202020204" pitchFamily="34" charset="0"/>
                <a:cs typeface="Arial" panose="020B0604020202020204" pitchFamily="34" charset="0"/>
              </a:rPr>
              <a:t>void</a:t>
            </a:r>
            <a:r>
              <a:rPr lang="hr-HR" altLang="sr-Latn-RS" sz="1600">
                <a:latin typeface="Arial" panose="020B0604020202020204" pitchFamily="34" charset="0"/>
                <a:cs typeface="Arial" panose="020B0604020202020204" pitchFamily="34" charset="0"/>
              </a:rPr>
              <a:t> Crta(			/* Pretpostavka: -1 </a:t>
            </a:r>
            <a:r>
              <a:rPr lang="hr-HR" altLang="sr-Latn-RS" sz="1600" i="1">
                <a:latin typeface="Arial" panose="020B0604020202020204" pitchFamily="34" charset="0"/>
                <a:cs typeface="Arial" panose="020B0604020202020204" pitchFamily="34" charset="0"/>
              </a:rPr>
              <a:t>m</a:t>
            </a:r>
            <a:r>
              <a:rPr lang="hr-HR" altLang="sr-Latn-RS" sz="1600">
                <a:latin typeface="Arial" panose="020B0604020202020204" pitchFamily="34" charset="0"/>
                <a:cs typeface="Arial" panose="020B0604020202020204" pitchFamily="34" charset="0"/>
              </a:rPr>
              <a:t>1, </a:t>
            </a:r>
            <a:r>
              <a:rPr lang="hr-HR" altLang="sr-Latn-RS" sz="1600" i="1">
                <a:latin typeface="Arial" panose="020B0604020202020204" pitchFamily="34" charset="0"/>
                <a:cs typeface="Arial" panose="020B0604020202020204" pitchFamily="34" charset="0"/>
              </a:rPr>
              <a:t>x0</a:t>
            </a:r>
            <a:r>
              <a:rPr lang="hr-HR" altLang="sr-Latn-RS" sz="1600">
                <a:latin typeface="Arial" panose="020B0604020202020204" pitchFamily="34" charset="0"/>
                <a:cs typeface="Arial" panose="020B0604020202020204" pitchFamily="34" charset="0"/>
              </a:rPr>
              <a:t> &lt; </a:t>
            </a:r>
            <a:r>
              <a:rPr lang="hr-HR" altLang="sr-Latn-RS" sz="1600" i="1">
                <a:latin typeface="Arial" panose="020B0604020202020204" pitchFamily="34" charset="0"/>
                <a:cs typeface="Arial" panose="020B0604020202020204" pitchFamily="34" charset="0"/>
              </a:rPr>
              <a:t>x1</a:t>
            </a:r>
            <a:r>
              <a:rPr lang="hr-HR" altLang="sr-Latn-RS" sz="1600">
                <a:latin typeface="Arial" panose="020B0604020202020204" pitchFamily="34" charset="0"/>
                <a:cs typeface="Arial" panose="020B0604020202020204" pitchFamily="34" charset="0"/>
              </a:rPr>
              <a:t>  */</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a:t>
            </a:r>
            <a:r>
              <a:rPr lang="hr-HR" altLang="sr-Latn-RS" sz="1600" b="1">
                <a:latin typeface="Arial" panose="020B0604020202020204" pitchFamily="34" charset="0"/>
                <a:cs typeface="Arial" panose="020B0604020202020204" pitchFamily="34" charset="0"/>
              </a:rPr>
              <a:t>int</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x0</a:t>
            </a:r>
            <a:r>
              <a:rPr lang="hr-HR" altLang="sr-Latn-RS" sz="1600">
                <a:latin typeface="Arial" panose="020B0604020202020204" pitchFamily="34" charset="0"/>
                <a:cs typeface="Arial" panose="020B0604020202020204" pitchFamily="34" charset="0"/>
              </a:rPr>
              <a:t>, </a:t>
            </a:r>
            <a:r>
              <a:rPr lang="hr-HR" altLang="sr-Latn-RS" sz="1600" b="1">
                <a:latin typeface="Arial" panose="020B0604020202020204" pitchFamily="34" charset="0"/>
                <a:cs typeface="Arial" panose="020B0604020202020204" pitchFamily="34" charset="0"/>
              </a:rPr>
              <a:t>int</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y0</a:t>
            </a:r>
            <a:r>
              <a:rPr lang="hr-HR" altLang="sr-Latn-RS" sz="1600">
                <a:latin typeface="Arial" panose="020B0604020202020204" pitchFamily="34" charset="0"/>
                <a:cs typeface="Arial" panose="020B0604020202020204" pitchFamily="34" charset="0"/>
              </a:rPr>
              <a:t>,		/* Lijeva krajnja točka  */</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a:t>
            </a:r>
            <a:r>
              <a:rPr lang="hr-HR" altLang="sr-Latn-RS" sz="1600" b="1">
                <a:latin typeface="Arial" panose="020B0604020202020204" pitchFamily="34" charset="0"/>
                <a:cs typeface="Arial" panose="020B0604020202020204" pitchFamily="34" charset="0"/>
              </a:rPr>
              <a:t>int</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x1</a:t>
            </a:r>
            <a:r>
              <a:rPr lang="hr-HR" altLang="sr-Latn-RS" sz="1600">
                <a:latin typeface="Arial" panose="020B0604020202020204" pitchFamily="34" charset="0"/>
                <a:cs typeface="Arial" panose="020B0604020202020204" pitchFamily="34" charset="0"/>
              </a:rPr>
              <a:t>, </a:t>
            </a:r>
            <a:r>
              <a:rPr lang="hr-HR" altLang="sr-Latn-RS" sz="1600" b="1">
                <a:latin typeface="Arial" panose="020B0604020202020204" pitchFamily="34" charset="0"/>
                <a:cs typeface="Arial" panose="020B0604020202020204" pitchFamily="34" charset="0"/>
              </a:rPr>
              <a:t>int</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y1</a:t>
            </a:r>
            <a:r>
              <a:rPr lang="hr-HR" altLang="sr-Latn-RS" sz="1600">
                <a:latin typeface="Arial" panose="020B0604020202020204" pitchFamily="34" charset="0"/>
                <a:cs typeface="Arial" panose="020B0604020202020204" pitchFamily="34" charset="0"/>
              </a:rPr>
              <a:t>,		/* Desna krajnja točka  */</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a:t>
            </a:r>
            <a:r>
              <a:rPr lang="hr-HR" altLang="sr-Latn-RS" sz="1600" b="1">
                <a:latin typeface="Arial" panose="020B0604020202020204" pitchFamily="34" charset="0"/>
                <a:cs typeface="Arial" panose="020B0604020202020204" pitchFamily="34" charset="0"/>
              </a:rPr>
              <a:t>int</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value</a:t>
            </a:r>
            <a:r>
              <a:rPr lang="hr-HR" altLang="sr-Latn-RS" sz="1600">
                <a:latin typeface="Arial" panose="020B0604020202020204" pitchFamily="34" charset="0"/>
                <a:cs typeface="Arial" panose="020B0604020202020204" pitchFamily="34" charset="0"/>
              </a:rPr>
              <a:t>)		/* Vrijednost koju poprimaju pikseli linije  */</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a:t>
            </a:r>
            <a:r>
              <a:rPr lang="hr-HR" altLang="sr-Latn-RS" sz="1600" b="1">
                <a:latin typeface="Arial" panose="020B0604020202020204" pitchFamily="34" charset="0"/>
                <a:cs typeface="Arial" panose="020B0604020202020204" pitchFamily="34" charset="0"/>
              </a:rPr>
              <a:t>int</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x</a:t>
            </a:r>
            <a:r>
              <a:rPr lang="hr-HR" altLang="sr-Latn-RS" sz="1600">
                <a:latin typeface="Arial" panose="020B0604020202020204" pitchFamily="34" charset="0"/>
                <a:cs typeface="Arial" panose="020B0604020202020204" pitchFamily="34" charset="0"/>
              </a:rPr>
              <a:t>;	</a:t>
            </a:r>
            <a:r>
              <a:rPr lang="hr-HR" altLang="sr-Latn-RS" sz="1600">
                <a:latin typeface="Arial" panose="020B0604020202020204" pitchFamily="34" charset="0"/>
              </a:rPr>
              <a:t>	</a:t>
            </a:r>
            <a:r>
              <a:rPr lang="hr-HR" altLang="sr-Latn-RS" sz="1600">
                <a:latin typeface="Arial" panose="020B0604020202020204" pitchFamily="34" charset="0"/>
                <a:cs typeface="Arial" panose="020B0604020202020204" pitchFamily="34" charset="0"/>
              </a:rPr>
              <a:t>/* vrijednost </a:t>
            </a:r>
            <a:r>
              <a:rPr lang="hr-HR" altLang="sr-Latn-RS" sz="1600" i="1">
                <a:latin typeface="Arial" panose="020B0604020202020204" pitchFamily="34" charset="0"/>
                <a:cs typeface="Arial" panose="020B0604020202020204" pitchFamily="34" charset="0"/>
              </a:rPr>
              <a:t>x</a:t>
            </a:r>
            <a:r>
              <a:rPr lang="hr-HR" altLang="sr-Latn-RS" sz="1600">
                <a:latin typeface="Arial" panose="020B0604020202020204" pitchFamily="34" charset="0"/>
                <a:cs typeface="Arial" panose="020B0604020202020204" pitchFamily="34" charset="0"/>
              </a:rPr>
              <a:t> ide od </a:t>
            </a:r>
            <a:r>
              <a:rPr lang="hr-HR" altLang="sr-Latn-RS" sz="1600" i="1">
                <a:latin typeface="Arial" panose="020B0604020202020204" pitchFamily="34" charset="0"/>
                <a:cs typeface="Arial" panose="020B0604020202020204" pitchFamily="34" charset="0"/>
              </a:rPr>
              <a:t>x0</a:t>
            </a:r>
            <a:r>
              <a:rPr lang="hr-HR" altLang="sr-Latn-RS" sz="1600">
                <a:latin typeface="Arial" panose="020B0604020202020204" pitchFamily="34" charset="0"/>
                <a:cs typeface="Arial" panose="020B0604020202020204" pitchFamily="34" charset="0"/>
              </a:rPr>
              <a:t> do </a:t>
            </a:r>
            <a:r>
              <a:rPr lang="hr-HR" altLang="sr-Latn-RS" sz="1600" i="1">
                <a:latin typeface="Arial" panose="020B0604020202020204" pitchFamily="34" charset="0"/>
                <a:cs typeface="Arial" panose="020B0604020202020204" pitchFamily="34" charset="0"/>
              </a:rPr>
              <a:t>x1</a:t>
            </a:r>
            <a:r>
              <a:rPr lang="hr-HR" altLang="sr-Latn-RS" sz="1600">
                <a:latin typeface="Arial" panose="020B0604020202020204" pitchFamily="34" charset="0"/>
                <a:cs typeface="Arial" panose="020B0604020202020204" pitchFamily="34" charset="0"/>
              </a:rPr>
              <a:t> korak: +1 */</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a:t>
            </a:r>
            <a:r>
              <a:rPr lang="hr-HR" altLang="sr-Latn-RS" sz="1600" b="1">
                <a:latin typeface="Arial" panose="020B0604020202020204" pitchFamily="34" charset="0"/>
                <a:cs typeface="Arial" panose="020B0604020202020204" pitchFamily="34" charset="0"/>
              </a:rPr>
              <a:t>double</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dy = y1 – y0</a:t>
            </a:r>
            <a:r>
              <a:rPr lang="hr-HR" altLang="sr-Latn-RS" sz="1600">
                <a:latin typeface="Arial" panose="020B0604020202020204" pitchFamily="34" charset="0"/>
                <a:cs typeface="Arial" panose="020B0604020202020204" pitchFamily="34" charset="0"/>
              </a:rPr>
              <a:t>;</a:t>
            </a:r>
            <a:endParaRPr lang="hr-HR" altLang="sr-Latn-RS" sz="1600">
              <a:latin typeface="Arial" panose="020B0604020202020204" pitchFamily="34"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a:t>
            </a:r>
            <a:r>
              <a:rPr lang="hr-HR" altLang="sr-Latn-RS" sz="1600" b="1">
                <a:latin typeface="Arial" panose="020B0604020202020204" pitchFamily="34" charset="0"/>
                <a:cs typeface="Arial" panose="020B0604020202020204" pitchFamily="34" charset="0"/>
              </a:rPr>
              <a:t>double</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dx = x1 – x0</a:t>
            </a:r>
            <a:r>
              <a:rPr lang="hr-HR" altLang="sr-Latn-RS" sz="1600">
                <a:latin typeface="Arial" panose="020B0604020202020204" pitchFamily="34" charset="0"/>
                <a:cs typeface="Arial" panose="020B0604020202020204" pitchFamily="34" charset="0"/>
              </a:rPr>
              <a:t>;</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a:t>
            </a:r>
            <a:r>
              <a:rPr lang="hr-HR" altLang="sr-Latn-RS" sz="1600" b="1">
                <a:latin typeface="Arial" panose="020B0604020202020204" pitchFamily="34" charset="0"/>
                <a:cs typeface="Arial" panose="020B0604020202020204" pitchFamily="34" charset="0"/>
              </a:rPr>
              <a:t>double</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m = dy / dx</a:t>
            </a:r>
            <a:r>
              <a:rPr lang="hr-HR" altLang="sr-Latn-RS" sz="1600">
                <a:latin typeface="Arial" panose="020B0604020202020204" pitchFamily="34" charset="0"/>
                <a:cs typeface="Arial" panose="020B0604020202020204" pitchFamily="34" charset="0"/>
              </a:rPr>
              <a:t>;</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a:t>
            </a:r>
            <a:r>
              <a:rPr lang="hr-HR" altLang="sr-Latn-RS" sz="1600" b="1">
                <a:latin typeface="Arial" panose="020B0604020202020204" pitchFamily="34" charset="0"/>
                <a:cs typeface="Arial" panose="020B0604020202020204" pitchFamily="34" charset="0"/>
              </a:rPr>
              <a:t>double</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y = y0</a:t>
            </a:r>
            <a:r>
              <a:rPr lang="hr-HR" altLang="sr-Latn-RS" sz="1600">
                <a:latin typeface="Arial" panose="020B0604020202020204" pitchFamily="34" charset="0"/>
                <a:cs typeface="Arial" panose="020B0604020202020204" pitchFamily="34" charset="0"/>
              </a:rPr>
              <a:t>;</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a:t>
            </a:r>
            <a:r>
              <a:rPr lang="hr-HR" altLang="sr-Latn-RS" sz="1600" b="1">
                <a:latin typeface="Arial" panose="020B0604020202020204" pitchFamily="34" charset="0"/>
                <a:cs typeface="Arial" panose="020B0604020202020204" pitchFamily="34" charset="0"/>
              </a:rPr>
              <a:t>for</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x = x0</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x &lt;= x1</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x++</a:t>
            </a:r>
            <a:r>
              <a:rPr lang="hr-HR" altLang="sr-Latn-RS" sz="1600">
                <a:latin typeface="Arial" panose="020B0604020202020204" pitchFamily="34" charset="0"/>
                <a:cs typeface="Arial" panose="020B0604020202020204" pitchFamily="34" charset="0"/>
              </a:rPr>
              <a:t>) {</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WritePixel (</a:t>
            </a:r>
            <a:r>
              <a:rPr lang="hr-HR" altLang="sr-Latn-RS" sz="1600" i="1">
                <a:latin typeface="Arial" panose="020B0604020202020204" pitchFamily="34" charset="0"/>
                <a:cs typeface="Arial" panose="020B0604020202020204" pitchFamily="34" charset="0"/>
              </a:rPr>
              <a:t>x</a:t>
            </a:r>
            <a:r>
              <a:rPr lang="hr-HR" altLang="sr-Latn-RS" sz="1600">
                <a:latin typeface="Arial" panose="020B0604020202020204" pitchFamily="34" charset="0"/>
                <a:cs typeface="Arial" panose="020B0604020202020204" pitchFamily="34" charset="0"/>
              </a:rPr>
              <a:t>, Round (</a:t>
            </a:r>
            <a:r>
              <a:rPr lang="hr-HR" altLang="sr-Latn-RS" sz="1600" i="1">
                <a:latin typeface="Arial" panose="020B0604020202020204" pitchFamily="34" charset="0"/>
                <a:cs typeface="Arial" panose="020B0604020202020204" pitchFamily="34" charset="0"/>
              </a:rPr>
              <a:t>y</a:t>
            </a: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value</a:t>
            </a:r>
            <a:r>
              <a:rPr lang="hr-HR" altLang="sr-Latn-RS" sz="1600">
                <a:latin typeface="Arial" panose="020B0604020202020204" pitchFamily="34" charset="0"/>
                <a:cs typeface="Arial" panose="020B0604020202020204" pitchFamily="34" charset="0"/>
              </a:rPr>
              <a:t>);	/* Postavi piksel u vrijednost - </a:t>
            </a:r>
            <a:r>
              <a:rPr lang="hr-HR" altLang="sr-Latn-RS" sz="1600" i="1">
                <a:latin typeface="Arial" panose="020B0604020202020204" pitchFamily="34" charset="0"/>
                <a:cs typeface="Arial" panose="020B0604020202020204" pitchFamily="34" charset="0"/>
              </a:rPr>
              <a:t>value</a:t>
            </a:r>
            <a:r>
              <a:rPr lang="hr-HR" altLang="sr-Latn-RS" sz="1600">
                <a:latin typeface="Arial" panose="020B0604020202020204" pitchFamily="34" charset="0"/>
                <a:cs typeface="Arial" panose="020B0604020202020204" pitchFamily="34" charset="0"/>
              </a:rPr>
              <a:t> */</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a:t>
            </a:r>
            <a:r>
              <a:rPr lang="hr-HR" altLang="sr-Latn-RS" sz="1600" i="1">
                <a:latin typeface="Arial" panose="020B0604020202020204" pitchFamily="34" charset="0"/>
                <a:cs typeface="Arial" panose="020B0604020202020204" pitchFamily="34" charset="0"/>
              </a:rPr>
              <a:t>y</a:t>
            </a:r>
            <a:r>
              <a:rPr lang="hr-HR" altLang="sr-Latn-RS" sz="1600">
                <a:latin typeface="Arial" panose="020B0604020202020204" pitchFamily="34" charset="0"/>
                <a:cs typeface="Arial" panose="020B0604020202020204" pitchFamily="34" charset="0"/>
              </a:rPr>
              <a:t> += </a:t>
            </a:r>
            <a:r>
              <a:rPr lang="hr-HR" altLang="sr-Latn-RS" sz="1600" i="1">
                <a:latin typeface="Arial" panose="020B0604020202020204" pitchFamily="34" charset="0"/>
                <a:cs typeface="Arial" panose="020B0604020202020204" pitchFamily="34" charset="0"/>
              </a:rPr>
              <a:t>m</a:t>
            </a:r>
            <a:r>
              <a:rPr lang="hr-HR" altLang="sr-Latn-RS" sz="1600">
                <a:latin typeface="Arial" panose="020B0604020202020204" pitchFamily="34" charset="0"/>
                <a:cs typeface="Arial" panose="020B0604020202020204" pitchFamily="34" charset="0"/>
              </a:rPr>
              <a:t>;			/* Povećaj </a:t>
            </a:r>
            <a:r>
              <a:rPr lang="hr-HR" altLang="sr-Latn-RS" sz="1600" i="1">
                <a:latin typeface="Arial" panose="020B0604020202020204" pitchFamily="34" charset="0"/>
                <a:cs typeface="Arial" panose="020B0604020202020204" pitchFamily="34" charset="0"/>
              </a:rPr>
              <a:t>y</a:t>
            </a:r>
            <a:r>
              <a:rPr lang="hr-HR" altLang="sr-Latn-RS" sz="1600">
                <a:latin typeface="Arial" panose="020B0604020202020204" pitchFamily="34" charset="0"/>
                <a:cs typeface="Arial" panose="020B0604020202020204" pitchFamily="34" charset="0"/>
              </a:rPr>
              <a:t> za nagib </a:t>
            </a:r>
            <a:r>
              <a:rPr lang="hr-HR" altLang="sr-Latn-RS" sz="1600" i="1">
                <a:latin typeface="Arial" panose="020B0604020202020204" pitchFamily="34" charset="0"/>
                <a:cs typeface="Arial" panose="020B0604020202020204" pitchFamily="34" charset="0"/>
              </a:rPr>
              <a:t>m</a:t>
            </a:r>
            <a:r>
              <a:rPr lang="hr-HR" altLang="sr-Latn-RS" sz="1600">
                <a:latin typeface="Arial" panose="020B0604020202020204" pitchFamily="34" charset="0"/>
                <a:cs typeface="Arial" panose="020B0604020202020204" pitchFamily="34" charset="0"/>
              </a:rPr>
              <a:t>  */</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a:t>
            </a:r>
            <a:endParaRPr lang="hr-HR" altLang="sr-Latn-RS" sz="16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600">
                <a:latin typeface="Arial" panose="020B0604020202020204" pitchFamily="34" charset="0"/>
                <a:cs typeface="Arial" panose="020B0604020202020204" pitchFamily="34" charset="0"/>
              </a:rPr>
              <a:t>}	/* Crta */</a:t>
            </a:r>
            <a:endParaRPr lang="hr-HR" altLang="sr-Latn-RS" sz="1600">
              <a:latin typeface="Times New Roman" panose="02020603050405020304" pitchFamily="18" charset="0"/>
              <a:cs typeface="Times New Roman" panose="02020603050405020304" pitchFamily="18" charset="0"/>
            </a:endParaRPr>
          </a:p>
          <a:p>
            <a:pPr>
              <a:spcBef>
                <a:spcPct val="0"/>
              </a:spcBef>
              <a:buClrTx/>
              <a:buSzTx/>
              <a:buFontTx/>
              <a:buNone/>
            </a:pPr>
            <a:endParaRPr lang="hr-HR" altLang="sr-Latn-RS" sz="160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Date Placeholder 2">
            <a:extLst>
              <a:ext uri="{FF2B5EF4-FFF2-40B4-BE49-F238E27FC236}">
                <a16:creationId xmlns:a16="http://schemas.microsoft.com/office/drawing/2014/main" id="{88AD8296-90B7-5AA5-7425-AA775AB52021}"/>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CA5EC5FB-4F39-47CB-B681-56E84A1A574F}"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10596" name="Slide Number Placeholder 4">
            <a:extLst>
              <a:ext uri="{FF2B5EF4-FFF2-40B4-BE49-F238E27FC236}">
                <a16:creationId xmlns:a16="http://schemas.microsoft.com/office/drawing/2014/main" id="{689F8408-E894-12B0-92D8-D6F2A7D172C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B354849E-D7C5-4382-ACD8-CAEF6F18792A}" type="slidenum">
              <a:rPr lang="en-GB" altLang="sr-Latn-RS" sz="1400" smtClean="0">
                <a:latin typeface="Times New Roman" panose="02020603050405020304" pitchFamily="18" charset="0"/>
              </a:rPr>
              <a:pPr>
                <a:spcBef>
                  <a:spcPct val="50000"/>
                </a:spcBef>
                <a:buClrTx/>
                <a:buSzTx/>
                <a:buFontTx/>
                <a:buNone/>
              </a:pPr>
              <a:t>19</a:t>
            </a:fld>
            <a:endParaRPr lang="en-GB" altLang="sr-Latn-RS" sz="1400">
              <a:latin typeface="Times New Roman" panose="02020603050405020304" pitchFamily="18" charset="0"/>
            </a:endParaRPr>
          </a:p>
        </p:txBody>
      </p:sp>
      <p:sp>
        <p:nvSpPr>
          <p:cNvPr id="110597" name="Text Box 2">
            <a:extLst>
              <a:ext uri="{FF2B5EF4-FFF2-40B4-BE49-F238E27FC236}">
                <a16:creationId xmlns:a16="http://schemas.microsoft.com/office/drawing/2014/main" id="{16665B3D-AF91-871A-5C52-78D4B3676594}"/>
              </a:ext>
            </a:extLst>
          </p:cNvPr>
          <p:cNvSpPr txBox="1">
            <a:spLocks noChangeArrowheads="1"/>
          </p:cNvSpPr>
          <p:nvPr/>
        </p:nvSpPr>
        <p:spPr bwMode="auto">
          <a:xfrm>
            <a:off x="762000" y="549275"/>
            <a:ext cx="7924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ravnih crta</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a:p>
            <a:pPr algn="ctr" eaLnBrk="1" hangingPunct="1">
              <a:spcBef>
                <a:spcPct val="50000"/>
              </a:spcBef>
              <a:buClrTx/>
              <a:buSzTx/>
              <a:buFontTx/>
              <a:buNone/>
            </a:pPr>
            <a:r>
              <a:rPr lang="hr-HR" altLang="sr-Latn-RS" sz="2400" b="1">
                <a:latin typeface="Arial" panose="020B0604020202020204" pitchFamily="34" charset="0"/>
                <a:cs typeface="Arial" panose="020B0604020202020204" pitchFamily="34" charset="0"/>
              </a:rPr>
              <a:t>Digitalni diferencijalni analizator (DDA)</a:t>
            </a:r>
            <a:r>
              <a:rPr lang="en-GB" altLang="sr-Latn-RS" sz="2400" b="1">
                <a:latin typeface="Arial" panose="020B0604020202020204" pitchFamily="34" charset="0"/>
                <a:cs typeface="Arial" panose="020B0604020202020204" pitchFamily="34" charset="0"/>
              </a:rPr>
              <a:t> </a:t>
            </a:r>
            <a:r>
              <a:rPr lang="hr-HR" altLang="sr-Latn-RS" sz="2400">
                <a:latin typeface="Arial" panose="020B0604020202020204" pitchFamily="34" charset="0"/>
                <a:cs typeface="Arial" panose="020B0604020202020204" pitchFamily="34" charset="0"/>
              </a:rPr>
              <a:t> </a:t>
            </a:r>
          </a:p>
        </p:txBody>
      </p:sp>
      <p:sp>
        <p:nvSpPr>
          <p:cNvPr id="110598" name="Rectangle 4">
            <a:extLst>
              <a:ext uri="{FF2B5EF4-FFF2-40B4-BE49-F238E27FC236}">
                <a16:creationId xmlns:a16="http://schemas.microsoft.com/office/drawing/2014/main" id="{AF2D6440-42E4-D549-7D1C-F2520DA037FD}"/>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10599" name="Rectangle 5">
            <a:extLst>
              <a:ext uri="{FF2B5EF4-FFF2-40B4-BE49-F238E27FC236}">
                <a16:creationId xmlns:a16="http://schemas.microsoft.com/office/drawing/2014/main" id="{D73CF439-AC9C-8902-FF31-978F354EAD4D}"/>
              </a:ext>
            </a:extLst>
          </p:cNvPr>
          <p:cNvSpPr>
            <a:spLocks noChangeArrowheads="1"/>
          </p:cNvSpPr>
          <p:nvPr/>
        </p:nvSpPr>
        <p:spPr bwMode="auto">
          <a:xfrm>
            <a:off x="3100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10600" name="Rectangle 6">
            <a:extLst>
              <a:ext uri="{FF2B5EF4-FFF2-40B4-BE49-F238E27FC236}">
                <a16:creationId xmlns:a16="http://schemas.microsoft.com/office/drawing/2014/main" id="{55D754B0-9D2D-352D-66E1-AEF37E477F08}"/>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aphicFrame>
        <p:nvGraphicFramePr>
          <p:cNvPr id="110601" name="Object 8">
            <a:extLst>
              <a:ext uri="{FF2B5EF4-FFF2-40B4-BE49-F238E27FC236}">
                <a16:creationId xmlns:a16="http://schemas.microsoft.com/office/drawing/2014/main" id="{CF259029-AF50-9CD0-ED94-DDAFC4D3822B}"/>
              </a:ext>
            </a:extLst>
          </p:cNvPr>
          <p:cNvGraphicFramePr>
            <a:graphicFrameLocks noChangeAspect="1"/>
          </p:cNvGraphicFramePr>
          <p:nvPr/>
        </p:nvGraphicFramePr>
        <p:xfrm>
          <a:off x="0" y="2225675"/>
          <a:ext cx="114300" cy="142875"/>
        </p:xfrm>
        <a:graphic>
          <a:graphicData uri="http://schemas.openxmlformats.org/presentationml/2006/ole">
            <mc:AlternateContent xmlns:mc="http://schemas.openxmlformats.org/markup-compatibility/2006">
              <mc:Choice xmlns:v="urn:schemas-microsoft-com:vml" Requires="v">
                <p:oleObj r:id="rId3" imgW="114201" imgH="139579" progId="Equation.3">
                  <p:embed/>
                </p:oleObj>
              </mc:Choice>
              <mc:Fallback>
                <p:oleObj r:id="rId3" imgW="114201" imgH="139579" progId="Equation.3">
                  <p:embed/>
                  <p:pic>
                    <p:nvPicPr>
                      <p:cNvPr id="110601" name="Object 8">
                        <a:extLst>
                          <a:ext uri="{FF2B5EF4-FFF2-40B4-BE49-F238E27FC236}">
                            <a16:creationId xmlns:a16="http://schemas.microsoft.com/office/drawing/2014/main" id="{CF259029-AF50-9CD0-ED94-DDAFC4D382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25675"/>
                        <a:ext cx="1143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0602" name="Object 9">
            <a:extLst>
              <a:ext uri="{FF2B5EF4-FFF2-40B4-BE49-F238E27FC236}">
                <a16:creationId xmlns:a16="http://schemas.microsoft.com/office/drawing/2014/main" id="{94738E0D-FFD0-BF81-483B-2A7AC7C3B3FE}"/>
              </a:ext>
            </a:extLst>
          </p:cNvPr>
          <p:cNvGraphicFramePr>
            <a:graphicFrameLocks noChangeAspect="1"/>
          </p:cNvGraphicFramePr>
          <p:nvPr/>
        </p:nvGraphicFramePr>
        <p:xfrm>
          <a:off x="0" y="2225675"/>
          <a:ext cx="114300" cy="142875"/>
        </p:xfrm>
        <a:graphic>
          <a:graphicData uri="http://schemas.openxmlformats.org/presentationml/2006/ole">
            <mc:AlternateContent xmlns:mc="http://schemas.openxmlformats.org/markup-compatibility/2006">
              <mc:Choice xmlns:v="urn:schemas-microsoft-com:vml" Requires="v">
                <p:oleObj r:id="rId5" imgW="114201" imgH="139579" progId="Equation.3">
                  <p:embed/>
                </p:oleObj>
              </mc:Choice>
              <mc:Fallback>
                <p:oleObj r:id="rId5" imgW="114201" imgH="139579" progId="Equation.3">
                  <p:embed/>
                  <p:pic>
                    <p:nvPicPr>
                      <p:cNvPr id="110602" name="Object 9">
                        <a:extLst>
                          <a:ext uri="{FF2B5EF4-FFF2-40B4-BE49-F238E27FC236}">
                            <a16:creationId xmlns:a16="http://schemas.microsoft.com/office/drawing/2014/main" id="{94738E0D-FFD0-BF81-483B-2A7AC7C3B3F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225675"/>
                        <a:ext cx="1143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0603" name="Group 77">
            <a:extLst>
              <a:ext uri="{FF2B5EF4-FFF2-40B4-BE49-F238E27FC236}">
                <a16:creationId xmlns:a16="http://schemas.microsoft.com/office/drawing/2014/main" id="{3B752396-AF45-261C-7B06-6067B9397BB3}"/>
              </a:ext>
            </a:extLst>
          </p:cNvPr>
          <p:cNvGrpSpPr>
            <a:grpSpLocks/>
          </p:cNvGrpSpPr>
          <p:nvPr/>
        </p:nvGrpSpPr>
        <p:grpSpPr bwMode="auto">
          <a:xfrm>
            <a:off x="1143000" y="2209800"/>
            <a:ext cx="3048000" cy="3006725"/>
            <a:chOff x="-3" y="860"/>
            <a:chExt cx="1956" cy="2860"/>
          </a:xfrm>
        </p:grpSpPr>
        <p:grpSp>
          <p:nvGrpSpPr>
            <p:cNvPr id="110606" name="Group 75">
              <a:extLst>
                <a:ext uri="{FF2B5EF4-FFF2-40B4-BE49-F238E27FC236}">
                  <a16:creationId xmlns:a16="http://schemas.microsoft.com/office/drawing/2014/main" id="{CB65CFCD-5211-0EC5-EC13-6B6CC32A19AA}"/>
                </a:ext>
              </a:extLst>
            </p:cNvPr>
            <p:cNvGrpSpPr>
              <a:grpSpLocks/>
            </p:cNvGrpSpPr>
            <p:nvPr/>
          </p:nvGrpSpPr>
          <p:grpSpPr bwMode="auto">
            <a:xfrm>
              <a:off x="0" y="863"/>
              <a:ext cx="1950" cy="2857"/>
              <a:chOff x="0" y="863"/>
              <a:chExt cx="1950" cy="2857"/>
            </a:xfrm>
          </p:grpSpPr>
          <p:grpSp>
            <p:nvGrpSpPr>
              <p:cNvPr id="110608" name="Group 34">
                <a:extLst>
                  <a:ext uri="{FF2B5EF4-FFF2-40B4-BE49-F238E27FC236}">
                    <a16:creationId xmlns:a16="http://schemas.microsoft.com/office/drawing/2014/main" id="{9E4E299C-EDE8-652A-4751-A5A7FD45CFE9}"/>
                  </a:ext>
                </a:extLst>
              </p:cNvPr>
              <p:cNvGrpSpPr>
                <a:grpSpLocks/>
              </p:cNvGrpSpPr>
              <p:nvPr/>
            </p:nvGrpSpPr>
            <p:grpSpPr bwMode="auto">
              <a:xfrm>
                <a:off x="0" y="863"/>
                <a:ext cx="590" cy="439"/>
                <a:chOff x="0" y="863"/>
                <a:chExt cx="590" cy="439"/>
              </a:xfrm>
            </p:grpSpPr>
            <p:sp>
              <p:nvSpPr>
                <p:cNvPr id="110669" name="Rectangle 12">
                  <a:extLst>
                    <a:ext uri="{FF2B5EF4-FFF2-40B4-BE49-F238E27FC236}">
                      <a16:creationId xmlns:a16="http://schemas.microsoft.com/office/drawing/2014/main" id="{26B24197-D816-C19B-E87C-B1E8FDC82996}"/>
                    </a:ext>
                  </a:extLst>
                </p:cNvPr>
                <p:cNvSpPr>
                  <a:spLocks noChangeArrowheads="1"/>
                </p:cNvSpPr>
                <p:nvPr/>
              </p:nvSpPr>
              <p:spPr bwMode="auto">
                <a:xfrm>
                  <a:off x="43" y="863"/>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b="1">
                      <a:latin typeface="Times New Roman" panose="02020603050405020304" pitchFamily="18" charset="0"/>
                      <a:cs typeface="Times New Roman" panose="02020603050405020304" pitchFamily="18" charset="0"/>
                    </a:rPr>
                    <a:t>x</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70" name="Rectangle 33">
                  <a:extLst>
                    <a:ext uri="{FF2B5EF4-FFF2-40B4-BE49-F238E27FC236}">
                      <a16:creationId xmlns:a16="http://schemas.microsoft.com/office/drawing/2014/main" id="{96DE0AF7-F0AB-0128-7246-E407BF47381E}"/>
                    </a:ext>
                  </a:extLst>
                </p:cNvPr>
                <p:cNvSpPr>
                  <a:spLocks noChangeArrowheads="1"/>
                </p:cNvSpPr>
                <p:nvPr/>
              </p:nvSpPr>
              <p:spPr bwMode="auto">
                <a:xfrm>
                  <a:off x="0" y="863"/>
                  <a:ext cx="590"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09" name="Group 36">
                <a:extLst>
                  <a:ext uri="{FF2B5EF4-FFF2-40B4-BE49-F238E27FC236}">
                    <a16:creationId xmlns:a16="http://schemas.microsoft.com/office/drawing/2014/main" id="{278D7BEB-6042-D477-F671-ABE64CC737C6}"/>
                  </a:ext>
                </a:extLst>
              </p:cNvPr>
              <p:cNvGrpSpPr>
                <a:grpSpLocks/>
              </p:cNvGrpSpPr>
              <p:nvPr/>
            </p:nvGrpSpPr>
            <p:grpSpPr bwMode="auto">
              <a:xfrm>
                <a:off x="590" y="863"/>
                <a:ext cx="531" cy="439"/>
                <a:chOff x="590" y="863"/>
                <a:chExt cx="531" cy="439"/>
              </a:xfrm>
            </p:grpSpPr>
            <p:sp>
              <p:nvSpPr>
                <p:cNvPr id="110667" name="Rectangle 13">
                  <a:extLst>
                    <a:ext uri="{FF2B5EF4-FFF2-40B4-BE49-F238E27FC236}">
                      <a16:creationId xmlns:a16="http://schemas.microsoft.com/office/drawing/2014/main" id="{BAF70BF0-9D82-75EC-7CA0-0B06FB7B5D7E}"/>
                    </a:ext>
                  </a:extLst>
                </p:cNvPr>
                <p:cNvSpPr>
                  <a:spLocks noChangeArrowheads="1"/>
                </p:cNvSpPr>
                <p:nvPr/>
              </p:nvSpPr>
              <p:spPr bwMode="auto">
                <a:xfrm>
                  <a:off x="633" y="863"/>
                  <a:ext cx="44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b="1">
                      <a:latin typeface="Times New Roman" panose="02020603050405020304" pitchFamily="18" charset="0"/>
                      <a:cs typeface="Times New Roman" panose="02020603050405020304" pitchFamily="18" charset="0"/>
                    </a:rPr>
                    <a:t>y</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68" name="Rectangle 35">
                  <a:extLst>
                    <a:ext uri="{FF2B5EF4-FFF2-40B4-BE49-F238E27FC236}">
                      <a16:creationId xmlns:a16="http://schemas.microsoft.com/office/drawing/2014/main" id="{E5D00414-E419-FDA0-C422-BEB9FF91079D}"/>
                    </a:ext>
                  </a:extLst>
                </p:cNvPr>
                <p:cNvSpPr>
                  <a:spLocks noChangeArrowheads="1"/>
                </p:cNvSpPr>
                <p:nvPr/>
              </p:nvSpPr>
              <p:spPr bwMode="auto">
                <a:xfrm>
                  <a:off x="590" y="863"/>
                  <a:ext cx="531"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10" name="Group 38">
                <a:extLst>
                  <a:ext uri="{FF2B5EF4-FFF2-40B4-BE49-F238E27FC236}">
                    <a16:creationId xmlns:a16="http://schemas.microsoft.com/office/drawing/2014/main" id="{4A55B676-A8D9-8933-C89F-97451010CF83}"/>
                  </a:ext>
                </a:extLst>
              </p:cNvPr>
              <p:cNvGrpSpPr>
                <a:grpSpLocks/>
              </p:cNvGrpSpPr>
              <p:nvPr/>
            </p:nvGrpSpPr>
            <p:grpSpPr bwMode="auto">
              <a:xfrm>
                <a:off x="1121" y="863"/>
                <a:ext cx="829" cy="439"/>
                <a:chOff x="1121" y="863"/>
                <a:chExt cx="829" cy="439"/>
              </a:xfrm>
            </p:grpSpPr>
            <p:sp>
              <p:nvSpPr>
                <p:cNvPr id="110665" name="Rectangle 14">
                  <a:extLst>
                    <a:ext uri="{FF2B5EF4-FFF2-40B4-BE49-F238E27FC236}">
                      <a16:creationId xmlns:a16="http://schemas.microsoft.com/office/drawing/2014/main" id="{865211AE-F34E-E88D-42C4-00882D30D758}"/>
                    </a:ext>
                  </a:extLst>
                </p:cNvPr>
                <p:cNvSpPr>
                  <a:spLocks noChangeArrowheads="1"/>
                </p:cNvSpPr>
                <p:nvPr/>
              </p:nvSpPr>
              <p:spPr bwMode="auto">
                <a:xfrm>
                  <a:off x="1164" y="863"/>
                  <a:ext cx="74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b="1">
                      <a:latin typeface="Times New Roman" panose="02020603050405020304" pitchFamily="18" charset="0"/>
                      <a:cs typeface="Times New Roman" panose="02020603050405020304" pitchFamily="18" charset="0"/>
                    </a:rPr>
                    <a:t>Round(y)</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66" name="Rectangle 37">
                  <a:extLst>
                    <a:ext uri="{FF2B5EF4-FFF2-40B4-BE49-F238E27FC236}">
                      <a16:creationId xmlns:a16="http://schemas.microsoft.com/office/drawing/2014/main" id="{FED36093-5541-3847-A1AD-25CD6F163262}"/>
                    </a:ext>
                  </a:extLst>
                </p:cNvPr>
                <p:cNvSpPr>
                  <a:spLocks noChangeArrowheads="1"/>
                </p:cNvSpPr>
                <p:nvPr/>
              </p:nvSpPr>
              <p:spPr bwMode="auto">
                <a:xfrm>
                  <a:off x="1121" y="863"/>
                  <a:ext cx="829"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11" name="Group 40">
                <a:extLst>
                  <a:ext uri="{FF2B5EF4-FFF2-40B4-BE49-F238E27FC236}">
                    <a16:creationId xmlns:a16="http://schemas.microsoft.com/office/drawing/2014/main" id="{DBDE68E8-2B78-4E15-B0AF-1B6DA7E08E3A}"/>
                  </a:ext>
                </a:extLst>
              </p:cNvPr>
              <p:cNvGrpSpPr>
                <a:grpSpLocks/>
              </p:cNvGrpSpPr>
              <p:nvPr/>
            </p:nvGrpSpPr>
            <p:grpSpPr bwMode="auto">
              <a:xfrm>
                <a:off x="0" y="1266"/>
                <a:ext cx="590" cy="439"/>
                <a:chOff x="0" y="1266"/>
                <a:chExt cx="590" cy="439"/>
              </a:xfrm>
            </p:grpSpPr>
            <p:sp>
              <p:nvSpPr>
                <p:cNvPr id="110663" name="Rectangle 15">
                  <a:extLst>
                    <a:ext uri="{FF2B5EF4-FFF2-40B4-BE49-F238E27FC236}">
                      <a16:creationId xmlns:a16="http://schemas.microsoft.com/office/drawing/2014/main" id="{827A60C4-2F4A-6C0C-D2A7-53025DA0F504}"/>
                    </a:ext>
                  </a:extLst>
                </p:cNvPr>
                <p:cNvSpPr>
                  <a:spLocks noChangeArrowheads="1"/>
                </p:cNvSpPr>
                <p:nvPr/>
              </p:nvSpPr>
              <p:spPr bwMode="auto">
                <a:xfrm>
                  <a:off x="43" y="1266"/>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2.0</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64" name="Rectangle 39">
                  <a:extLst>
                    <a:ext uri="{FF2B5EF4-FFF2-40B4-BE49-F238E27FC236}">
                      <a16:creationId xmlns:a16="http://schemas.microsoft.com/office/drawing/2014/main" id="{22C095C5-E83B-3F77-46C1-CC153229D830}"/>
                    </a:ext>
                  </a:extLst>
                </p:cNvPr>
                <p:cNvSpPr>
                  <a:spLocks noChangeArrowheads="1"/>
                </p:cNvSpPr>
                <p:nvPr/>
              </p:nvSpPr>
              <p:spPr bwMode="auto">
                <a:xfrm>
                  <a:off x="0" y="1266"/>
                  <a:ext cx="590"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12" name="Group 42">
                <a:extLst>
                  <a:ext uri="{FF2B5EF4-FFF2-40B4-BE49-F238E27FC236}">
                    <a16:creationId xmlns:a16="http://schemas.microsoft.com/office/drawing/2014/main" id="{D81176C6-ADA8-7DB1-4849-1411C72B7ADC}"/>
                  </a:ext>
                </a:extLst>
              </p:cNvPr>
              <p:cNvGrpSpPr>
                <a:grpSpLocks/>
              </p:cNvGrpSpPr>
              <p:nvPr/>
            </p:nvGrpSpPr>
            <p:grpSpPr bwMode="auto">
              <a:xfrm>
                <a:off x="590" y="1266"/>
                <a:ext cx="531" cy="439"/>
                <a:chOff x="590" y="1266"/>
                <a:chExt cx="531" cy="439"/>
              </a:xfrm>
            </p:grpSpPr>
            <p:sp>
              <p:nvSpPr>
                <p:cNvPr id="110661" name="Rectangle 16">
                  <a:extLst>
                    <a:ext uri="{FF2B5EF4-FFF2-40B4-BE49-F238E27FC236}">
                      <a16:creationId xmlns:a16="http://schemas.microsoft.com/office/drawing/2014/main" id="{4280ECA8-9A9E-332A-2894-C6118B244585}"/>
                    </a:ext>
                  </a:extLst>
                </p:cNvPr>
                <p:cNvSpPr>
                  <a:spLocks noChangeArrowheads="1"/>
                </p:cNvSpPr>
                <p:nvPr/>
              </p:nvSpPr>
              <p:spPr bwMode="auto">
                <a:xfrm>
                  <a:off x="633" y="1266"/>
                  <a:ext cx="44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2.0</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62" name="Rectangle 41">
                  <a:extLst>
                    <a:ext uri="{FF2B5EF4-FFF2-40B4-BE49-F238E27FC236}">
                      <a16:creationId xmlns:a16="http://schemas.microsoft.com/office/drawing/2014/main" id="{119810A4-E224-1AB3-844A-55632FBE6F02}"/>
                    </a:ext>
                  </a:extLst>
                </p:cNvPr>
                <p:cNvSpPr>
                  <a:spLocks noChangeArrowheads="1"/>
                </p:cNvSpPr>
                <p:nvPr/>
              </p:nvSpPr>
              <p:spPr bwMode="auto">
                <a:xfrm>
                  <a:off x="590" y="1266"/>
                  <a:ext cx="531"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13" name="Group 44">
                <a:extLst>
                  <a:ext uri="{FF2B5EF4-FFF2-40B4-BE49-F238E27FC236}">
                    <a16:creationId xmlns:a16="http://schemas.microsoft.com/office/drawing/2014/main" id="{C0558197-53FC-6112-3EBC-50458C0EDC81}"/>
                  </a:ext>
                </a:extLst>
              </p:cNvPr>
              <p:cNvGrpSpPr>
                <a:grpSpLocks/>
              </p:cNvGrpSpPr>
              <p:nvPr/>
            </p:nvGrpSpPr>
            <p:grpSpPr bwMode="auto">
              <a:xfrm>
                <a:off x="1121" y="1266"/>
                <a:ext cx="829" cy="439"/>
                <a:chOff x="1121" y="1266"/>
                <a:chExt cx="829" cy="439"/>
              </a:xfrm>
            </p:grpSpPr>
            <p:sp>
              <p:nvSpPr>
                <p:cNvPr id="110659" name="Rectangle 17">
                  <a:extLst>
                    <a:ext uri="{FF2B5EF4-FFF2-40B4-BE49-F238E27FC236}">
                      <a16:creationId xmlns:a16="http://schemas.microsoft.com/office/drawing/2014/main" id="{B632E35E-9BCD-0F0F-4A22-AEDB6C89B9BA}"/>
                    </a:ext>
                  </a:extLst>
                </p:cNvPr>
                <p:cNvSpPr>
                  <a:spLocks noChangeArrowheads="1"/>
                </p:cNvSpPr>
                <p:nvPr/>
              </p:nvSpPr>
              <p:spPr bwMode="auto">
                <a:xfrm>
                  <a:off x="1164" y="1266"/>
                  <a:ext cx="74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2</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60" name="Rectangle 43">
                  <a:extLst>
                    <a:ext uri="{FF2B5EF4-FFF2-40B4-BE49-F238E27FC236}">
                      <a16:creationId xmlns:a16="http://schemas.microsoft.com/office/drawing/2014/main" id="{EBDFEB41-CBF4-E210-74BC-80952D722833}"/>
                    </a:ext>
                  </a:extLst>
                </p:cNvPr>
                <p:cNvSpPr>
                  <a:spLocks noChangeArrowheads="1"/>
                </p:cNvSpPr>
                <p:nvPr/>
              </p:nvSpPr>
              <p:spPr bwMode="auto">
                <a:xfrm>
                  <a:off x="1121" y="1266"/>
                  <a:ext cx="829"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14" name="Group 46">
                <a:extLst>
                  <a:ext uri="{FF2B5EF4-FFF2-40B4-BE49-F238E27FC236}">
                    <a16:creationId xmlns:a16="http://schemas.microsoft.com/office/drawing/2014/main" id="{2C481C53-9796-1C87-EBEE-4FC08DDB3B7F}"/>
                  </a:ext>
                </a:extLst>
              </p:cNvPr>
              <p:cNvGrpSpPr>
                <a:grpSpLocks/>
              </p:cNvGrpSpPr>
              <p:nvPr/>
            </p:nvGrpSpPr>
            <p:grpSpPr bwMode="auto">
              <a:xfrm>
                <a:off x="0" y="1669"/>
                <a:ext cx="590" cy="439"/>
                <a:chOff x="0" y="1669"/>
                <a:chExt cx="590" cy="439"/>
              </a:xfrm>
            </p:grpSpPr>
            <p:sp>
              <p:nvSpPr>
                <p:cNvPr id="110657" name="Rectangle 18">
                  <a:extLst>
                    <a:ext uri="{FF2B5EF4-FFF2-40B4-BE49-F238E27FC236}">
                      <a16:creationId xmlns:a16="http://schemas.microsoft.com/office/drawing/2014/main" id="{03100F32-5235-064A-FC1A-E96BBE447A8C}"/>
                    </a:ext>
                  </a:extLst>
                </p:cNvPr>
                <p:cNvSpPr>
                  <a:spLocks noChangeArrowheads="1"/>
                </p:cNvSpPr>
                <p:nvPr/>
              </p:nvSpPr>
              <p:spPr bwMode="auto">
                <a:xfrm>
                  <a:off x="43" y="1669"/>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3.0</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58" name="Rectangle 45">
                  <a:extLst>
                    <a:ext uri="{FF2B5EF4-FFF2-40B4-BE49-F238E27FC236}">
                      <a16:creationId xmlns:a16="http://schemas.microsoft.com/office/drawing/2014/main" id="{692988CC-FD95-97E9-B233-4418F3E01013}"/>
                    </a:ext>
                  </a:extLst>
                </p:cNvPr>
                <p:cNvSpPr>
                  <a:spLocks noChangeArrowheads="1"/>
                </p:cNvSpPr>
                <p:nvPr/>
              </p:nvSpPr>
              <p:spPr bwMode="auto">
                <a:xfrm>
                  <a:off x="0" y="1669"/>
                  <a:ext cx="590"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15" name="Group 48">
                <a:extLst>
                  <a:ext uri="{FF2B5EF4-FFF2-40B4-BE49-F238E27FC236}">
                    <a16:creationId xmlns:a16="http://schemas.microsoft.com/office/drawing/2014/main" id="{012700C8-391F-D0B6-8063-C8AFAAC0358D}"/>
                  </a:ext>
                </a:extLst>
              </p:cNvPr>
              <p:cNvGrpSpPr>
                <a:grpSpLocks/>
              </p:cNvGrpSpPr>
              <p:nvPr/>
            </p:nvGrpSpPr>
            <p:grpSpPr bwMode="auto">
              <a:xfrm>
                <a:off x="590" y="1669"/>
                <a:ext cx="531" cy="439"/>
                <a:chOff x="590" y="1669"/>
                <a:chExt cx="531" cy="439"/>
              </a:xfrm>
            </p:grpSpPr>
            <p:sp>
              <p:nvSpPr>
                <p:cNvPr id="110655" name="Rectangle 19">
                  <a:extLst>
                    <a:ext uri="{FF2B5EF4-FFF2-40B4-BE49-F238E27FC236}">
                      <a16:creationId xmlns:a16="http://schemas.microsoft.com/office/drawing/2014/main" id="{D884E0FF-4100-A85D-997F-C1D7343D38F7}"/>
                    </a:ext>
                  </a:extLst>
                </p:cNvPr>
                <p:cNvSpPr>
                  <a:spLocks noChangeArrowheads="1"/>
                </p:cNvSpPr>
                <p:nvPr/>
              </p:nvSpPr>
              <p:spPr bwMode="auto">
                <a:xfrm>
                  <a:off x="633" y="1669"/>
                  <a:ext cx="44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2.8</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56" name="Rectangle 47">
                  <a:extLst>
                    <a:ext uri="{FF2B5EF4-FFF2-40B4-BE49-F238E27FC236}">
                      <a16:creationId xmlns:a16="http://schemas.microsoft.com/office/drawing/2014/main" id="{8A2E7DF9-F6FA-4884-E808-441254E96463}"/>
                    </a:ext>
                  </a:extLst>
                </p:cNvPr>
                <p:cNvSpPr>
                  <a:spLocks noChangeArrowheads="1"/>
                </p:cNvSpPr>
                <p:nvPr/>
              </p:nvSpPr>
              <p:spPr bwMode="auto">
                <a:xfrm>
                  <a:off x="590" y="1669"/>
                  <a:ext cx="531"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16" name="Group 50">
                <a:extLst>
                  <a:ext uri="{FF2B5EF4-FFF2-40B4-BE49-F238E27FC236}">
                    <a16:creationId xmlns:a16="http://schemas.microsoft.com/office/drawing/2014/main" id="{B740FDC4-8F46-8ECE-4F38-129BD3E0B660}"/>
                  </a:ext>
                </a:extLst>
              </p:cNvPr>
              <p:cNvGrpSpPr>
                <a:grpSpLocks/>
              </p:cNvGrpSpPr>
              <p:nvPr/>
            </p:nvGrpSpPr>
            <p:grpSpPr bwMode="auto">
              <a:xfrm>
                <a:off x="1121" y="1669"/>
                <a:ext cx="829" cy="439"/>
                <a:chOff x="1121" y="1669"/>
                <a:chExt cx="829" cy="439"/>
              </a:xfrm>
            </p:grpSpPr>
            <p:sp>
              <p:nvSpPr>
                <p:cNvPr id="110653" name="Rectangle 20">
                  <a:extLst>
                    <a:ext uri="{FF2B5EF4-FFF2-40B4-BE49-F238E27FC236}">
                      <a16:creationId xmlns:a16="http://schemas.microsoft.com/office/drawing/2014/main" id="{65D04FE8-A6E1-3BB6-45BF-6F48CB6E7E94}"/>
                    </a:ext>
                  </a:extLst>
                </p:cNvPr>
                <p:cNvSpPr>
                  <a:spLocks noChangeArrowheads="1"/>
                </p:cNvSpPr>
                <p:nvPr/>
              </p:nvSpPr>
              <p:spPr bwMode="auto">
                <a:xfrm>
                  <a:off x="1164" y="1669"/>
                  <a:ext cx="74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3</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54" name="Rectangle 49">
                  <a:extLst>
                    <a:ext uri="{FF2B5EF4-FFF2-40B4-BE49-F238E27FC236}">
                      <a16:creationId xmlns:a16="http://schemas.microsoft.com/office/drawing/2014/main" id="{3D877B20-9918-E2CC-97A6-97A72BCC0BBF}"/>
                    </a:ext>
                  </a:extLst>
                </p:cNvPr>
                <p:cNvSpPr>
                  <a:spLocks noChangeArrowheads="1"/>
                </p:cNvSpPr>
                <p:nvPr/>
              </p:nvSpPr>
              <p:spPr bwMode="auto">
                <a:xfrm>
                  <a:off x="1121" y="1669"/>
                  <a:ext cx="829"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17" name="Group 52">
                <a:extLst>
                  <a:ext uri="{FF2B5EF4-FFF2-40B4-BE49-F238E27FC236}">
                    <a16:creationId xmlns:a16="http://schemas.microsoft.com/office/drawing/2014/main" id="{8C2FEFF9-F65A-F6C9-CBB5-0DBFDE2F8BCC}"/>
                  </a:ext>
                </a:extLst>
              </p:cNvPr>
              <p:cNvGrpSpPr>
                <a:grpSpLocks/>
              </p:cNvGrpSpPr>
              <p:nvPr/>
            </p:nvGrpSpPr>
            <p:grpSpPr bwMode="auto">
              <a:xfrm>
                <a:off x="0" y="2072"/>
                <a:ext cx="590" cy="439"/>
                <a:chOff x="0" y="2072"/>
                <a:chExt cx="590" cy="439"/>
              </a:xfrm>
            </p:grpSpPr>
            <p:sp>
              <p:nvSpPr>
                <p:cNvPr id="110651" name="Rectangle 21">
                  <a:extLst>
                    <a:ext uri="{FF2B5EF4-FFF2-40B4-BE49-F238E27FC236}">
                      <a16:creationId xmlns:a16="http://schemas.microsoft.com/office/drawing/2014/main" id="{A7518682-349C-7944-0211-784041B10075}"/>
                    </a:ext>
                  </a:extLst>
                </p:cNvPr>
                <p:cNvSpPr>
                  <a:spLocks noChangeArrowheads="1"/>
                </p:cNvSpPr>
                <p:nvPr/>
              </p:nvSpPr>
              <p:spPr bwMode="auto">
                <a:xfrm>
                  <a:off x="43" y="2072"/>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4.0</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52" name="Rectangle 51">
                  <a:extLst>
                    <a:ext uri="{FF2B5EF4-FFF2-40B4-BE49-F238E27FC236}">
                      <a16:creationId xmlns:a16="http://schemas.microsoft.com/office/drawing/2014/main" id="{B36B8175-91F0-ECD6-8A6B-5FF4DCBB95E5}"/>
                    </a:ext>
                  </a:extLst>
                </p:cNvPr>
                <p:cNvSpPr>
                  <a:spLocks noChangeArrowheads="1"/>
                </p:cNvSpPr>
                <p:nvPr/>
              </p:nvSpPr>
              <p:spPr bwMode="auto">
                <a:xfrm>
                  <a:off x="0" y="2072"/>
                  <a:ext cx="590"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18" name="Group 54">
                <a:extLst>
                  <a:ext uri="{FF2B5EF4-FFF2-40B4-BE49-F238E27FC236}">
                    <a16:creationId xmlns:a16="http://schemas.microsoft.com/office/drawing/2014/main" id="{4E74162E-7B82-9951-CBBF-775B29181AB5}"/>
                  </a:ext>
                </a:extLst>
              </p:cNvPr>
              <p:cNvGrpSpPr>
                <a:grpSpLocks/>
              </p:cNvGrpSpPr>
              <p:nvPr/>
            </p:nvGrpSpPr>
            <p:grpSpPr bwMode="auto">
              <a:xfrm>
                <a:off x="590" y="2072"/>
                <a:ext cx="531" cy="439"/>
                <a:chOff x="590" y="2072"/>
                <a:chExt cx="531" cy="439"/>
              </a:xfrm>
            </p:grpSpPr>
            <p:sp>
              <p:nvSpPr>
                <p:cNvPr id="110649" name="Rectangle 22">
                  <a:extLst>
                    <a:ext uri="{FF2B5EF4-FFF2-40B4-BE49-F238E27FC236}">
                      <a16:creationId xmlns:a16="http://schemas.microsoft.com/office/drawing/2014/main" id="{2E956682-64D4-A8E5-4B25-474E2595683B}"/>
                    </a:ext>
                  </a:extLst>
                </p:cNvPr>
                <p:cNvSpPr>
                  <a:spLocks noChangeArrowheads="1"/>
                </p:cNvSpPr>
                <p:nvPr/>
              </p:nvSpPr>
              <p:spPr bwMode="auto">
                <a:xfrm>
                  <a:off x="633" y="2072"/>
                  <a:ext cx="44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3.6</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50" name="Rectangle 53">
                  <a:extLst>
                    <a:ext uri="{FF2B5EF4-FFF2-40B4-BE49-F238E27FC236}">
                      <a16:creationId xmlns:a16="http://schemas.microsoft.com/office/drawing/2014/main" id="{4154D603-A0A5-625F-5748-A8CCEDA88E3D}"/>
                    </a:ext>
                  </a:extLst>
                </p:cNvPr>
                <p:cNvSpPr>
                  <a:spLocks noChangeArrowheads="1"/>
                </p:cNvSpPr>
                <p:nvPr/>
              </p:nvSpPr>
              <p:spPr bwMode="auto">
                <a:xfrm>
                  <a:off x="590" y="2072"/>
                  <a:ext cx="531"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19" name="Group 56">
                <a:extLst>
                  <a:ext uri="{FF2B5EF4-FFF2-40B4-BE49-F238E27FC236}">
                    <a16:creationId xmlns:a16="http://schemas.microsoft.com/office/drawing/2014/main" id="{3CC23849-FBCE-536B-7A8F-F48BD7062ACD}"/>
                  </a:ext>
                </a:extLst>
              </p:cNvPr>
              <p:cNvGrpSpPr>
                <a:grpSpLocks/>
              </p:cNvGrpSpPr>
              <p:nvPr/>
            </p:nvGrpSpPr>
            <p:grpSpPr bwMode="auto">
              <a:xfrm>
                <a:off x="1121" y="2072"/>
                <a:ext cx="829" cy="439"/>
                <a:chOff x="1121" y="2072"/>
                <a:chExt cx="829" cy="439"/>
              </a:xfrm>
            </p:grpSpPr>
            <p:sp>
              <p:nvSpPr>
                <p:cNvPr id="110647" name="Rectangle 23">
                  <a:extLst>
                    <a:ext uri="{FF2B5EF4-FFF2-40B4-BE49-F238E27FC236}">
                      <a16:creationId xmlns:a16="http://schemas.microsoft.com/office/drawing/2014/main" id="{8B7E4D49-5D2E-CC52-CFAB-1286876B328D}"/>
                    </a:ext>
                  </a:extLst>
                </p:cNvPr>
                <p:cNvSpPr>
                  <a:spLocks noChangeArrowheads="1"/>
                </p:cNvSpPr>
                <p:nvPr/>
              </p:nvSpPr>
              <p:spPr bwMode="auto">
                <a:xfrm>
                  <a:off x="1164" y="2072"/>
                  <a:ext cx="74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4</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48" name="Rectangle 55">
                  <a:extLst>
                    <a:ext uri="{FF2B5EF4-FFF2-40B4-BE49-F238E27FC236}">
                      <a16:creationId xmlns:a16="http://schemas.microsoft.com/office/drawing/2014/main" id="{D800A73C-37C4-6238-1295-EA9B21561716}"/>
                    </a:ext>
                  </a:extLst>
                </p:cNvPr>
                <p:cNvSpPr>
                  <a:spLocks noChangeArrowheads="1"/>
                </p:cNvSpPr>
                <p:nvPr/>
              </p:nvSpPr>
              <p:spPr bwMode="auto">
                <a:xfrm>
                  <a:off x="1121" y="2072"/>
                  <a:ext cx="829"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20" name="Group 58">
                <a:extLst>
                  <a:ext uri="{FF2B5EF4-FFF2-40B4-BE49-F238E27FC236}">
                    <a16:creationId xmlns:a16="http://schemas.microsoft.com/office/drawing/2014/main" id="{47967E83-AEDA-357C-32D9-6DB23000FC50}"/>
                  </a:ext>
                </a:extLst>
              </p:cNvPr>
              <p:cNvGrpSpPr>
                <a:grpSpLocks/>
              </p:cNvGrpSpPr>
              <p:nvPr/>
            </p:nvGrpSpPr>
            <p:grpSpPr bwMode="auto">
              <a:xfrm>
                <a:off x="0" y="2475"/>
                <a:ext cx="590" cy="439"/>
                <a:chOff x="0" y="2475"/>
                <a:chExt cx="590" cy="439"/>
              </a:xfrm>
            </p:grpSpPr>
            <p:sp>
              <p:nvSpPr>
                <p:cNvPr id="110645" name="Rectangle 24">
                  <a:extLst>
                    <a:ext uri="{FF2B5EF4-FFF2-40B4-BE49-F238E27FC236}">
                      <a16:creationId xmlns:a16="http://schemas.microsoft.com/office/drawing/2014/main" id="{6E61DCB4-AF4B-FDC5-256A-6FFF0C24505C}"/>
                    </a:ext>
                  </a:extLst>
                </p:cNvPr>
                <p:cNvSpPr>
                  <a:spLocks noChangeArrowheads="1"/>
                </p:cNvSpPr>
                <p:nvPr/>
              </p:nvSpPr>
              <p:spPr bwMode="auto">
                <a:xfrm>
                  <a:off x="43" y="2475"/>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5.0</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46" name="Rectangle 57">
                  <a:extLst>
                    <a:ext uri="{FF2B5EF4-FFF2-40B4-BE49-F238E27FC236}">
                      <a16:creationId xmlns:a16="http://schemas.microsoft.com/office/drawing/2014/main" id="{C57EA4DE-7F8A-E650-0B5A-913C48729819}"/>
                    </a:ext>
                  </a:extLst>
                </p:cNvPr>
                <p:cNvSpPr>
                  <a:spLocks noChangeArrowheads="1"/>
                </p:cNvSpPr>
                <p:nvPr/>
              </p:nvSpPr>
              <p:spPr bwMode="auto">
                <a:xfrm>
                  <a:off x="0" y="2475"/>
                  <a:ext cx="590"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21" name="Group 60">
                <a:extLst>
                  <a:ext uri="{FF2B5EF4-FFF2-40B4-BE49-F238E27FC236}">
                    <a16:creationId xmlns:a16="http://schemas.microsoft.com/office/drawing/2014/main" id="{6C0DEF40-0DD2-51B1-7C91-B7169AE716D7}"/>
                  </a:ext>
                </a:extLst>
              </p:cNvPr>
              <p:cNvGrpSpPr>
                <a:grpSpLocks/>
              </p:cNvGrpSpPr>
              <p:nvPr/>
            </p:nvGrpSpPr>
            <p:grpSpPr bwMode="auto">
              <a:xfrm>
                <a:off x="590" y="2475"/>
                <a:ext cx="531" cy="439"/>
                <a:chOff x="590" y="2475"/>
                <a:chExt cx="531" cy="439"/>
              </a:xfrm>
            </p:grpSpPr>
            <p:sp>
              <p:nvSpPr>
                <p:cNvPr id="110643" name="Rectangle 25">
                  <a:extLst>
                    <a:ext uri="{FF2B5EF4-FFF2-40B4-BE49-F238E27FC236}">
                      <a16:creationId xmlns:a16="http://schemas.microsoft.com/office/drawing/2014/main" id="{009BC908-7096-BB6F-D4EA-EF2F85E6BE41}"/>
                    </a:ext>
                  </a:extLst>
                </p:cNvPr>
                <p:cNvSpPr>
                  <a:spLocks noChangeArrowheads="1"/>
                </p:cNvSpPr>
                <p:nvPr/>
              </p:nvSpPr>
              <p:spPr bwMode="auto">
                <a:xfrm>
                  <a:off x="633" y="2475"/>
                  <a:ext cx="44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4.4</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44" name="Rectangle 59">
                  <a:extLst>
                    <a:ext uri="{FF2B5EF4-FFF2-40B4-BE49-F238E27FC236}">
                      <a16:creationId xmlns:a16="http://schemas.microsoft.com/office/drawing/2014/main" id="{654F60B1-26DA-B472-E238-F8AA0E89F7E5}"/>
                    </a:ext>
                  </a:extLst>
                </p:cNvPr>
                <p:cNvSpPr>
                  <a:spLocks noChangeArrowheads="1"/>
                </p:cNvSpPr>
                <p:nvPr/>
              </p:nvSpPr>
              <p:spPr bwMode="auto">
                <a:xfrm>
                  <a:off x="590" y="2475"/>
                  <a:ext cx="531"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22" name="Group 62">
                <a:extLst>
                  <a:ext uri="{FF2B5EF4-FFF2-40B4-BE49-F238E27FC236}">
                    <a16:creationId xmlns:a16="http://schemas.microsoft.com/office/drawing/2014/main" id="{5CACE10C-4AA8-4594-B83A-59CF7FBEE8C3}"/>
                  </a:ext>
                </a:extLst>
              </p:cNvPr>
              <p:cNvGrpSpPr>
                <a:grpSpLocks/>
              </p:cNvGrpSpPr>
              <p:nvPr/>
            </p:nvGrpSpPr>
            <p:grpSpPr bwMode="auto">
              <a:xfrm>
                <a:off x="1121" y="2475"/>
                <a:ext cx="829" cy="439"/>
                <a:chOff x="1121" y="2475"/>
                <a:chExt cx="829" cy="439"/>
              </a:xfrm>
            </p:grpSpPr>
            <p:sp>
              <p:nvSpPr>
                <p:cNvPr id="110641" name="Rectangle 26">
                  <a:extLst>
                    <a:ext uri="{FF2B5EF4-FFF2-40B4-BE49-F238E27FC236}">
                      <a16:creationId xmlns:a16="http://schemas.microsoft.com/office/drawing/2014/main" id="{4BD9006B-2C11-253F-270E-47095169326F}"/>
                    </a:ext>
                  </a:extLst>
                </p:cNvPr>
                <p:cNvSpPr>
                  <a:spLocks noChangeArrowheads="1"/>
                </p:cNvSpPr>
                <p:nvPr/>
              </p:nvSpPr>
              <p:spPr bwMode="auto">
                <a:xfrm>
                  <a:off x="1164" y="2475"/>
                  <a:ext cx="74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4</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42" name="Rectangle 61">
                  <a:extLst>
                    <a:ext uri="{FF2B5EF4-FFF2-40B4-BE49-F238E27FC236}">
                      <a16:creationId xmlns:a16="http://schemas.microsoft.com/office/drawing/2014/main" id="{A5B842CA-A4B6-0662-D0C5-9941D65C7B18}"/>
                    </a:ext>
                  </a:extLst>
                </p:cNvPr>
                <p:cNvSpPr>
                  <a:spLocks noChangeArrowheads="1"/>
                </p:cNvSpPr>
                <p:nvPr/>
              </p:nvSpPr>
              <p:spPr bwMode="auto">
                <a:xfrm>
                  <a:off x="1121" y="2475"/>
                  <a:ext cx="829"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23" name="Group 64">
                <a:extLst>
                  <a:ext uri="{FF2B5EF4-FFF2-40B4-BE49-F238E27FC236}">
                    <a16:creationId xmlns:a16="http://schemas.microsoft.com/office/drawing/2014/main" id="{534640EB-6B97-E273-9D7A-383CBB7D7D68}"/>
                  </a:ext>
                </a:extLst>
              </p:cNvPr>
              <p:cNvGrpSpPr>
                <a:grpSpLocks/>
              </p:cNvGrpSpPr>
              <p:nvPr/>
            </p:nvGrpSpPr>
            <p:grpSpPr bwMode="auto">
              <a:xfrm>
                <a:off x="0" y="2878"/>
                <a:ext cx="590" cy="439"/>
                <a:chOff x="0" y="2878"/>
                <a:chExt cx="590" cy="439"/>
              </a:xfrm>
            </p:grpSpPr>
            <p:sp>
              <p:nvSpPr>
                <p:cNvPr id="110639" name="Rectangle 27">
                  <a:extLst>
                    <a:ext uri="{FF2B5EF4-FFF2-40B4-BE49-F238E27FC236}">
                      <a16:creationId xmlns:a16="http://schemas.microsoft.com/office/drawing/2014/main" id="{60FBAF28-42D7-5C7A-3B11-2FBE4DB222B6}"/>
                    </a:ext>
                  </a:extLst>
                </p:cNvPr>
                <p:cNvSpPr>
                  <a:spLocks noChangeArrowheads="1"/>
                </p:cNvSpPr>
                <p:nvPr/>
              </p:nvSpPr>
              <p:spPr bwMode="auto">
                <a:xfrm>
                  <a:off x="43" y="2878"/>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6.0</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40" name="Rectangle 63">
                  <a:extLst>
                    <a:ext uri="{FF2B5EF4-FFF2-40B4-BE49-F238E27FC236}">
                      <a16:creationId xmlns:a16="http://schemas.microsoft.com/office/drawing/2014/main" id="{F7801F0A-3802-7376-99EA-4E6AD14BE166}"/>
                    </a:ext>
                  </a:extLst>
                </p:cNvPr>
                <p:cNvSpPr>
                  <a:spLocks noChangeArrowheads="1"/>
                </p:cNvSpPr>
                <p:nvPr/>
              </p:nvSpPr>
              <p:spPr bwMode="auto">
                <a:xfrm>
                  <a:off x="0" y="2878"/>
                  <a:ext cx="590"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24" name="Group 66">
                <a:extLst>
                  <a:ext uri="{FF2B5EF4-FFF2-40B4-BE49-F238E27FC236}">
                    <a16:creationId xmlns:a16="http://schemas.microsoft.com/office/drawing/2014/main" id="{83197694-1602-8791-92C4-E50313DBAEBD}"/>
                  </a:ext>
                </a:extLst>
              </p:cNvPr>
              <p:cNvGrpSpPr>
                <a:grpSpLocks/>
              </p:cNvGrpSpPr>
              <p:nvPr/>
            </p:nvGrpSpPr>
            <p:grpSpPr bwMode="auto">
              <a:xfrm>
                <a:off x="590" y="2878"/>
                <a:ext cx="531" cy="439"/>
                <a:chOff x="590" y="2878"/>
                <a:chExt cx="531" cy="439"/>
              </a:xfrm>
            </p:grpSpPr>
            <p:sp>
              <p:nvSpPr>
                <p:cNvPr id="110637" name="Rectangle 28">
                  <a:extLst>
                    <a:ext uri="{FF2B5EF4-FFF2-40B4-BE49-F238E27FC236}">
                      <a16:creationId xmlns:a16="http://schemas.microsoft.com/office/drawing/2014/main" id="{165C76C9-0525-35EF-F731-344D3F922C3F}"/>
                    </a:ext>
                  </a:extLst>
                </p:cNvPr>
                <p:cNvSpPr>
                  <a:spLocks noChangeArrowheads="1"/>
                </p:cNvSpPr>
                <p:nvPr/>
              </p:nvSpPr>
              <p:spPr bwMode="auto">
                <a:xfrm>
                  <a:off x="633" y="2878"/>
                  <a:ext cx="44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5.2</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38" name="Rectangle 65">
                  <a:extLst>
                    <a:ext uri="{FF2B5EF4-FFF2-40B4-BE49-F238E27FC236}">
                      <a16:creationId xmlns:a16="http://schemas.microsoft.com/office/drawing/2014/main" id="{CACE067F-E028-1074-BAD5-F16B8F908587}"/>
                    </a:ext>
                  </a:extLst>
                </p:cNvPr>
                <p:cNvSpPr>
                  <a:spLocks noChangeArrowheads="1"/>
                </p:cNvSpPr>
                <p:nvPr/>
              </p:nvSpPr>
              <p:spPr bwMode="auto">
                <a:xfrm>
                  <a:off x="590" y="2878"/>
                  <a:ext cx="531"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25" name="Group 68">
                <a:extLst>
                  <a:ext uri="{FF2B5EF4-FFF2-40B4-BE49-F238E27FC236}">
                    <a16:creationId xmlns:a16="http://schemas.microsoft.com/office/drawing/2014/main" id="{B4DBF1D9-91B6-86AC-A889-FC1B1E7D3FFB}"/>
                  </a:ext>
                </a:extLst>
              </p:cNvPr>
              <p:cNvGrpSpPr>
                <a:grpSpLocks/>
              </p:cNvGrpSpPr>
              <p:nvPr/>
            </p:nvGrpSpPr>
            <p:grpSpPr bwMode="auto">
              <a:xfrm>
                <a:off x="1121" y="2878"/>
                <a:ext cx="829" cy="439"/>
                <a:chOff x="1121" y="2878"/>
                <a:chExt cx="829" cy="439"/>
              </a:xfrm>
            </p:grpSpPr>
            <p:sp>
              <p:nvSpPr>
                <p:cNvPr id="110635" name="Rectangle 29">
                  <a:extLst>
                    <a:ext uri="{FF2B5EF4-FFF2-40B4-BE49-F238E27FC236}">
                      <a16:creationId xmlns:a16="http://schemas.microsoft.com/office/drawing/2014/main" id="{A6C98579-A33F-0061-6BE1-61AC12F9F427}"/>
                    </a:ext>
                  </a:extLst>
                </p:cNvPr>
                <p:cNvSpPr>
                  <a:spLocks noChangeArrowheads="1"/>
                </p:cNvSpPr>
                <p:nvPr/>
              </p:nvSpPr>
              <p:spPr bwMode="auto">
                <a:xfrm>
                  <a:off x="1164" y="2878"/>
                  <a:ext cx="74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5</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36" name="Rectangle 67">
                  <a:extLst>
                    <a:ext uri="{FF2B5EF4-FFF2-40B4-BE49-F238E27FC236}">
                      <a16:creationId xmlns:a16="http://schemas.microsoft.com/office/drawing/2014/main" id="{E6EA64D0-8B7E-2798-B2E8-143DCA2B1B28}"/>
                    </a:ext>
                  </a:extLst>
                </p:cNvPr>
                <p:cNvSpPr>
                  <a:spLocks noChangeArrowheads="1"/>
                </p:cNvSpPr>
                <p:nvPr/>
              </p:nvSpPr>
              <p:spPr bwMode="auto">
                <a:xfrm>
                  <a:off x="1121" y="2878"/>
                  <a:ext cx="829"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26" name="Group 70">
                <a:extLst>
                  <a:ext uri="{FF2B5EF4-FFF2-40B4-BE49-F238E27FC236}">
                    <a16:creationId xmlns:a16="http://schemas.microsoft.com/office/drawing/2014/main" id="{4617E782-C043-F389-D5B8-531F1B91E359}"/>
                  </a:ext>
                </a:extLst>
              </p:cNvPr>
              <p:cNvGrpSpPr>
                <a:grpSpLocks/>
              </p:cNvGrpSpPr>
              <p:nvPr/>
            </p:nvGrpSpPr>
            <p:grpSpPr bwMode="auto">
              <a:xfrm>
                <a:off x="0" y="3281"/>
                <a:ext cx="590" cy="439"/>
                <a:chOff x="0" y="3281"/>
                <a:chExt cx="590" cy="439"/>
              </a:xfrm>
            </p:grpSpPr>
            <p:sp>
              <p:nvSpPr>
                <p:cNvPr id="110633" name="Rectangle 30">
                  <a:extLst>
                    <a:ext uri="{FF2B5EF4-FFF2-40B4-BE49-F238E27FC236}">
                      <a16:creationId xmlns:a16="http://schemas.microsoft.com/office/drawing/2014/main" id="{AACDACED-1BC9-6D9D-1AAC-CB1063F6C99B}"/>
                    </a:ext>
                  </a:extLst>
                </p:cNvPr>
                <p:cNvSpPr>
                  <a:spLocks noChangeArrowheads="1"/>
                </p:cNvSpPr>
                <p:nvPr/>
              </p:nvSpPr>
              <p:spPr bwMode="auto">
                <a:xfrm>
                  <a:off x="43" y="3281"/>
                  <a:ext cx="50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7.0</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34" name="Rectangle 69">
                  <a:extLst>
                    <a:ext uri="{FF2B5EF4-FFF2-40B4-BE49-F238E27FC236}">
                      <a16:creationId xmlns:a16="http://schemas.microsoft.com/office/drawing/2014/main" id="{FEDD7917-8555-1A1A-57D8-4F5BD6053683}"/>
                    </a:ext>
                  </a:extLst>
                </p:cNvPr>
                <p:cNvSpPr>
                  <a:spLocks noChangeArrowheads="1"/>
                </p:cNvSpPr>
                <p:nvPr/>
              </p:nvSpPr>
              <p:spPr bwMode="auto">
                <a:xfrm>
                  <a:off x="0" y="3281"/>
                  <a:ext cx="590"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27" name="Group 72">
                <a:extLst>
                  <a:ext uri="{FF2B5EF4-FFF2-40B4-BE49-F238E27FC236}">
                    <a16:creationId xmlns:a16="http://schemas.microsoft.com/office/drawing/2014/main" id="{B4644DF4-4ED1-3A36-69F4-607648D58CDF}"/>
                  </a:ext>
                </a:extLst>
              </p:cNvPr>
              <p:cNvGrpSpPr>
                <a:grpSpLocks/>
              </p:cNvGrpSpPr>
              <p:nvPr/>
            </p:nvGrpSpPr>
            <p:grpSpPr bwMode="auto">
              <a:xfrm>
                <a:off x="590" y="3281"/>
                <a:ext cx="531" cy="439"/>
                <a:chOff x="590" y="3281"/>
                <a:chExt cx="531" cy="439"/>
              </a:xfrm>
            </p:grpSpPr>
            <p:sp>
              <p:nvSpPr>
                <p:cNvPr id="110631" name="Rectangle 31">
                  <a:extLst>
                    <a:ext uri="{FF2B5EF4-FFF2-40B4-BE49-F238E27FC236}">
                      <a16:creationId xmlns:a16="http://schemas.microsoft.com/office/drawing/2014/main" id="{90460696-2425-1C7B-5833-E34010315BC1}"/>
                    </a:ext>
                  </a:extLst>
                </p:cNvPr>
                <p:cNvSpPr>
                  <a:spLocks noChangeArrowheads="1"/>
                </p:cNvSpPr>
                <p:nvPr/>
              </p:nvSpPr>
              <p:spPr bwMode="auto">
                <a:xfrm>
                  <a:off x="633" y="3281"/>
                  <a:ext cx="44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6.0</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32" name="Rectangle 71">
                  <a:extLst>
                    <a:ext uri="{FF2B5EF4-FFF2-40B4-BE49-F238E27FC236}">
                      <a16:creationId xmlns:a16="http://schemas.microsoft.com/office/drawing/2014/main" id="{C692542F-0F70-DEBA-4D16-BD6662F9E9F8}"/>
                    </a:ext>
                  </a:extLst>
                </p:cNvPr>
                <p:cNvSpPr>
                  <a:spLocks noChangeArrowheads="1"/>
                </p:cNvSpPr>
                <p:nvPr/>
              </p:nvSpPr>
              <p:spPr bwMode="auto">
                <a:xfrm>
                  <a:off x="590" y="3281"/>
                  <a:ext cx="531"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nvGrpSpPr>
              <p:cNvPr id="110628" name="Group 74">
                <a:extLst>
                  <a:ext uri="{FF2B5EF4-FFF2-40B4-BE49-F238E27FC236}">
                    <a16:creationId xmlns:a16="http://schemas.microsoft.com/office/drawing/2014/main" id="{B5961227-4E2A-B3AA-85FF-ED60E4A874DB}"/>
                  </a:ext>
                </a:extLst>
              </p:cNvPr>
              <p:cNvGrpSpPr>
                <a:grpSpLocks/>
              </p:cNvGrpSpPr>
              <p:nvPr/>
            </p:nvGrpSpPr>
            <p:grpSpPr bwMode="auto">
              <a:xfrm>
                <a:off x="1121" y="3281"/>
                <a:ext cx="829" cy="439"/>
                <a:chOff x="1121" y="3281"/>
                <a:chExt cx="829" cy="439"/>
              </a:xfrm>
            </p:grpSpPr>
            <p:sp>
              <p:nvSpPr>
                <p:cNvPr id="110629" name="Rectangle 32">
                  <a:extLst>
                    <a:ext uri="{FF2B5EF4-FFF2-40B4-BE49-F238E27FC236}">
                      <a16:creationId xmlns:a16="http://schemas.microsoft.com/office/drawing/2014/main" id="{2867A91D-FF7F-6CBF-44F2-DDF2028707B8}"/>
                    </a:ext>
                  </a:extLst>
                </p:cNvPr>
                <p:cNvSpPr>
                  <a:spLocks noChangeArrowheads="1"/>
                </p:cNvSpPr>
                <p:nvPr/>
              </p:nvSpPr>
              <p:spPr bwMode="auto">
                <a:xfrm>
                  <a:off x="1164" y="3281"/>
                  <a:ext cx="74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GB" altLang="sr-Latn-RS" sz="1800">
                      <a:latin typeface="Times New Roman" panose="02020603050405020304" pitchFamily="18" charset="0"/>
                      <a:cs typeface="Times New Roman" panose="02020603050405020304" pitchFamily="18" charset="0"/>
                    </a:rPr>
                    <a:t>6</a:t>
                  </a:r>
                  <a:endParaRPr lang="hr-HR" altLang="sr-Latn-RS" sz="1800">
                    <a:latin typeface="Times New Roman" panose="02020603050405020304" pitchFamily="18" charset="0"/>
                    <a:cs typeface="Times New Roman" panose="02020603050405020304" pitchFamily="18" charset="0"/>
                  </a:endParaRPr>
                </a:p>
                <a:p>
                  <a:pPr algn="ctr">
                    <a:spcBef>
                      <a:spcPct val="0"/>
                    </a:spcBef>
                    <a:buClrTx/>
                    <a:buSzTx/>
                    <a:buFontTx/>
                    <a:buNone/>
                  </a:pPr>
                  <a:endParaRPr lang="hr-HR" altLang="sr-Latn-RS" sz="1800">
                    <a:latin typeface="Times New Roman" panose="02020603050405020304" pitchFamily="18" charset="0"/>
                  </a:endParaRPr>
                </a:p>
              </p:txBody>
            </p:sp>
            <p:sp>
              <p:nvSpPr>
                <p:cNvPr id="110630" name="Rectangle 73">
                  <a:extLst>
                    <a:ext uri="{FF2B5EF4-FFF2-40B4-BE49-F238E27FC236}">
                      <a16:creationId xmlns:a16="http://schemas.microsoft.com/office/drawing/2014/main" id="{7116F15F-9247-4A2B-2312-58297B84098D}"/>
                    </a:ext>
                  </a:extLst>
                </p:cNvPr>
                <p:cNvSpPr>
                  <a:spLocks noChangeArrowheads="1"/>
                </p:cNvSpPr>
                <p:nvPr/>
              </p:nvSpPr>
              <p:spPr bwMode="auto">
                <a:xfrm>
                  <a:off x="1121" y="3281"/>
                  <a:ext cx="829" cy="439"/>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grpSp>
        <p:sp>
          <p:nvSpPr>
            <p:cNvPr id="110607" name="Rectangle 76">
              <a:extLst>
                <a:ext uri="{FF2B5EF4-FFF2-40B4-BE49-F238E27FC236}">
                  <a16:creationId xmlns:a16="http://schemas.microsoft.com/office/drawing/2014/main" id="{FECF358F-1B08-3675-23A7-69AA4D8FE430}"/>
                </a:ext>
              </a:extLst>
            </p:cNvPr>
            <p:cNvSpPr>
              <a:spLocks noChangeArrowheads="1"/>
            </p:cNvSpPr>
            <p:nvPr/>
          </p:nvSpPr>
          <p:spPr bwMode="auto">
            <a:xfrm>
              <a:off x="-3" y="860"/>
              <a:ext cx="1956" cy="439"/>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grpSp>
      <p:sp>
        <p:nvSpPr>
          <p:cNvPr id="110604" name="Rectangle 78">
            <a:extLst>
              <a:ext uri="{FF2B5EF4-FFF2-40B4-BE49-F238E27FC236}">
                <a16:creationId xmlns:a16="http://schemas.microsoft.com/office/drawing/2014/main" id="{D7B0EE14-4809-8F32-CA57-A0A993A626CE}"/>
              </a:ext>
            </a:extLst>
          </p:cNvPr>
          <p:cNvSpPr>
            <a:spLocks noChangeArrowheads="1"/>
          </p:cNvSpPr>
          <p:nvPr/>
        </p:nvSpPr>
        <p:spPr bwMode="auto">
          <a:xfrm>
            <a:off x="1828800" y="5445125"/>
            <a:ext cx="6172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GB" altLang="sr-Latn-RS" sz="1200">
                <a:latin typeface="Times New Roman" panose="02020603050405020304" pitchFamily="18" charset="0"/>
                <a:cs typeface="Times New Roman" panose="02020603050405020304" pitchFamily="18" charset="0"/>
              </a:rPr>
              <a:t> </a:t>
            </a:r>
            <a:r>
              <a:rPr lang="hr-HR" altLang="sr-Latn-RS" sz="1200">
                <a:latin typeface="Times New Roman" panose="02020603050405020304" pitchFamily="18" charset="0"/>
                <a:cs typeface="Times New Roman" panose="02020603050405020304" pitchFamily="18" charset="0"/>
              </a:rPr>
              <a:t> </a:t>
            </a:r>
            <a:r>
              <a:rPr lang="en-US" altLang="sr-Latn-RS" sz="2000">
                <a:latin typeface="Times New Roman" panose="02020603050405020304" pitchFamily="18" charset="0"/>
                <a:cs typeface="Times New Roman" panose="02020603050405020304" pitchFamily="18" charset="0"/>
              </a:rPr>
              <a:t>Rezultat  izvršavanja DDA algoritma: Crta(2,2,7,6,120)</a:t>
            </a:r>
            <a:endParaRPr lang="hr-HR" altLang="sr-Latn-RS" sz="2000">
              <a:latin typeface="Times New Roman" panose="02020603050405020304" pitchFamily="18" charset="0"/>
              <a:cs typeface="Times New Roman" panose="02020603050405020304" pitchFamily="18" charset="0"/>
            </a:endParaRPr>
          </a:p>
          <a:p>
            <a:pPr algn="just">
              <a:spcBef>
                <a:spcPct val="0"/>
              </a:spcBef>
              <a:buClrTx/>
              <a:buSzTx/>
              <a:buFontTx/>
              <a:buNone/>
            </a:pPr>
            <a:r>
              <a:rPr lang="hr-HR" altLang="sr-Latn-RS" sz="1200">
                <a:latin typeface="Times New Roman" panose="02020603050405020304" pitchFamily="18" charset="0"/>
                <a:cs typeface="Times New Roman" panose="02020603050405020304" pitchFamily="18" charset="0"/>
              </a:rPr>
              <a:t> </a:t>
            </a:r>
            <a:endParaRPr lang="hr-HR" altLang="sr-Latn-RS" sz="2400">
              <a:latin typeface="Times New Roman" panose="02020603050405020304" pitchFamily="18" charset="0"/>
            </a:endParaRPr>
          </a:p>
        </p:txBody>
      </p:sp>
      <p:pic>
        <p:nvPicPr>
          <p:cNvPr id="110605" name="Picture 10" descr="Slika26">
            <a:extLst>
              <a:ext uri="{FF2B5EF4-FFF2-40B4-BE49-F238E27FC236}">
                <a16:creationId xmlns:a16="http://schemas.microsoft.com/office/drawing/2014/main" id="{1ABEE69C-8B9E-7A1E-9F84-83649EF4F02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0600" y="2057400"/>
            <a:ext cx="3676650"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Date Placeholder 2">
            <a:extLst>
              <a:ext uri="{FF2B5EF4-FFF2-40B4-BE49-F238E27FC236}">
                <a16:creationId xmlns:a16="http://schemas.microsoft.com/office/drawing/2014/main" id="{C789A32B-C0F0-37E2-3373-0E9F2D28819A}"/>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A05291C6-D645-4369-A341-FAEE778E9AB1}"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12644" name="Slide Number Placeholder 4">
            <a:extLst>
              <a:ext uri="{FF2B5EF4-FFF2-40B4-BE49-F238E27FC236}">
                <a16:creationId xmlns:a16="http://schemas.microsoft.com/office/drawing/2014/main" id="{3B344FC9-4D65-AD94-B7D9-5288374E1F4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8178CE8E-34DD-43A7-BDA9-B64AD7FA8220}" type="slidenum">
              <a:rPr lang="en-GB" altLang="sr-Latn-RS" sz="1400" smtClean="0">
                <a:latin typeface="Times New Roman" panose="02020603050405020304" pitchFamily="18" charset="0"/>
              </a:rPr>
              <a:pPr>
                <a:spcBef>
                  <a:spcPct val="50000"/>
                </a:spcBef>
                <a:buClrTx/>
                <a:buSzTx/>
                <a:buFontTx/>
                <a:buNone/>
              </a:pPr>
              <a:t>20</a:t>
            </a:fld>
            <a:endParaRPr lang="en-GB" altLang="sr-Latn-RS" sz="1400">
              <a:latin typeface="Times New Roman" panose="02020603050405020304" pitchFamily="18" charset="0"/>
            </a:endParaRPr>
          </a:p>
        </p:txBody>
      </p:sp>
      <p:sp>
        <p:nvSpPr>
          <p:cNvPr id="112645" name="Text Box 2">
            <a:extLst>
              <a:ext uri="{FF2B5EF4-FFF2-40B4-BE49-F238E27FC236}">
                <a16:creationId xmlns:a16="http://schemas.microsoft.com/office/drawing/2014/main" id="{896D36A5-97FB-DFAB-A27E-73B8E80BA545}"/>
              </a:ext>
            </a:extLst>
          </p:cNvPr>
          <p:cNvSpPr txBox="1">
            <a:spLocks noChangeArrowheads="1"/>
          </p:cNvSpPr>
          <p:nvPr/>
        </p:nvSpPr>
        <p:spPr bwMode="auto">
          <a:xfrm>
            <a:off x="762000" y="620713"/>
            <a:ext cx="792480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dirty="0">
                <a:latin typeface="Arial" panose="020B0604020202020204" pitchFamily="34" charset="0"/>
                <a:cs typeface="Arial" panose="020B0604020202020204" pitchFamily="34" charset="0"/>
              </a:rPr>
              <a:t>Rasterski prikaz ravnih crta</a:t>
            </a:r>
            <a:r>
              <a:rPr lang="en-GB" altLang="sr-Latn-RS" sz="2800" b="1" dirty="0">
                <a:latin typeface="Arial" panose="020B0604020202020204" pitchFamily="34" charset="0"/>
                <a:cs typeface="Arial" panose="020B0604020202020204" pitchFamily="34" charset="0"/>
              </a:rPr>
              <a:t> </a:t>
            </a:r>
            <a:endParaRPr lang="hr-HR" altLang="sr-Latn-RS" sz="2800" dirty="0">
              <a:latin typeface="Arial" panose="020B0604020202020204" pitchFamily="34" charset="0"/>
              <a:cs typeface="Arial" panose="020B0604020202020204" pitchFamily="34" charset="0"/>
            </a:endParaRPr>
          </a:p>
          <a:p>
            <a:pPr algn="ctr" eaLnBrk="1" hangingPunct="1">
              <a:spcBef>
                <a:spcPct val="50000"/>
              </a:spcBef>
              <a:buClrTx/>
              <a:buSzTx/>
              <a:buFontTx/>
              <a:buNone/>
            </a:pPr>
            <a:r>
              <a:rPr lang="hr-HR" altLang="sr-Latn-RS" sz="2400" b="1" dirty="0">
                <a:latin typeface="Arial" panose="020B0604020202020204" pitchFamily="34" charset="0"/>
                <a:cs typeface="Arial" panose="020B0604020202020204" pitchFamily="34" charset="0"/>
              </a:rPr>
              <a:t>Algoritam središnje točke</a:t>
            </a:r>
          </a:p>
          <a:p>
            <a:pPr algn="ctr" eaLnBrk="1" hangingPunct="1">
              <a:spcBef>
                <a:spcPct val="50000"/>
              </a:spcBef>
              <a:buClrTx/>
              <a:buSzTx/>
              <a:buFontTx/>
              <a:buNone/>
            </a:pPr>
            <a:r>
              <a:rPr lang="hr-HR" altLang="sr-Latn-RS" sz="2400" dirty="0">
                <a:latin typeface="+mj-lt"/>
                <a:cs typeface="Arial" panose="020B0604020202020204" pitchFamily="34" charset="0"/>
              </a:rPr>
              <a:t>(</a:t>
            </a:r>
            <a:r>
              <a:rPr lang="hr-HR" altLang="sr-Latn-RS" sz="2400" dirty="0" err="1">
                <a:latin typeface="+mj-lt"/>
                <a:cs typeface="Arial" panose="020B0604020202020204" pitchFamily="34" charset="0"/>
              </a:rPr>
              <a:t>Bresenham</a:t>
            </a:r>
            <a:r>
              <a:rPr lang="hr-HR" altLang="sr-Latn-RS" sz="2400" dirty="0">
                <a:latin typeface="+mj-lt"/>
                <a:cs typeface="Arial" panose="020B0604020202020204" pitchFamily="34" charset="0"/>
              </a:rPr>
              <a:t> algoritam)</a:t>
            </a:r>
            <a:r>
              <a:rPr lang="en-GB" altLang="sr-Latn-RS" sz="2400" dirty="0">
                <a:latin typeface="Arial" panose="020B0604020202020204" pitchFamily="34" charset="0"/>
                <a:cs typeface="Arial" panose="020B0604020202020204" pitchFamily="34" charset="0"/>
              </a:rPr>
              <a:t> </a:t>
            </a:r>
            <a:endParaRPr lang="hr-HR" altLang="sr-Latn-RS" sz="2400" dirty="0">
              <a:latin typeface="Arial" panose="020B0604020202020204" pitchFamily="34" charset="0"/>
              <a:cs typeface="Arial" panose="020B0604020202020204" pitchFamily="34" charset="0"/>
            </a:endParaRPr>
          </a:p>
        </p:txBody>
      </p:sp>
      <p:sp>
        <p:nvSpPr>
          <p:cNvPr id="112646" name="Rectangle 3">
            <a:extLst>
              <a:ext uri="{FF2B5EF4-FFF2-40B4-BE49-F238E27FC236}">
                <a16:creationId xmlns:a16="http://schemas.microsoft.com/office/drawing/2014/main" id="{F1F21D66-5244-E031-EE1E-1B8F9412BC9A}"/>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12647" name="Rectangle 4">
            <a:extLst>
              <a:ext uri="{FF2B5EF4-FFF2-40B4-BE49-F238E27FC236}">
                <a16:creationId xmlns:a16="http://schemas.microsoft.com/office/drawing/2014/main" id="{AAAB8085-7B52-F8D7-1FD2-81CB9E74B86F}"/>
              </a:ext>
            </a:extLst>
          </p:cNvPr>
          <p:cNvSpPr>
            <a:spLocks noChangeArrowheads="1"/>
          </p:cNvSpPr>
          <p:nvPr/>
        </p:nvSpPr>
        <p:spPr bwMode="auto">
          <a:xfrm>
            <a:off x="3100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12648" name="Rectangle 5">
            <a:extLst>
              <a:ext uri="{FF2B5EF4-FFF2-40B4-BE49-F238E27FC236}">
                <a16:creationId xmlns:a16="http://schemas.microsoft.com/office/drawing/2014/main" id="{E6088D7D-DA83-74D1-259B-C381DA4B47A9}"/>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aphicFrame>
        <p:nvGraphicFramePr>
          <p:cNvPr id="112649" name="Object 6">
            <a:extLst>
              <a:ext uri="{FF2B5EF4-FFF2-40B4-BE49-F238E27FC236}">
                <a16:creationId xmlns:a16="http://schemas.microsoft.com/office/drawing/2014/main" id="{A0060530-C21A-0072-1DE1-6310501BC8B8}"/>
              </a:ext>
            </a:extLst>
          </p:cNvPr>
          <p:cNvGraphicFramePr>
            <a:graphicFrameLocks noChangeAspect="1"/>
          </p:cNvGraphicFramePr>
          <p:nvPr/>
        </p:nvGraphicFramePr>
        <p:xfrm>
          <a:off x="0" y="2225675"/>
          <a:ext cx="114300" cy="142875"/>
        </p:xfrm>
        <a:graphic>
          <a:graphicData uri="http://schemas.openxmlformats.org/presentationml/2006/ole">
            <mc:AlternateContent xmlns:mc="http://schemas.openxmlformats.org/markup-compatibility/2006">
              <mc:Choice xmlns:v="urn:schemas-microsoft-com:vml" Requires="v">
                <p:oleObj r:id="rId3" imgW="114201" imgH="139579" progId="Equation.3">
                  <p:embed/>
                </p:oleObj>
              </mc:Choice>
              <mc:Fallback>
                <p:oleObj r:id="rId3" imgW="114201" imgH="139579" progId="Equation.3">
                  <p:embed/>
                  <p:pic>
                    <p:nvPicPr>
                      <p:cNvPr id="112649" name="Object 6">
                        <a:extLst>
                          <a:ext uri="{FF2B5EF4-FFF2-40B4-BE49-F238E27FC236}">
                            <a16:creationId xmlns:a16="http://schemas.microsoft.com/office/drawing/2014/main" id="{A0060530-C21A-0072-1DE1-6310501BC8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25675"/>
                        <a:ext cx="1143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650" name="Object 7">
            <a:extLst>
              <a:ext uri="{FF2B5EF4-FFF2-40B4-BE49-F238E27FC236}">
                <a16:creationId xmlns:a16="http://schemas.microsoft.com/office/drawing/2014/main" id="{EECDD368-3B23-A320-8B29-C0802A4B3FBB}"/>
              </a:ext>
            </a:extLst>
          </p:cNvPr>
          <p:cNvGraphicFramePr>
            <a:graphicFrameLocks noChangeAspect="1"/>
          </p:cNvGraphicFramePr>
          <p:nvPr/>
        </p:nvGraphicFramePr>
        <p:xfrm>
          <a:off x="0" y="2225675"/>
          <a:ext cx="114300" cy="142875"/>
        </p:xfrm>
        <a:graphic>
          <a:graphicData uri="http://schemas.openxmlformats.org/presentationml/2006/ole">
            <mc:AlternateContent xmlns:mc="http://schemas.openxmlformats.org/markup-compatibility/2006">
              <mc:Choice xmlns:v="urn:schemas-microsoft-com:vml" Requires="v">
                <p:oleObj r:id="rId5" imgW="114201" imgH="139579" progId="Equation.3">
                  <p:embed/>
                </p:oleObj>
              </mc:Choice>
              <mc:Fallback>
                <p:oleObj r:id="rId5" imgW="114201" imgH="139579" progId="Equation.3">
                  <p:embed/>
                  <p:pic>
                    <p:nvPicPr>
                      <p:cNvPr id="112650" name="Object 7">
                        <a:extLst>
                          <a:ext uri="{FF2B5EF4-FFF2-40B4-BE49-F238E27FC236}">
                            <a16:creationId xmlns:a16="http://schemas.microsoft.com/office/drawing/2014/main" id="{EECDD368-3B23-A320-8B29-C0802A4B3F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225675"/>
                        <a:ext cx="1143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5" name="Rectangle 75">
            <a:extLst>
              <a:ext uri="{FF2B5EF4-FFF2-40B4-BE49-F238E27FC236}">
                <a16:creationId xmlns:a16="http://schemas.microsoft.com/office/drawing/2014/main" id="{16A9FE42-E4C7-62DF-350D-2619DF1EF116}"/>
              </a:ext>
            </a:extLst>
          </p:cNvPr>
          <p:cNvSpPr>
            <a:spLocks noChangeArrowheads="1"/>
          </p:cNvSpPr>
          <p:nvPr/>
        </p:nvSpPr>
        <p:spPr bwMode="auto">
          <a:xfrm>
            <a:off x="468313" y="2276475"/>
            <a:ext cx="7988300" cy="2678113"/>
          </a:xfrm>
          <a:prstGeom prst="rect">
            <a:avLst/>
          </a:prstGeom>
          <a:noFill/>
          <a:ln>
            <a:noFill/>
          </a:ln>
        </p:spPr>
        <p:txBody>
          <a:bodyPr>
            <a:spAutoFit/>
          </a:bodyPr>
          <a:lstStyle>
            <a:lvl1pPr marL="342900" indent="-342900" eaLnBrk="0" hangingPunct="0">
              <a:defRPr sz="2400">
                <a:solidFill>
                  <a:srgbClr val="FFFFFF"/>
                </a:solidFill>
                <a:latin typeface="Times New Roman" pitchFamily="18" charset="0"/>
              </a:defRPr>
            </a:lvl1pPr>
            <a:lvl2pPr eaLnBrk="0" hangingPunct="0">
              <a:defRPr sz="2400">
                <a:solidFill>
                  <a:srgbClr val="FFFFFF"/>
                </a:solidFill>
                <a:latin typeface="Times New Roman" pitchFamily="18" charset="0"/>
              </a:defRPr>
            </a:lvl2pPr>
            <a:lvl3pPr marL="1143000" indent="-228600" eaLnBrk="0" hangingPunct="0">
              <a:defRPr sz="2400">
                <a:solidFill>
                  <a:srgbClr val="FFFFFF"/>
                </a:solidFill>
                <a:latin typeface="Times New Roman" pitchFamily="18" charset="0"/>
              </a:defRPr>
            </a:lvl3pPr>
            <a:lvl4pPr marL="1600200" indent="-228600" eaLnBrk="0" hangingPunct="0">
              <a:defRPr sz="2400">
                <a:solidFill>
                  <a:srgbClr val="FFFFFF"/>
                </a:solidFill>
                <a:latin typeface="Times New Roman" pitchFamily="18" charset="0"/>
              </a:defRPr>
            </a:lvl4pPr>
            <a:lvl5pPr marL="2057400" indent="-228600" eaLnBrk="0" hangingPunct="0">
              <a:defRPr sz="2400">
                <a:solidFill>
                  <a:srgbClr val="FFFFFF"/>
                </a:solidFill>
                <a:latin typeface="Times New Roman" pitchFamily="18" charset="0"/>
              </a:defRPr>
            </a:lvl5pPr>
            <a:lvl6pPr marL="2514600" indent="-228600" algn="just" eaLnBrk="0" fontAlgn="base" hangingPunct="0">
              <a:spcBef>
                <a:spcPct val="50000"/>
              </a:spcBef>
              <a:spcAft>
                <a:spcPct val="0"/>
              </a:spcAft>
              <a:defRPr sz="2400">
                <a:solidFill>
                  <a:srgbClr val="FFFFFF"/>
                </a:solidFill>
                <a:latin typeface="Times New Roman" pitchFamily="18" charset="0"/>
              </a:defRPr>
            </a:lvl6pPr>
            <a:lvl7pPr marL="2971800" indent="-228600" algn="just" eaLnBrk="0" fontAlgn="base" hangingPunct="0">
              <a:spcBef>
                <a:spcPct val="50000"/>
              </a:spcBef>
              <a:spcAft>
                <a:spcPct val="0"/>
              </a:spcAft>
              <a:defRPr sz="2400">
                <a:solidFill>
                  <a:srgbClr val="FFFFFF"/>
                </a:solidFill>
                <a:latin typeface="Times New Roman" pitchFamily="18" charset="0"/>
              </a:defRPr>
            </a:lvl7pPr>
            <a:lvl8pPr marL="3429000" indent="-228600" algn="just" eaLnBrk="0" fontAlgn="base" hangingPunct="0">
              <a:spcBef>
                <a:spcPct val="50000"/>
              </a:spcBef>
              <a:spcAft>
                <a:spcPct val="0"/>
              </a:spcAft>
              <a:defRPr sz="2400">
                <a:solidFill>
                  <a:srgbClr val="FFFFFF"/>
                </a:solidFill>
                <a:latin typeface="Times New Roman" pitchFamily="18" charset="0"/>
              </a:defRPr>
            </a:lvl8pPr>
            <a:lvl9pPr marL="3886200" indent="-228600" algn="just" eaLnBrk="0" fontAlgn="base" hangingPunct="0">
              <a:spcBef>
                <a:spcPct val="50000"/>
              </a:spcBef>
              <a:spcAft>
                <a:spcPct val="0"/>
              </a:spcAft>
              <a:defRPr sz="2400">
                <a:solidFill>
                  <a:srgbClr val="FFFFFF"/>
                </a:solidFill>
                <a:latin typeface="Times New Roman" pitchFamily="18" charset="0"/>
              </a:defRPr>
            </a:lvl9pPr>
          </a:lstStyle>
          <a:p>
            <a:pPr marL="800100" lvl="1" indent="-342900" eaLnBrk="1" hangingPunct="1">
              <a:buFont typeface="Arial" panose="020B0604020202020204" pitchFamily="34" charset="0"/>
              <a:buChar char="•"/>
              <a:defRPr/>
            </a:pPr>
            <a:r>
              <a:rPr lang="hr-HR" altLang="sr-Latn-RS" sz="2000" dirty="0">
                <a:solidFill>
                  <a:schemeClr val="tx1"/>
                </a:solidFill>
                <a:latin typeface="Arial" panose="020B0604020202020204" pitchFamily="34" charset="0"/>
                <a:cs typeface="Arial" panose="020B0604020202020204" pitchFamily="34" charset="0"/>
              </a:rPr>
              <a:t>Pretpostavka: nagib pravca između 0 i 1</a:t>
            </a:r>
          </a:p>
          <a:p>
            <a:pPr marL="800100" lvl="1" indent="-342900" eaLnBrk="1" hangingPunct="1">
              <a:buFont typeface="Arial" panose="020B0604020202020204" pitchFamily="34" charset="0"/>
              <a:buChar char="•"/>
              <a:defRPr/>
            </a:pPr>
            <a:endParaRPr lang="hr-HR" altLang="sr-Latn-RS" sz="2000" dirty="0">
              <a:solidFill>
                <a:schemeClr val="tx1"/>
              </a:solidFill>
              <a:latin typeface="Arial" panose="020B0604020202020204" pitchFamily="34" charset="0"/>
              <a:cs typeface="Arial" panose="020B0604020202020204" pitchFamily="34" charset="0"/>
            </a:endParaRPr>
          </a:p>
          <a:p>
            <a:pPr marL="800100" lvl="1" indent="-342900" eaLnBrk="1" hangingPunct="1">
              <a:buFont typeface="Arial" panose="020B0604020202020204" pitchFamily="34" charset="0"/>
              <a:buChar char="•"/>
              <a:defRPr/>
            </a:pPr>
            <a:r>
              <a:rPr lang="hr-HR" altLang="sr-Latn-RS" sz="2000" dirty="0">
                <a:solidFill>
                  <a:schemeClr val="tx1"/>
                </a:solidFill>
                <a:latin typeface="Arial" panose="020B0604020202020204" pitchFamily="34" charset="0"/>
                <a:cs typeface="Arial" panose="020B0604020202020204" pitchFamily="34" charset="0"/>
              </a:rPr>
              <a:t>Za pravce s nagibima izvan ovog intervala primjenjuje se tehnika zrcaljenja oko koordinatnih osi. </a:t>
            </a:r>
          </a:p>
          <a:p>
            <a:pPr marL="800100" lvl="1" indent="-342900" eaLnBrk="1" hangingPunct="1">
              <a:buFont typeface="Arial" panose="020B0604020202020204" pitchFamily="34" charset="0"/>
              <a:buChar char="•"/>
              <a:defRPr/>
            </a:pPr>
            <a:r>
              <a:rPr lang="hr-HR" altLang="sr-Latn-RS" sz="2000" dirty="0">
                <a:solidFill>
                  <a:schemeClr val="tx1"/>
                </a:solidFill>
                <a:latin typeface="Arial" panose="020B0604020202020204" pitchFamily="34" charset="0"/>
                <a:cs typeface="Arial" panose="020B0604020202020204" pitchFamily="34" charset="0"/>
              </a:rPr>
              <a:t>Pravac se preslikava u odgovarajući pravac s nagibom unutar navedenog intervala. </a:t>
            </a:r>
          </a:p>
          <a:p>
            <a:pPr lvl="1">
              <a:spcBef>
                <a:spcPct val="20000"/>
              </a:spcBef>
              <a:buFontTx/>
              <a:buChar char="–"/>
              <a:defRPr/>
            </a:pPr>
            <a:endParaRPr lang="hr-HR" altLang="sr-Latn-RS" sz="2000" i="1" dirty="0">
              <a:solidFill>
                <a:schemeClr val="tx1"/>
              </a:solidFill>
              <a:latin typeface="Arial" panose="020B0604020202020204" pitchFamily="34" charset="0"/>
              <a:cs typeface="Arial" panose="020B0604020202020204" pitchFamily="34" charset="0"/>
            </a:endParaRPr>
          </a:p>
          <a:p>
            <a:pPr marL="800100" lvl="1" indent="-342900">
              <a:spcBef>
                <a:spcPct val="20000"/>
              </a:spcBef>
              <a:buFont typeface="Arial" panose="020B0604020202020204" pitchFamily="34" charset="0"/>
              <a:buChar char="•"/>
              <a:defRPr/>
            </a:pPr>
            <a:r>
              <a:rPr lang="hr-HR" altLang="sr-Latn-RS" sz="2000" dirty="0">
                <a:solidFill>
                  <a:schemeClr val="tx1"/>
                </a:solidFill>
                <a:latin typeface="Arial" panose="020B0604020202020204" pitchFamily="34" charset="0"/>
                <a:cs typeface="Arial" panose="020B0604020202020204" pitchFamily="34" charset="0"/>
              </a:rPr>
              <a:t>Samo inkrementiranje i cjelobrojno procesiranje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Date Placeholder 2">
            <a:extLst>
              <a:ext uri="{FF2B5EF4-FFF2-40B4-BE49-F238E27FC236}">
                <a16:creationId xmlns:a16="http://schemas.microsoft.com/office/drawing/2014/main" id="{5A555189-0F7D-5394-828B-E273071F19ED}"/>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4E7FCC15-01F3-48DD-A6A1-660F20E03F51}"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14692" name="Slide Number Placeholder 4">
            <a:extLst>
              <a:ext uri="{FF2B5EF4-FFF2-40B4-BE49-F238E27FC236}">
                <a16:creationId xmlns:a16="http://schemas.microsoft.com/office/drawing/2014/main" id="{E25F88C0-5E8A-DE9F-9D3D-6B7912B494E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EF9C4C1A-BEE2-470E-AF4F-159A2669F747}" type="slidenum">
              <a:rPr lang="en-GB" altLang="sr-Latn-RS" sz="1400" smtClean="0">
                <a:latin typeface="Times New Roman" panose="02020603050405020304" pitchFamily="18" charset="0"/>
              </a:rPr>
              <a:pPr>
                <a:spcBef>
                  <a:spcPct val="50000"/>
                </a:spcBef>
                <a:buClrTx/>
                <a:buSzTx/>
                <a:buFontTx/>
                <a:buNone/>
              </a:pPr>
              <a:t>21</a:t>
            </a:fld>
            <a:endParaRPr lang="en-GB" altLang="sr-Latn-RS" sz="1400">
              <a:latin typeface="Times New Roman" panose="02020603050405020304" pitchFamily="18" charset="0"/>
            </a:endParaRPr>
          </a:p>
        </p:txBody>
      </p:sp>
      <p:sp>
        <p:nvSpPr>
          <p:cNvPr id="114693" name="Text Box 2">
            <a:extLst>
              <a:ext uri="{FF2B5EF4-FFF2-40B4-BE49-F238E27FC236}">
                <a16:creationId xmlns:a16="http://schemas.microsoft.com/office/drawing/2014/main" id="{FEACE4A6-51FB-94CD-5472-565F335F1146}"/>
              </a:ext>
            </a:extLst>
          </p:cNvPr>
          <p:cNvSpPr txBox="1">
            <a:spLocks noChangeArrowheads="1"/>
          </p:cNvSpPr>
          <p:nvPr/>
        </p:nvSpPr>
        <p:spPr bwMode="auto">
          <a:xfrm>
            <a:off x="762000" y="620713"/>
            <a:ext cx="7924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ravnih crta</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a:p>
            <a:pPr algn="ctr" eaLnBrk="1" hangingPunct="1">
              <a:spcBef>
                <a:spcPct val="50000"/>
              </a:spcBef>
              <a:buClrTx/>
              <a:buSzTx/>
              <a:buFontTx/>
              <a:buNone/>
            </a:pPr>
            <a:r>
              <a:rPr lang="hr-HR" altLang="sr-Latn-RS" sz="2400" b="1">
                <a:latin typeface="Arial" panose="020B0604020202020204" pitchFamily="34" charset="0"/>
                <a:cs typeface="Arial" panose="020B0604020202020204" pitchFamily="34" charset="0"/>
              </a:rPr>
              <a:t>Algoritam središnje točke</a:t>
            </a:r>
            <a:r>
              <a:rPr lang="en-GB" altLang="sr-Latn-RS" sz="2400">
                <a:latin typeface="Arial" panose="020B0604020202020204" pitchFamily="34" charset="0"/>
                <a:cs typeface="Arial" panose="020B0604020202020204" pitchFamily="34" charset="0"/>
              </a:rPr>
              <a:t> </a:t>
            </a:r>
            <a:endParaRPr lang="hr-HR" altLang="sr-Latn-RS" sz="2400">
              <a:latin typeface="Arial" panose="020B0604020202020204" pitchFamily="34" charset="0"/>
              <a:cs typeface="Arial" panose="020B0604020202020204" pitchFamily="34" charset="0"/>
            </a:endParaRPr>
          </a:p>
        </p:txBody>
      </p:sp>
      <p:sp>
        <p:nvSpPr>
          <p:cNvPr id="114694" name="Rectangle 3">
            <a:extLst>
              <a:ext uri="{FF2B5EF4-FFF2-40B4-BE49-F238E27FC236}">
                <a16:creationId xmlns:a16="http://schemas.microsoft.com/office/drawing/2014/main" id="{B760552E-359E-6625-3175-58968BF891C8}"/>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14695" name="Rectangle 4">
            <a:extLst>
              <a:ext uri="{FF2B5EF4-FFF2-40B4-BE49-F238E27FC236}">
                <a16:creationId xmlns:a16="http://schemas.microsoft.com/office/drawing/2014/main" id="{684AE03E-3D28-1242-5A2C-FD8F0355231C}"/>
              </a:ext>
            </a:extLst>
          </p:cNvPr>
          <p:cNvSpPr>
            <a:spLocks noChangeArrowheads="1"/>
          </p:cNvSpPr>
          <p:nvPr/>
        </p:nvSpPr>
        <p:spPr bwMode="auto">
          <a:xfrm>
            <a:off x="3100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14696" name="Rectangle 5">
            <a:extLst>
              <a:ext uri="{FF2B5EF4-FFF2-40B4-BE49-F238E27FC236}">
                <a16:creationId xmlns:a16="http://schemas.microsoft.com/office/drawing/2014/main" id="{A50C8AAF-2F8C-E2D5-DEAF-DF13F2497FAD}"/>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14697" name="Rectangle 9">
            <a:extLst>
              <a:ext uri="{FF2B5EF4-FFF2-40B4-BE49-F238E27FC236}">
                <a16:creationId xmlns:a16="http://schemas.microsoft.com/office/drawing/2014/main" id="{7E0CFD02-8EAB-C4DE-5FCC-747643278045}"/>
              </a:ext>
            </a:extLst>
          </p:cNvPr>
          <p:cNvSpPr>
            <a:spLocks noChangeArrowheads="1"/>
          </p:cNvSpPr>
          <p:nvPr/>
        </p:nvSpPr>
        <p:spPr bwMode="auto">
          <a:xfrm>
            <a:off x="762000" y="5661025"/>
            <a:ext cx="7772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lvl="1" eaLnBrk="1" hangingPunct="1">
              <a:spcBef>
                <a:spcPct val="0"/>
              </a:spcBef>
              <a:buClrTx/>
              <a:buSzTx/>
              <a:buFontTx/>
              <a:buNone/>
            </a:pPr>
            <a:r>
              <a:rPr lang="hr-HR" altLang="sr-Latn-RS" sz="2000">
                <a:latin typeface="Arial" panose="020B0604020202020204" pitchFamily="34" charset="0"/>
                <a:cs typeface="Arial" panose="020B0604020202020204" pitchFamily="34" charset="0"/>
              </a:rPr>
              <a:t>Primjene algoritma središnje točke za crtanje ravne crte</a:t>
            </a:r>
            <a:r>
              <a:rPr lang="en-GB" altLang="sr-Latn-RS" sz="2000">
                <a:latin typeface="Arial" panose="020B0604020202020204" pitchFamily="34" charset="0"/>
                <a:cs typeface="Arial" panose="020B0604020202020204" pitchFamily="34" charset="0"/>
              </a:rPr>
              <a:t> </a:t>
            </a:r>
            <a:endParaRPr lang="hr-HR" altLang="sr-Latn-RS" sz="2000">
              <a:latin typeface="Arial" panose="020B0604020202020204" pitchFamily="34" charset="0"/>
              <a:cs typeface="Arial" panose="020B0604020202020204" pitchFamily="34" charset="0"/>
            </a:endParaRPr>
          </a:p>
        </p:txBody>
      </p:sp>
      <p:sp>
        <p:nvSpPr>
          <p:cNvPr id="114698" name="Rectangle 11">
            <a:extLst>
              <a:ext uri="{FF2B5EF4-FFF2-40B4-BE49-F238E27FC236}">
                <a16:creationId xmlns:a16="http://schemas.microsoft.com/office/drawing/2014/main" id="{8BC6B8AB-6D52-FFE7-0E5A-54EEEC7FDBE9}"/>
              </a:ext>
            </a:extLst>
          </p:cNvPr>
          <p:cNvSpPr>
            <a:spLocks noChangeArrowheads="1"/>
          </p:cNvSpPr>
          <p:nvPr/>
        </p:nvSpPr>
        <p:spPr bwMode="auto">
          <a:xfrm>
            <a:off x="3300413"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pic>
        <p:nvPicPr>
          <p:cNvPr id="114699" name="Picture 10" descr="Slika25">
            <a:extLst>
              <a:ext uri="{FF2B5EF4-FFF2-40B4-BE49-F238E27FC236}">
                <a16:creationId xmlns:a16="http://schemas.microsoft.com/office/drawing/2014/main" id="{15275DD8-F835-5FB3-6495-64C1C9B897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905000"/>
            <a:ext cx="353853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700" name="Rectangle 12">
            <a:extLst>
              <a:ext uri="{FF2B5EF4-FFF2-40B4-BE49-F238E27FC236}">
                <a16:creationId xmlns:a16="http://schemas.microsoft.com/office/drawing/2014/main" id="{B06A30B6-6C65-F4C9-4682-9FAB7FF05DA1}"/>
              </a:ext>
            </a:extLst>
          </p:cNvPr>
          <p:cNvSpPr>
            <a:spLocks noChangeArrowheads="1"/>
          </p:cNvSpPr>
          <p:nvPr/>
        </p:nvSpPr>
        <p:spPr bwMode="auto">
          <a:xfrm>
            <a:off x="0" y="2057400"/>
            <a:ext cx="4572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914400" indent="-45720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lvl="1" eaLnBrk="1" hangingPunct="1">
              <a:spcBef>
                <a:spcPct val="0"/>
              </a:spcBef>
              <a:buClrTx/>
              <a:buSzTx/>
              <a:buFontTx/>
              <a:buNone/>
            </a:pPr>
            <a:r>
              <a:rPr lang="hr-HR" altLang="sr-Latn-RS" sz="2000" dirty="0">
                <a:latin typeface="Arial" panose="020B0604020202020204" pitchFamily="34" charset="0"/>
                <a:cs typeface="Arial" panose="020B0604020202020204" pitchFamily="34" charset="0"/>
              </a:rPr>
              <a:t>P: posljednja odabrana točka</a:t>
            </a:r>
          </a:p>
          <a:p>
            <a:pPr lvl="1" eaLnBrk="1" hangingPunct="1">
              <a:spcBef>
                <a:spcPct val="0"/>
              </a:spcBef>
              <a:buClrTx/>
              <a:buSzTx/>
              <a:buFontTx/>
              <a:buNone/>
            </a:pPr>
            <a:r>
              <a:rPr lang="hr-HR" altLang="sr-Latn-RS" sz="2000" dirty="0">
                <a:latin typeface="Arial" panose="020B0604020202020204" pitchFamily="34" charset="0"/>
                <a:cs typeface="Arial" panose="020B0604020202020204" pitchFamily="34" charset="0"/>
              </a:rPr>
              <a:t>Izbor između dviju mogućih točaka: D i GD</a:t>
            </a:r>
          </a:p>
          <a:p>
            <a:pPr lvl="1" eaLnBrk="1" hangingPunct="1">
              <a:spcBef>
                <a:spcPct val="0"/>
              </a:spcBef>
              <a:buClrTx/>
              <a:buSzTx/>
              <a:buFontTx/>
              <a:buNone/>
            </a:pPr>
            <a:r>
              <a:rPr lang="hr-HR" altLang="sr-Latn-RS" sz="2000" dirty="0">
                <a:latin typeface="Arial" panose="020B0604020202020204" pitchFamily="34" charset="0"/>
                <a:cs typeface="Arial" panose="020B0604020202020204" pitchFamily="34" charset="0"/>
              </a:rPr>
              <a:t>S : točka </a:t>
            </a:r>
            <a:r>
              <a:rPr lang="hr-HR" altLang="sr-Latn-RS" sz="2000" dirty="0" err="1">
                <a:latin typeface="Arial" panose="020B0604020202020204" pitchFamily="34" charset="0"/>
                <a:cs typeface="Arial" panose="020B0604020202020204" pitchFamily="34" charset="0"/>
              </a:rPr>
              <a:t>polovišta</a:t>
            </a:r>
            <a:r>
              <a:rPr lang="hr-HR" altLang="sr-Latn-RS" sz="2000" dirty="0">
                <a:latin typeface="Arial" panose="020B0604020202020204" pitchFamily="34" charset="0"/>
                <a:cs typeface="Arial" panose="020B0604020202020204" pitchFamily="34" charset="0"/>
              </a:rPr>
              <a:t> dužine koja povezuje točke D i GD</a:t>
            </a:r>
          </a:p>
          <a:p>
            <a:pPr lvl="1" eaLnBrk="1" hangingPunct="1">
              <a:spcBef>
                <a:spcPct val="0"/>
              </a:spcBef>
              <a:buClrTx/>
              <a:buSzTx/>
              <a:buFontTx/>
              <a:buAutoNum type="arabicPeriod"/>
            </a:pPr>
            <a:r>
              <a:rPr lang="hr-HR" altLang="sr-Latn-RS" sz="2000" dirty="0">
                <a:latin typeface="Arial" panose="020B0604020202020204" pitchFamily="34" charset="0"/>
                <a:cs typeface="Arial" panose="020B0604020202020204" pitchFamily="34" charset="0"/>
              </a:rPr>
              <a:t>S ispod idealnog pravca - GD bliža idealnom pravcu.</a:t>
            </a:r>
          </a:p>
          <a:p>
            <a:pPr lvl="1" eaLnBrk="1" hangingPunct="1">
              <a:spcBef>
                <a:spcPct val="0"/>
              </a:spcBef>
              <a:buClrTx/>
              <a:buSzTx/>
              <a:buFontTx/>
              <a:buAutoNum type="arabicPeriod"/>
            </a:pPr>
            <a:r>
              <a:rPr lang="hr-HR" altLang="sr-Latn-RS" sz="2000" dirty="0">
                <a:latin typeface="Arial" panose="020B0604020202020204" pitchFamily="34" charset="0"/>
                <a:cs typeface="Arial" panose="020B0604020202020204" pitchFamily="34" charset="0"/>
              </a:rPr>
              <a:t>S iznad idealnog pravca - D bliža idealnom pravcu.</a:t>
            </a:r>
            <a:r>
              <a:rPr lang="en-GB" altLang="sr-Latn-RS" sz="2000" dirty="0">
                <a:latin typeface="Arial" panose="020B0604020202020204" pitchFamily="34" charset="0"/>
                <a:cs typeface="Arial" panose="020B0604020202020204" pitchFamily="34" charset="0"/>
              </a:rPr>
              <a:t>  </a:t>
            </a:r>
            <a:endParaRPr lang="hr-HR" altLang="sr-Latn-RS" sz="2000" dirty="0">
              <a:latin typeface="Arial" panose="020B0604020202020204" pitchFamily="34"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Date Placeholder 2">
            <a:extLst>
              <a:ext uri="{FF2B5EF4-FFF2-40B4-BE49-F238E27FC236}">
                <a16:creationId xmlns:a16="http://schemas.microsoft.com/office/drawing/2014/main" id="{904A1564-2ECA-A982-25EC-7DF37F94631F}"/>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001EC600-F1F4-4599-B71C-9D0D885A8029}"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16740" name="Slide Number Placeholder 4">
            <a:extLst>
              <a:ext uri="{FF2B5EF4-FFF2-40B4-BE49-F238E27FC236}">
                <a16:creationId xmlns:a16="http://schemas.microsoft.com/office/drawing/2014/main" id="{766FA6A3-80FD-46FB-1165-F88B05FA0BD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A22514B5-9C74-4C36-B498-6311EBB78F51}" type="slidenum">
              <a:rPr lang="en-GB" altLang="sr-Latn-RS" sz="1400" smtClean="0">
                <a:latin typeface="Times New Roman" panose="02020603050405020304" pitchFamily="18" charset="0"/>
              </a:rPr>
              <a:pPr>
                <a:spcBef>
                  <a:spcPct val="50000"/>
                </a:spcBef>
                <a:buClrTx/>
                <a:buSzTx/>
                <a:buFontTx/>
                <a:buNone/>
              </a:pPr>
              <a:t>22</a:t>
            </a:fld>
            <a:endParaRPr lang="en-GB" altLang="sr-Latn-RS" sz="1400">
              <a:latin typeface="Times New Roman" panose="02020603050405020304" pitchFamily="18" charset="0"/>
            </a:endParaRPr>
          </a:p>
        </p:txBody>
      </p:sp>
      <p:sp>
        <p:nvSpPr>
          <p:cNvPr id="116741" name="Text Box 2">
            <a:extLst>
              <a:ext uri="{FF2B5EF4-FFF2-40B4-BE49-F238E27FC236}">
                <a16:creationId xmlns:a16="http://schemas.microsoft.com/office/drawing/2014/main" id="{8B3D34B3-BFB3-9DBB-9CD0-D8EB02203B2D}"/>
              </a:ext>
            </a:extLst>
          </p:cNvPr>
          <p:cNvSpPr txBox="1">
            <a:spLocks noChangeArrowheads="1"/>
          </p:cNvSpPr>
          <p:nvPr/>
        </p:nvSpPr>
        <p:spPr bwMode="auto">
          <a:xfrm>
            <a:off x="762000" y="620713"/>
            <a:ext cx="7924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ravnih crta</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a:p>
            <a:pPr algn="ctr" eaLnBrk="1" hangingPunct="1">
              <a:spcBef>
                <a:spcPct val="50000"/>
              </a:spcBef>
              <a:buClrTx/>
              <a:buSzTx/>
              <a:buFontTx/>
              <a:buNone/>
            </a:pPr>
            <a:r>
              <a:rPr lang="hr-HR" altLang="sr-Latn-RS" sz="2400" b="1">
                <a:latin typeface="Arial" panose="020B0604020202020204" pitchFamily="34" charset="0"/>
                <a:cs typeface="Arial" panose="020B0604020202020204" pitchFamily="34" charset="0"/>
              </a:rPr>
              <a:t>Algoritam središnje točke</a:t>
            </a:r>
            <a:r>
              <a:rPr lang="en-GB" altLang="sr-Latn-RS" sz="2400">
                <a:latin typeface="Arial" panose="020B0604020202020204" pitchFamily="34" charset="0"/>
                <a:cs typeface="Arial" panose="020B0604020202020204" pitchFamily="34" charset="0"/>
              </a:rPr>
              <a:t> </a:t>
            </a:r>
            <a:endParaRPr lang="hr-HR" altLang="sr-Latn-RS" sz="2400">
              <a:latin typeface="Arial" panose="020B0604020202020204" pitchFamily="34" charset="0"/>
              <a:cs typeface="Arial" panose="020B0604020202020204" pitchFamily="34" charset="0"/>
            </a:endParaRPr>
          </a:p>
        </p:txBody>
      </p:sp>
      <p:sp>
        <p:nvSpPr>
          <p:cNvPr id="116742" name="Rectangle 3">
            <a:extLst>
              <a:ext uri="{FF2B5EF4-FFF2-40B4-BE49-F238E27FC236}">
                <a16:creationId xmlns:a16="http://schemas.microsoft.com/office/drawing/2014/main" id="{A01AE722-C157-F84E-0E1C-5C19C03B25DF}"/>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16743" name="Rectangle 4">
            <a:extLst>
              <a:ext uri="{FF2B5EF4-FFF2-40B4-BE49-F238E27FC236}">
                <a16:creationId xmlns:a16="http://schemas.microsoft.com/office/drawing/2014/main" id="{1E4E100D-12FB-55C0-FD79-F4DCE983EB4F}"/>
              </a:ext>
            </a:extLst>
          </p:cNvPr>
          <p:cNvSpPr>
            <a:spLocks noChangeArrowheads="1"/>
          </p:cNvSpPr>
          <p:nvPr/>
        </p:nvSpPr>
        <p:spPr bwMode="auto">
          <a:xfrm>
            <a:off x="3100388"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16744" name="Rectangle 5">
            <a:extLst>
              <a:ext uri="{FF2B5EF4-FFF2-40B4-BE49-F238E27FC236}">
                <a16:creationId xmlns:a16="http://schemas.microsoft.com/office/drawing/2014/main" id="{7A95C915-F131-5C5C-5501-B7009AA10833}"/>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aphicFrame>
        <p:nvGraphicFramePr>
          <p:cNvPr id="116745" name="Object 6">
            <a:extLst>
              <a:ext uri="{FF2B5EF4-FFF2-40B4-BE49-F238E27FC236}">
                <a16:creationId xmlns:a16="http://schemas.microsoft.com/office/drawing/2014/main" id="{B95C4228-993B-21D6-2980-2873480211BC}"/>
              </a:ext>
            </a:extLst>
          </p:cNvPr>
          <p:cNvGraphicFramePr>
            <a:graphicFrameLocks noChangeAspect="1"/>
          </p:cNvGraphicFramePr>
          <p:nvPr/>
        </p:nvGraphicFramePr>
        <p:xfrm>
          <a:off x="0" y="2225675"/>
          <a:ext cx="114300" cy="142875"/>
        </p:xfrm>
        <a:graphic>
          <a:graphicData uri="http://schemas.openxmlformats.org/presentationml/2006/ole">
            <mc:AlternateContent xmlns:mc="http://schemas.openxmlformats.org/markup-compatibility/2006">
              <mc:Choice xmlns:v="urn:schemas-microsoft-com:vml" Requires="v">
                <p:oleObj r:id="rId3" imgW="114201" imgH="139579" progId="Equation.3">
                  <p:embed/>
                </p:oleObj>
              </mc:Choice>
              <mc:Fallback>
                <p:oleObj r:id="rId3" imgW="114201" imgH="139579" progId="Equation.3">
                  <p:embed/>
                  <p:pic>
                    <p:nvPicPr>
                      <p:cNvPr id="116745" name="Object 6">
                        <a:extLst>
                          <a:ext uri="{FF2B5EF4-FFF2-40B4-BE49-F238E27FC236}">
                            <a16:creationId xmlns:a16="http://schemas.microsoft.com/office/drawing/2014/main" id="{B95C4228-993B-21D6-2980-2873480211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25675"/>
                        <a:ext cx="1143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6746" name="Object 7">
            <a:extLst>
              <a:ext uri="{FF2B5EF4-FFF2-40B4-BE49-F238E27FC236}">
                <a16:creationId xmlns:a16="http://schemas.microsoft.com/office/drawing/2014/main" id="{D908A803-036C-4544-3435-4011931BC69D}"/>
              </a:ext>
            </a:extLst>
          </p:cNvPr>
          <p:cNvGraphicFramePr>
            <a:graphicFrameLocks noChangeAspect="1"/>
          </p:cNvGraphicFramePr>
          <p:nvPr/>
        </p:nvGraphicFramePr>
        <p:xfrm>
          <a:off x="0" y="2225675"/>
          <a:ext cx="114300" cy="142875"/>
        </p:xfrm>
        <a:graphic>
          <a:graphicData uri="http://schemas.openxmlformats.org/presentationml/2006/ole">
            <mc:AlternateContent xmlns:mc="http://schemas.openxmlformats.org/markup-compatibility/2006">
              <mc:Choice xmlns:v="urn:schemas-microsoft-com:vml" Requires="v">
                <p:oleObj r:id="rId5" imgW="114201" imgH="139579" progId="Equation.3">
                  <p:embed/>
                </p:oleObj>
              </mc:Choice>
              <mc:Fallback>
                <p:oleObj r:id="rId5" imgW="114201" imgH="139579" progId="Equation.3">
                  <p:embed/>
                  <p:pic>
                    <p:nvPicPr>
                      <p:cNvPr id="116746" name="Object 7">
                        <a:extLst>
                          <a:ext uri="{FF2B5EF4-FFF2-40B4-BE49-F238E27FC236}">
                            <a16:creationId xmlns:a16="http://schemas.microsoft.com/office/drawing/2014/main" id="{D908A803-036C-4544-3435-4011931BC6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225675"/>
                        <a:ext cx="1143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6747" name="Rectangle 10">
            <a:extLst>
              <a:ext uri="{FF2B5EF4-FFF2-40B4-BE49-F238E27FC236}">
                <a16:creationId xmlns:a16="http://schemas.microsoft.com/office/drawing/2014/main" id="{60D4ECD4-18D4-3756-82B1-CB458BB7E853}"/>
              </a:ext>
            </a:extLst>
          </p:cNvPr>
          <p:cNvSpPr>
            <a:spLocks noChangeArrowheads="1"/>
          </p:cNvSpPr>
          <p:nvPr/>
        </p:nvSpPr>
        <p:spPr bwMode="auto">
          <a:xfrm>
            <a:off x="3300413"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16748" name="Rectangle 12">
            <a:extLst>
              <a:ext uri="{FF2B5EF4-FFF2-40B4-BE49-F238E27FC236}">
                <a16:creationId xmlns:a16="http://schemas.microsoft.com/office/drawing/2014/main" id="{76A3F77C-3D9B-96BA-D3B2-87A9E52E8D29}"/>
              </a:ext>
            </a:extLst>
          </p:cNvPr>
          <p:cNvSpPr>
            <a:spLocks noChangeArrowheads="1"/>
          </p:cNvSpPr>
          <p:nvPr/>
        </p:nvSpPr>
        <p:spPr bwMode="auto">
          <a:xfrm>
            <a:off x="457200" y="1905000"/>
            <a:ext cx="8229600" cy="409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20000"/>
              </a:spcBef>
              <a:buClrTx/>
              <a:buSzTx/>
              <a:buFontTx/>
              <a:buChar char="•"/>
            </a:pPr>
            <a:r>
              <a:rPr lang="hr-HR" altLang="sr-Latn-RS" sz="2000">
                <a:latin typeface="Arial" panose="020B0604020202020204" pitchFamily="34" charset="0"/>
                <a:cs typeface="Arial" panose="020B0604020202020204" pitchFamily="34" charset="0"/>
              </a:rPr>
              <a:t>Koristimo implicitni oblik pravca</a:t>
            </a:r>
            <a:r>
              <a:rPr lang="en-US" altLang="sr-Latn-RS" sz="2000">
                <a:latin typeface="Arial" panose="020B0604020202020204" pitchFamily="34" charset="0"/>
                <a:cs typeface="Arial" panose="020B0604020202020204" pitchFamily="34" charset="0"/>
              </a:rPr>
              <a:t>:</a:t>
            </a:r>
          </a:p>
          <a:p>
            <a:pPr>
              <a:spcBef>
                <a:spcPct val="20000"/>
              </a:spcBef>
              <a:buClrTx/>
              <a:buSzTx/>
              <a:buFontTx/>
              <a:buChar char="•"/>
            </a:pPr>
            <a:endParaRPr lang="en-US" altLang="sr-Latn-RS" sz="2000">
              <a:latin typeface="Arial" panose="020B0604020202020204" pitchFamily="34" charset="0"/>
              <a:cs typeface="Arial" panose="020B0604020202020204" pitchFamily="34" charset="0"/>
            </a:endParaRPr>
          </a:p>
          <a:p>
            <a:pPr>
              <a:spcBef>
                <a:spcPct val="20000"/>
              </a:spcBef>
              <a:buClrTx/>
              <a:buSzTx/>
              <a:buFontTx/>
              <a:buChar char="•"/>
            </a:pPr>
            <a:endParaRPr lang="en-US" altLang="sr-Latn-RS" sz="2000">
              <a:latin typeface="Arial" panose="020B0604020202020204" pitchFamily="34" charset="0"/>
              <a:cs typeface="Arial" panose="020B0604020202020204" pitchFamily="34" charset="0"/>
            </a:endParaRPr>
          </a:p>
          <a:p>
            <a:pPr>
              <a:spcBef>
                <a:spcPct val="20000"/>
              </a:spcBef>
              <a:buClrTx/>
              <a:buSzTx/>
              <a:buFontTx/>
              <a:buChar char="•"/>
            </a:pPr>
            <a:endParaRPr lang="en-US" altLang="sr-Latn-RS" sz="2000">
              <a:latin typeface="Arial" panose="020B0604020202020204" pitchFamily="34" charset="0"/>
              <a:cs typeface="Arial" panose="020B0604020202020204" pitchFamily="34" charset="0"/>
            </a:endParaRPr>
          </a:p>
          <a:p>
            <a:pPr>
              <a:spcBef>
                <a:spcPct val="20000"/>
              </a:spcBef>
              <a:buClrTx/>
              <a:buSzTx/>
              <a:buFontTx/>
              <a:buChar char="•"/>
            </a:pPr>
            <a:endParaRPr lang="en-US" altLang="sr-Latn-RS" sz="2000">
              <a:latin typeface="Arial" panose="020B0604020202020204" pitchFamily="34" charset="0"/>
              <a:cs typeface="Arial" panose="020B0604020202020204" pitchFamily="34" charset="0"/>
            </a:endParaRPr>
          </a:p>
          <a:p>
            <a:pPr>
              <a:spcBef>
                <a:spcPct val="20000"/>
              </a:spcBef>
              <a:buClrTx/>
              <a:buSzTx/>
              <a:buFontTx/>
              <a:buChar char="•"/>
            </a:pPr>
            <a:endParaRPr lang="hr-HR" altLang="sr-Latn-RS" sz="2000">
              <a:latin typeface="Arial" panose="020B0604020202020204" pitchFamily="34" charset="0"/>
              <a:cs typeface="Arial" panose="020B0604020202020204" pitchFamily="34" charset="0"/>
            </a:endParaRPr>
          </a:p>
          <a:p>
            <a:pPr>
              <a:spcBef>
                <a:spcPct val="20000"/>
              </a:spcBef>
              <a:buClrTx/>
              <a:buSzTx/>
              <a:buFontTx/>
              <a:buChar char="•"/>
            </a:pPr>
            <a:r>
              <a:rPr lang="hr-HR" altLang="sr-Latn-RS" sz="2000">
                <a:latin typeface="Arial" panose="020B0604020202020204" pitchFamily="34" charset="0"/>
                <a:cs typeface="Arial" panose="020B0604020202020204" pitchFamily="34" charset="0"/>
              </a:rPr>
              <a:t>U svakoj iteraciji utvrdimo da li je sred.točka iznad ili ispod pravca</a:t>
            </a:r>
          </a:p>
          <a:p>
            <a:pPr>
              <a:spcBef>
                <a:spcPct val="20000"/>
              </a:spcBef>
              <a:buClrTx/>
              <a:buSzTx/>
              <a:buFontTx/>
              <a:buChar char="•"/>
            </a:pPr>
            <a:endParaRPr lang="hr-HR" altLang="sr-Latn-RS" sz="2000">
              <a:latin typeface="Arial" panose="020B0604020202020204" pitchFamily="34" charset="0"/>
              <a:cs typeface="Arial" panose="020B0604020202020204" pitchFamily="34" charset="0"/>
            </a:endParaRPr>
          </a:p>
          <a:p>
            <a:pPr>
              <a:spcBef>
                <a:spcPct val="20000"/>
              </a:spcBef>
              <a:buClrTx/>
              <a:buSzTx/>
              <a:buFontTx/>
              <a:buChar char="•"/>
            </a:pPr>
            <a:r>
              <a:rPr lang="hr-HR" altLang="sr-Latn-RS" sz="2000">
                <a:latin typeface="Arial" panose="020B0604020202020204" pitchFamily="34" charset="0"/>
                <a:cs typeface="Arial" panose="020B0604020202020204" pitchFamily="34" charset="0"/>
              </a:rPr>
              <a:t>Ispitaj vrijednost od</a:t>
            </a:r>
            <a:r>
              <a:rPr lang="en-US" altLang="sr-Latn-RS" sz="2000">
                <a:latin typeface="Arial" panose="020B0604020202020204" pitchFamily="34" charset="0"/>
                <a:cs typeface="Arial" panose="020B0604020202020204" pitchFamily="34" charset="0"/>
              </a:rPr>
              <a:t>: </a:t>
            </a:r>
          </a:p>
          <a:p>
            <a:pPr>
              <a:spcBef>
                <a:spcPct val="20000"/>
              </a:spcBef>
              <a:buClrTx/>
              <a:buSzTx/>
              <a:buFontTx/>
              <a:buChar char="•"/>
            </a:pPr>
            <a:endParaRPr lang="en-US" altLang="sr-Latn-RS" sz="2000">
              <a:latin typeface="Arial" panose="020B0604020202020204" pitchFamily="34" charset="0"/>
              <a:cs typeface="Arial" panose="020B0604020202020204" pitchFamily="34" charset="0"/>
            </a:endParaRPr>
          </a:p>
          <a:p>
            <a:pPr>
              <a:spcBef>
                <a:spcPct val="20000"/>
              </a:spcBef>
              <a:buClrTx/>
              <a:buSzTx/>
              <a:buFontTx/>
              <a:buChar char="•"/>
            </a:pPr>
            <a:r>
              <a:rPr lang="en-US" altLang="sr-Latn-RS" sz="2000" i="1">
                <a:latin typeface="Arial" panose="020B0604020202020204" pitchFamily="34" charset="0"/>
                <a:cs typeface="Arial" panose="020B0604020202020204" pitchFamily="34" charset="0"/>
              </a:rPr>
              <a:t>d</a:t>
            </a:r>
            <a:r>
              <a:rPr lang="en-US" altLang="sr-Latn-RS" sz="2000" i="1" baseline="-25000">
                <a:latin typeface="Arial" panose="020B0604020202020204" pitchFamily="34" charset="0"/>
                <a:cs typeface="Arial" panose="020B0604020202020204" pitchFamily="34" charset="0"/>
              </a:rPr>
              <a:t>i</a:t>
            </a:r>
            <a:r>
              <a:rPr lang="en-US" altLang="sr-Latn-RS" sz="2000">
                <a:latin typeface="Arial" panose="020B0604020202020204" pitchFamily="34" charset="0"/>
                <a:cs typeface="Arial" panose="020B0604020202020204" pitchFamily="34" charset="0"/>
              </a:rPr>
              <a:t> </a:t>
            </a:r>
            <a:r>
              <a:rPr lang="hr-HR" altLang="sr-Latn-RS" sz="2000">
                <a:latin typeface="Arial" panose="020B0604020202020204" pitchFamily="34" charset="0"/>
                <a:cs typeface="Arial" panose="020B0604020202020204" pitchFamily="34" charset="0"/>
              </a:rPr>
              <a:t>- varijabla odluke u </a:t>
            </a:r>
            <a:r>
              <a:rPr lang="hr-HR" altLang="sr-Latn-RS" sz="2000" i="1">
                <a:latin typeface="Arial" panose="020B0604020202020204" pitchFamily="34" charset="0"/>
                <a:cs typeface="Arial" panose="020B0604020202020204" pitchFamily="34" charset="0"/>
              </a:rPr>
              <a:t>i</a:t>
            </a:r>
            <a:r>
              <a:rPr lang="hr-HR" altLang="sr-Latn-RS" sz="2000">
                <a:latin typeface="Arial" panose="020B0604020202020204" pitchFamily="34" charset="0"/>
                <a:cs typeface="Arial" panose="020B0604020202020204" pitchFamily="34" charset="0"/>
              </a:rPr>
              <a:t> – tom koraku</a:t>
            </a:r>
            <a:endParaRPr lang="en-US" altLang="sr-Latn-RS" sz="2000" i="1">
              <a:latin typeface="Arial" panose="020B0604020202020204" pitchFamily="34" charset="0"/>
              <a:cs typeface="Arial" panose="020B0604020202020204" pitchFamily="34" charset="0"/>
            </a:endParaRPr>
          </a:p>
        </p:txBody>
      </p:sp>
      <p:grpSp>
        <p:nvGrpSpPr>
          <p:cNvPr id="116749" name="Group 13">
            <a:extLst>
              <a:ext uri="{FF2B5EF4-FFF2-40B4-BE49-F238E27FC236}">
                <a16:creationId xmlns:a16="http://schemas.microsoft.com/office/drawing/2014/main" id="{327698FC-6F44-001E-4653-14C216F051A3}"/>
              </a:ext>
            </a:extLst>
          </p:cNvPr>
          <p:cNvGrpSpPr>
            <a:grpSpLocks/>
          </p:cNvGrpSpPr>
          <p:nvPr/>
        </p:nvGrpSpPr>
        <p:grpSpPr bwMode="auto">
          <a:xfrm>
            <a:off x="2133600" y="2514600"/>
            <a:ext cx="5451475" cy="1387475"/>
            <a:chOff x="1008" y="1488"/>
            <a:chExt cx="2877" cy="874"/>
          </a:xfrm>
        </p:grpSpPr>
        <p:graphicFrame>
          <p:nvGraphicFramePr>
            <p:cNvPr id="116751" name="Object 14">
              <a:extLst>
                <a:ext uri="{FF2B5EF4-FFF2-40B4-BE49-F238E27FC236}">
                  <a16:creationId xmlns:a16="http://schemas.microsoft.com/office/drawing/2014/main" id="{8C32717F-7905-4FF1-0849-6EF2DBDD8CA0}"/>
                </a:ext>
              </a:extLst>
            </p:cNvPr>
            <p:cNvGraphicFramePr>
              <a:graphicFrameLocks noChangeAspect="1"/>
            </p:cNvGraphicFramePr>
            <p:nvPr/>
          </p:nvGraphicFramePr>
          <p:xfrm>
            <a:off x="1008" y="1488"/>
            <a:ext cx="2140" cy="874"/>
          </p:xfrm>
          <a:graphic>
            <a:graphicData uri="http://schemas.openxmlformats.org/presentationml/2006/ole">
              <mc:AlternateContent xmlns:mc="http://schemas.openxmlformats.org/markup-compatibility/2006">
                <mc:Choice xmlns:v="urn:schemas-microsoft-com:vml" Requires="v">
                  <p:oleObj name="Equation" r:id="rId7" imgW="1676400" imgH="685800" progId="Equation.3">
                    <p:embed/>
                  </p:oleObj>
                </mc:Choice>
                <mc:Fallback>
                  <p:oleObj name="Equation" r:id="rId7" imgW="1676400" imgH="685800" progId="Equation.3">
                    <p:embed/>
                    <p:pic>
                      <p:nvPicPr>
                        <p:cNvPr id="116751" name="Object 14">
                          <a:extLst>
                            <a:ext uri="{FF2B5EF4-FFF2-40B4-BE49-F238E27FC236}">
                              <a16:creationId xmlns:a16="http://schemas.microsoft.com/office/drawing/2014/main" id="{8C32717F-7905-4FF1-0849-6EF2DBDD8CA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8" y="1488"/>
                          <a:ext cx="2140" cy="87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6752" name="Text Box 15">
              <a:extLst>
                <a:ext uri="{FF2B5EF4-FFF2-40B4-BE49-F238E27FC236}">
                  <a16:creationId xmlns:a16="http://schemas.microsoft.com/office/drawing/2014/main" id="{F979A0A3-9578-91D9-0278-5525A2863B37}"/>
                </a:ext>
              </a:extLst>
            </p:cNvPr>
            <p:cNvSpPr txBox="1">
              <a:spLocks noChangeArrowheads="1"/>
            </p:cNvSpPr>
            <p:nvPr/>
          </p:nvSpPr>
          <p:spPr bwMode="auto">
            <a:xfrm>
              <a:off x="3158" y="1512"/>
              <a:ext cx="596"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hr-HR" altLang="sr-Latn-RS" sz="1800">
                  <a:latin typeface="Times New Roman" panose="02020603050405020304" pitchFamily="18" charset="0"/>
                </a:rPr>
                <a:t>Na pravcu</a:t>
              </a:r>
              <a:endParaRPr lang="en-US" altLang="sr-Latn-RS" sz="1800">
                <a:latin typeface="Times New Roman" panose="02020603050405020304" pitchFamily="18" charset="0"/>
              </a:endParaRPr>
            </a:p>
          </p:txBody>
        </p:sp>
        <p:sp>
          <p:nvSpPr>
            <p:cNvPr id="116753" name="Text Box 16">
              <a:extLst>
                <a:ext uri="{FF2B5EF4-FFF2-40B4-BE49-F238E27FC236}">
                  <a16:creationId xmlns:a16="http://schemas.microsoft.com/office/drawing/2014/main" id="{9EA97B88-5113-9164-11D8-E9DE96E8D75E}"/>
                </a:ext>
              </a:extLst>
            </p:cNvPr>
            <p:cNvSpPr txBox="1">
              <a:spLocks noChangeArrowheads="1"/>
            </p:cNvSpPr>
            <p:nvPr/>
          </p:nvSpPr>
          <p:spPr bwMode="auto">
            <a:xfrm>
              <a:off x="3158" y="1800"/>
              <a:ext cx="717"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hr-HR" altLang="sr-Latn-RS" sz="1800">
                  <a:latin typeface="Times New Roman" panose="02020603050405020304" pitchFamily="18" charset="0"/>
                </a:rPr>
                <a:t>Iznad pravca</a:t>
              </a:r>
              <a:endParaRPr lang="en-US" altLang="sr-Latn-RS" sz="1800">
                <a:latin typeface="Times New Roman" panose="02020603050405020304" pitchFamily="18" charset="0"/>
              </a:endParaRPr>
            </a:p>
          </p:txBody>
        </p:sp>
        <p:sp>
          <p:nvSpPr>
            <p:cNvPr id="116754" name="Text Box 17">
              <a:extLst>
                <a:ext uri="{FF2B5EF4-FFF2-40B4-BE49-F238E27FC236}">
                  <a16:creationId xmlns:a16="http://schemas.microsoft.com/office/drawing/2014/main" id="{2DB1F029-384B-C1EA-86E4-3FA1E886DDFE}"/>
                </a:ext>
              </a:extLst>
            </p:cNvPr>
            <p:cNvSpPr txBox="1">
              <a:spLocks noChangeArrowheads="1"/>
            </p:cNvSpPr>
            <p:nvPr/>
          </p:nvSpPr>
          <p:spPr bwMode="auto">
            <a:xfrm>
              <a:off x="3168" y="2088"/>
              <a:ext cx="717"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hr-HR" altLang="sr-Latn-RS" sz="1800">
                  <a:latin typeface="Times New Roman" panose="02020603050405020304" pitchFamily="18" charset="0"/>
                </a:rPr>
                <a:t>Ispod pravca</a:t>
              </a:r>
              <a:endParaRPr lang="en-US" altLang="sr-Latn-RS" sz="1800">
                <a:latin typeface="Times New Roman" panose="02020603050405020304" pitchFamily="18" charset="0"/>
              </a:endParaRPr>
            </a:p>
          </p:txBody>
        </p:sp>
      </p:grpSp>
      <p:graphicFrame>
        <p:nvGraphicFramePr>
          <p:cNvPr id="116750" name="Object 18">
            <a:extLst>
              <a:ext uri="{FF2B5EF4-FFF2-40B4-BE49-F238E27FC236}">
                <a16:creationId xmlns:a16="http://schemas.microsoft.com/office/drawing/2014/main" id="{7431D5D8-CDC1-D21F-D603-7DEDC0BAE148}"/>
              </a:ext>
            </a:extLst>
          </p:cNvPr>
          <p:cNvGraphicFramePr>
            <a:graphicFrameLocks noChangeAspect="1"/>
          </p:cNvGraphicFramePr>
          <p:nvPr/>
        </p:nvGraphicFramePr>
        <p:xfrm>
          <a:off x="3492500" y="4652963"/>
          <a:ext cx="3011488" cy="796925"/>
        </p:xfrm>
        <a:graphic>
          <a:graphicData uri="http://schemas.openxmlformats.org/presentationml/2006/ole">
            <mc:AlternateContent xmlns:mc="http://schemas.openxmlformats.org/markup-compatibility/2006">
              <mc:Choice xmlns:v="urn:schemas-microsoft-com:vml" Requires="v">
                <p:oleObj name="Equation" r:id="rId9" imgW="1485900" imgH="393700" progId="Equation.3">
                  <p:embed/>
                </p:oleObj>
              </mc:Choice>
              <mc:Fallback>
                <p:oleObj name="Equation" r:id="rId9" imgW="1485900" imgH="393700" progId="Equation.3">
                  <p:embed/>
                  <p:pic>
                    <p:nvPicPr>
                      <p:cNvPr id="116750" name="Object 18">
                        <a:extLst>
                          <a:ext uri="{FF2B5EF4-FFF2-40B4-BE49-F238E27FC236}">
                            <a16:creationId xmlns:a16="http://schemas.microsoft.com/office/drawing/2014/main" id="{7431D5D8-CDC1-D21F-D603-7DEDC0BAE14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2500" y="4652963"/>
                        <a:ext cx="3011488" cy="7969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8786" name="Date Placeholder 2">
            <a:extLst>
              <a:ext uri="{FF2B5EF4-FFF2-40B4-BE49-F238E27FC236}">
                <a16:creationId xmlns:a16="http://schemas.microsoft.com/office/drawing/2014/main" id="{46C636CC-69CF-00B8-8EB4-C57E640746B3}"/>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EE5CB986-13A8-4A91-8D73-4BAF6F009A2C}"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18788" name="Slide Number Placeholder 4">
            <a:extLst>
              <a:ext uri="{FF2B5EF4-FFF2-40B4-BE49-F238E27FC236}">
                <a16:creationId xmlns:a16="http://schemas.microsoft.com/office/drawing/2014/main" id="{19F86545-EF70-4BC2-9A7D-C9507CE16C1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B0286BF0-9624-4567-8E95-F0B84866FFAD}" type="slidenum">
              <a:rPr lang="en-GB" altLang="sr-Latn-RS" sz="1400" smtClean="0">
                <a:latin typeface="Times New Roman" panose="02020603050405020304" pitchFamily="18" charset="0"/>
              </a:rPr>
              <a:pPr>
                <a:spcBef>
                  <a:spcPct val="50000"/>
                </a:spcBef>
                <a:buClrTx/>
                <a:buSzTx/>
                <a:buFontTx/>
                <a:buNone/>
              </a:pPr>
              <a:t>23</a:t>
            </a:fld>
            <a:endParaRPr lang="en-GB" altLang="sr-Latn-RS" sz="1400">
              <a:latin typeface="Times New Roman" panose="02020603050405020304" pitchFamily="18" charset="0"/>
            </a:endParaRPr>
          </a:p>
        </p:txBody>
      </p:sp>
      <p:sp>
        <p:nvSpPr>
          <p:cNvPr id="118789" name="Text Box 2">
            <a:extLst>
              <a:ext uri="{FF2B5EF4-FFF2-40B4-BE49-F238E27FC236}">
                <a16:creationId xmlns:a16="http://schemas.microsoft.com/office/drawing/2014/main" id="{3D7613F9-5A24-C7AD-8895-72A01ED8D102}"/>
              </a:ext>
            </a:extLst>
          </p:cNvPr>
          <p:cNvSpPr txBox="1">
            <a:spLocks noChangeArrowheads="1"/>
          </p:cNvSpPr>
          <p:nvPr/>
        </p:nvSpPr>
        <p:spPr bwMode="auto">
          <a:xfrm>
            <a:off x="762000" y="620713"/>
            <a:ext cx="7924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ravnih crta</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a:p>
            <a:pPr algn="ctr" eaLnBrk="1" hangingPunct="1">
              <a:spcBef>
                <a:spcPct val="50000"/>
              </a:spcBef>
              <a:buClrTx/>
              <a:buSzTx/>
              <a:buFontTx/>
              <a:buNone/>
            </a:pPr>
            <a:r>
              <a:rPr lang="hr-HR" altLang="sr-Latn-RS" sz="2400" b="1">
                <a:latin typeface="Arial" panose="020B0604020202020204" pitchFamily="34" charset="0"/>
                <a:cs typeface="Arial" panose="020B0604020202020204" pitchFamily="34" charset="0"/>
              </a:rPr>
              <a:t>Algoritam središnje točke</a:t>
            </a:r>
            <a:r>
              <a:rPr lang="en-GB" altLang="sr-Latn-RS" sz="2400">
                <a:latin typeface="Arial" panose="020B0604020202020204" pitchFamily="34" charset="0"/>
                <a:cs typeface="Arial" panose="020B0604020202020204" pitchFamily="34" charset="0"/>
              </a:rPr>
              <a:t> </a:t>
            </a:r>
            <a:endParaRPr lang="hr-HR" altLang="sr-Latn-RS" sz="2400">
              <a:latin typeface="Arial" panose="020B0604020202020204" pitchFamily="34" charset="0"/>
              <a:cs typeface="Arial" panose="020B0604020202020204" pitchFamily="34" charset="0"/>
            </a:endParaRPr>
          </a:p>
        </p:txBody>
      </p:sp>
      <p:sp>
        <p:nvSpPr>
          <p:cNvPr id="118790" name="Rectangle 3">
            <a:extLst>
              <a:ext uri="{FF2B5EF4-FFF2-40B4-BE49-F238E27FC236}">
                <a16:creationId xmlns:a16="http://schemas.microsoft.com/office/drawing/2014/main" id="{79BFFBC6-1B1A-4590-A1FC-50CB9823F350}"/>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18791" name="Rectangle 5">
            <a:extLst>
              <a:ext uri="{FF2B5EF4-FFF2-40B4-BE49-F238E27FC236}">
                <a16:creationId xmlns:a16="http://schemas.microsoft.com/office/drawing/2014/main" id="{8F5F1071-C93E-4553-D276-2B47DECD9942}"/>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aphicFrame>
        <p:nvGraphicFramePr>
          <p:cNvPr id="118792" name="Object 6">
            <a:extLst>
              <a:ext uri="{FF2B5EF4-FFF2-40B4-BE49-F238E27FC236}">
                <a16:creationId xmlns:a16="http://schemas.microsoft.com/office/drawing/2014/main" id="{90DF9AF3-91B0-8CE9-C512-7E4F32B49AA7}"/>
              </a:ext>
            </a:extLst>
          </p:cNvPr>
          <p:cNvGraphicFramePr>
            <a:graphicFrameLocks noChangeAspect="1"/>
          </p:cNvGraphicFramePr>
          <p:nvPr/>
        </p:nvGraphicFramePr>
        <p:xfrm>
          <a:off x="0" y="2225675"/>
          <a:ext cx="114300" cy="142875"/>
        </p:xfrm>
        <a:graphic>
          <a:graphicData uri="http://schemas.openxmlformats.org/presentationml/2006/ole">
            <mc:AlternateContent xmlns:mc="http://schemas.openxmlformats.org/markup-compatibility/2006">
              <mc:Choice xmlns:v="urn:schemas-microsoft-com:vml" Requires="v">
                <p:oleObj r:id="rId3" imgW="114201" imgH="139579" progId="Equation.3">
                  <p:embed/>
                </p:oleObj>
              </mc:Choice>
              <mc:Fallback>
                <p:oleObj r:id="rId3" imgW="114201" imgH="139579" progId="Equation.3">
                  <p:embed/>
                  <p:pic>
                    <p:nvPicPr>
                      <p:cNvPr id="118792" name="Object 6">
                        <a:extLst>
                          <a:ext uri="{FF2B5EF4-FFF2-40B4-BE49-F238E27FC236}">
                            <a16:creationId xmlns:a16="http://schemas.microsoft.com/office/drawing/2014/main" id="{90DF9AF3-91B0-8CE9-C512-7E4F32B49A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25675"/>
                        <a:ext cx="1143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8793" name="Object 7">
            <a:extLst>
              <a:ext uri="{FF2B5EF4-FFF2-40B4-BE49-F238E27FC236}">
                <a16:creationId xmlns:a16="http://schemas.microsoft.com/office/drawing/2014/main" id="{7BECB04D-06F6-2410-3D4A-F4E2BEB6ED7D}"/>
              </a:ext>
            </a:extLst>
          </p:cNvPr>
          <p:cNvGraphicFramePr>
            <a:graphicFrameLocks noChangeAspect="1"/>
          </p:cNvGraphicFramePr>
          <p:nvPr/>
        </p:nvGraphicFramePr>
        <p:xfrm>
          <a:off x="0" y="2225675"/>
          <a:ext cx="114300" cy="142875"/>
        </p:xfrm>
        <a:graphic>
          <a:graphicData uri="http://schemas.openxmlformats.org/presentationml/2006/ole">
            <mc:AlternateContent xmlns:mc="http://schemas.openxmlformats.org/markup-compatibility/2006">
              <mc:Choice xmlns:v="urn:schemas-microsoft-com:vml" Requires="v">
                <p:oleObj r:id="rId5" imgW="114201" imgH="139579" progId="Equation.3">
                  <p:embed/>
                </p:oleObj>
              </mc:Choice>
              <mc:Fallback>
                <p:oleObj r:id="rId5" imgW="114201" imgH="139579" progId="Equation.3">
                  <p:embed/>
                  <p:pic>
                    <p:nvPicPr>
                      <p:cNvPr id="118793" name="Object 7">
                        <a:extLst>
                          <a:ext uri="{FF2B5EF4-FFF2-40B4-BE49-F238E27FC236}">
                            <a16:creationId xmlns:a16="http://schemas.microsoft.com/office/drawing/2014/main" id="{7BECB04D-06F6-2410-3D4A-F4E2BEB6ED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225675"/>
                        <a:ext cx="1143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8794" name="Rectangle 10">
            <a:extLst>
              <a:ext uri="{FF2B5EF4-FFF2-40B4-BE49-F238E27FC236}">
                <a16:creationId xmlns:a16="http://schemas.microsoft.com/office/drawing/2014/main" id="{88D48B83-1089-8C22-BF40-1FBBAC4AA4D7}"/>
              </a:ext>
            </a:extLst>
          </p:cNvPr>
          <p:cNvSpPr>
            <a:spLocks noChangeArrowheads="1"/>
          </p:cNvSpPr>
          <p:nvPr/>
        </p:nvSpPr>
        <p:spPr bwMode="auto">
          <a:xfrm>
            <a:off x="3300413"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18795" name="Text Box 13">
            <a:extLst>
              <a:ext uri="{FF2B5EF4-FFF2-40B4-BE49-F238E27FC236}">
                <a16:creationId xmlns:a16="http://schemas.microsoft.com/office/drawing/2014/main" id="{CA30DA33-80EF-D411-2F8C-A17155AC4827}"/>
              </a:ext>
            </a:extLst>
          </p:cNvPr>
          <p:cNvSpPr txBox="1">
            <a:spLocks noChangeArrowheads="1"/>
          </p:cNvSpPr>
          <p:nvPr/>
        </p:nvSpPr>
        <p:spPr bwMode="auto">
          <a:xfrm>
            <a:off x="609600" y="1981200"/>
            <a:ext cx="7696200" cy="3975100"/>
          </a:xfrm>
          <a:prstGeom prst="rect">
            <a:avLst/>
          </a:prstGeom>
          <a:solidFill>
            <a:srgbClr val="DDDDDD"/>
          </a:solidFill>
          <a:ln w="9525">
            <a:solidFill>
              <a:srgbClr val="000000"/>
            </a:solidFill>
            <a:miter lim="800000"/>
            <a:headEnd/>
            <a:tailEnd/>
          </a:ln>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a:spcBef>
                <a:spcPts val="500"/>
              </a:spcBef>
              <a:spcAft>
                <a:spcPts val="500"/>
              </a:spcAft>
              <a:buClrTx/>
              <a:buSzTx/>
              <a:buFontTx/>
              <a:buNone/>
            </a:pPr>
            <a:r>
              <a:rPr lang="hr-HR" altLang="sr-Latn-RS" sz="1600" b="1">
                <a:latin typeface="Arial" panose="020B0604020202020204" pitchFamily="34" charset="0"/>
              </a:rPr>
              <a:t>void</a:t>
            </a:r>
            <a:r>
              <a:rPr lang="hr-HR" altLang="sr-Latn-RS" sz="1600">
                <a:latin typeface="Arial" panose="020B0604020202020204" pitchFamily="34" charset="0"/>
              </a:rPr>
              <a:t> SredCrta(</a:t>
            </a:r>
            <a:r>
              <a:rPr lang="hr-HR" altLang="sr-Latn-RS" sz="1600" b="1">
                <a:latin typeface="Arial" panose="020B0604020202020204" pitchFamily="34" charset="0"/>
              </a:rPr>
              <a:t>int</a:t>
            </a:r>
            <a:r>
              <a:rPr lang="hr-HR" altLang="sr-Latn-RS" sz="1600">
                <a:latin typeface="Arial" panose="020B0604020202020204" pitchFamily="34" charset="0"/>
              </a:rPr>
              <a:t> </a:t>
            </a:r>
            <a:r>
              <a:rPr lang="hr-HR" altLang="sr-Latn-RS" sz="1600" i="1">
                <a:latin typeface="Arial" panose="020B0604020202020204" pitchFamily="34" charset="0"/>
              </a:rPr>
              <a:t>x0</a:t>
            </a:r>
            <a:r>
              <a:rPr lang="hr-HR" altLang="sr-Latn-RS" sz="1600">
                <a:latin typeface="Arial" panose="020B0604020202020204" pitchFamily="34" charset="0"/>
              </a:rPr>
              <a:t>, </a:t>
            </a:r>
            <a:r>
              <a:rPr lang="hr-HR" altLang="sr-Latn-RS" sz="1600" b="1">
                <a:latin typeface="Arial" panose="020B0604020202020204" pitchFamily="34" charset="0"/>
              </a:rPr>
              <a:t>int</a:t>
            </a:r>
            <a:r>
              <a:rPr lang="hr-HR" altLang="sr-Latn-RS" sz="1600">
                <a:latin typeface="Arial" panose="020B0604020202020204" pitchFamily="34" charset="0"/>
              </a:rPr>
              <a:t> </a:t>
            </a:r>
            <a:r>
              <a:rPr lang="hr-HR" altLang="sr-Latn-RS" sz="1600" i="1">
                <a:latin typeface="Arial" panose="020B0604020202020204" pitchFamily="34" charset="0"/>
              </a:rPr>
              <a:t>y0</a:t>
            </a:r>
            <a:r>
              <a:rPr lang="hr-HR" altLang="sr-Latn-RS" sz="1600">
                <a:latin typeface="Arial" panose="020B0604020202020204" pitchFamily="34" charset="0"/>
              </a:rPr>
              <a:t>, </a:t>
            </a:r>
            <a:r>
              <a:rPr lang="hr-HR" altLang="sr-Latn-RS" sz="1600" b="1">
                <a:latin typeface="Arial" panose="020B0604020202020204" pitchFamily="34" charset="0"/>
              </a:rPr>
              <a:t>int</a:t>
            </a:r>
            <a:r>
              <a:rPr lang="hr-HR" altLang="sr-Latn-RS" sz="1600">
                <a:latin typeface="Arial" panose="020B0604020202020204" pitchFamily="34" charset="0"/>
              </a:rPr>
              <a:t> </a:t>
            </a:r>
            <a:r>
              <a:rPr lang="hr-HR" altLang="sr-Latn-RS" sz="1600" i="1">
                <a:latin typeface="Arial" panose="020B0604020202020204" pitchFamily="34" charset="0"/>
              </a:rPr>
              <a:t>x1</a:t>
            </a:r>
            <a:r>
              <a:rPr lang="hr-HR" altLang="sr-Latn-RS" sz="1600">
                <a:latin typeface="Arial" panose="020B0604020202020204" pitchFamily="34" charset="0"/>
              </a:rPr>
              <a:t>, </a:t>
            </a:r>
            <a:r>
              <a:rPr lang="hr-HR" altLang="sr-Latn-RS" sz="1600" b="1">
                <a:latin typeface="Arial" panose="020B0604020202020204" pitchFamily="34" charset="0"/>
              </a:rPr>
              <a:t>int</a:t>
            </a:r>
            <a:r>
              <a:rPr lang="hr-HR" altLang="sr-Latn-RS" sz="1600">
                <a:latin typeface="Arial" panose="020B0604020202020204" pitchFamily="34" charset="0"/>
              </a:rPr>
              <a:t> </a:t>
            </a:r>
            <a:r>
              <a:rPr lang="hr-HR" altLang="sr-Latn-RS" sz="1600" i="1">
                <a:latin typeface="Arial" panose="020B0604020202020204" pitchFamily="34" charset="0"/>
              </a:rPr>
              <a:t>y1</a:t>
            </a:r>
            <a:r>
              <a:rPr lang="hr-HR" altLang="sr-Latn-RS" sz="1600">
                <a:latin typeface="Arial" panose="020B0604020202020204" pitchFamily="34" charset="0"/>
              </a:rPr>
              <a:t>, </a:t>
            </a:r>
            <a:r>
              <a:rPr lang="hr-HR" altLang="sr-Latn-RS" sz="1600" b="1">
                <a:latin typeface="Arial" panose="020B0604020202020204" pitchFamily="34" charset="0"/>
              </a:rPr>
              <a:t>int</a:t>
            </a:r>
            <a:r>
              <a:rPr lang="hr-HR" altLang="sr-Latn-RS" sz="1600">
                <a:latin typeface="Arial" panose="020B0604020202020204" pitchFamily="34" charset="0"/>
              </a:rPr>
              <a:t> </a:t>
            </a:r>
            <a:r>
              <a:rPr lang="hr-HR" altLang="sr-Latn-RS" sz="1600" i="1">
                <a:latin typeface="Arial" panose="020B0604020202020204" pitchFamily="34" charset="0"/>
              </a:rPr>
              <a:t>value</a:t>
            </a:r>
            <a:r>
              <a:rPr lang="hr-HR" altLang="sr-Latn-RS" sz="1600">
                <a:latin typeface="Arial" panose="020B0604020202020204" pitchFamily="34" charset="0"/>
              </a:rPr>
              <a:t>)</a:t>
            </a:r>
          </a:p>
          <a:p>
            <a:pPr algn="just">
              <a:spcBef>
                <a:spcPts val="500"/>
              </a:spcBef>
              <a:spcAft>
                <a:spcPts val="500"/>
              </a:spcAft>
              <a:buClrTx/>
              <a:buSzTx/>
              <a:buFontTx/>
              <a:buNone/>
            </a:pPr>
            <a:r>
              <a:rPr lang="hr-HR" altLang="sr-Latn-RS" sz="1600">
                <a:latin typeface="Arial" panose="020B0604020202020204" pitchFamily="34" charset="0"/>
              </a:rPr>
              <a:t>{</a:t>
            </a:r>
          </a:p>
          <a:p>
            <a:pPr algn="just">
              <a:spcBef>
                <a:spcPts val="500"/>
              </a:spcBef>
              <a:spcAft>
                <a:spcPts val="500"/>
              </a:spcAft>
              <a:buClrTx/>
              <a:buSzTx/>
              <a:buFontTx/>
              <a:buNone/>
            </a:pPr>
            <a:r>
              <a:rPr lang="hr-HR" altLang="sr-Latn-RS" sz="1600" b="1">
                <a:latin typeface="Arial" panose="020B0604020202020204" pitchFamily="34" charset="0"/>
              </a:rPr>
              <a:t>int</a:t>
            </a:r>
            <a:r>
              <a:rPr lang="hr-HR" altLang="sr-Latn-RS" sz="1600">
                <a:latin typeface="Arial" panose="020B0604020202020204" pitchFamily="34" charset="0"/>
              </a:rPr>
              <a:t> </a:t>
            </a:r>
            <a:r>
              <a:rPr lang="hr-HR" altLang="sr-Latn-RS" sz="1600" i="1">
                <a:latin typeface="Arial" panose="020B0604020202020204" pitchFamily="34" charset="0"/>
              </a:rPr>
              <a:t>dx = x1– x0</a:t>
            </a:r>
            <a:r>
              <a:rPr lang="hr-HR" altLang="sr-Latn-RS" sz="1600">
                <a:latin typeface="Arial" panose="020B0604020202020204" pitchFamily="34" charset="0"/>
              </a:rPr>
              <a:t>;</a:t>
            </a:r>
          </a:p>
          <a:p>
            <a:pPr algn="just">
              <a:spcBef>
                <a:spcPts val="500"/>
              </a:spcBef>
              <a:spcAft>
                <a:spcPts val="500"/>
              </a:spcAft>
              <a:buClrTx/>
              <a:buSzTx/>
              <a:buFontTx/>
              <a:buNone/>
            </a:pPr>
            <a:r>
              <a:rPr lang="hr-HR" altLang="sr-Latn-RS" sz="1600" b="1">
                <a:latin typeface="Arial" panose="020B0604020202020204" pitchFamily="34" charset="0"/>
              </a:rPr>
              <a:t>int</a:t>
            </a:r>
            <a:r>
              <a:rPr lang="hr-HR" altLang="sr-Latn-RS" sz="1600">
                <a:latin typeface="Arial" panose="020B0604020202020204" pitchFamily="34" charset="0"/>
              </a:rPr>
              <a:t> </a:t>
            </a:r>
            <a:r>
              <a:rPr lang="hr-HR" altLang="sr-Latn-RS" sz="1600" i="1">
                <a:latin typeface="Arial" panose="020B0604020202020204" pitchFamily="34" charset="0"/>
              </a:rPr>
              <a:t>dy = y1– y0</a:t>
            </a:r>
            <a:r>
              <a:rPr lang="hr-HR" altLang="sr-Latn-RS" sz="1600">
                <a:latin typeface="Arial" panose="020B0604020202020204" pitchFamily="34" charset="0"/>
              </a:rPr>
              <a:t>;</a:t>
            </a:r>
          </a:p>
          <a:p>
            <a:pPr algn="just">
              <a:spcBef>
                <a:spcPts val="500"/>
              </a:spcBef>
              <a:spcAft>
                <a:spcPts val="500"/>
              </a:spcAft>
              <a:buClrTx/>
              <a:buSzTx/>
              <a:buFontTx/>
              <a:buNone/>
            </a:pPr>
            <a:r>
              <a:rPr lang="hr-HR" altLang="sr-Latn-RS" sz="1600" b="1">
                <a:latin typeface="Arial" panose="020B0604020202020204" pitchFamily="34" charset="0"/>
              </a:rPr>
              <a:t>int</a:t>
            </a:r>
            <a:r>
              <a:rPr lang="hr-HR" altLang="sr-Latn-RS" sz="1600">
                <a:latin typeface="Arial" panose="020B0604020202020204" pitchFamily="34" charset="0"/>
              </a:rPr>
              <a:t> </a:t>
            </a:r>
            <a:r>
              <a:rPr lang="hr-HR" altLang="sr-Latn-RS" sz="1600" i="1">
                <a:latin typeface="Arial" panose="020B0604020202020204" pitchFamily="34" charset="0"/>
              </a:rPr>
              <a:t>d = 2 * dy – dx</a:t>
            </a:r>
            <a:r>
              <a:rPr lang="hr-HR" altLang="sr-Latn-RS" sz="1600">
                <a:latin typeface="Arial" panose="020B0604020202020204" pitchFamily="34" charset="0"/>
              </a:rPr>
              <a:t>;/* početna vrijednost za d */</a:t>
            </a:r>
          </a:p>
          <a:p>
            <a:pPr algn="just">
              <a:spcBef>
                <a:spcPts val="500"/>
              </a:spcBef>
              <a:spcAft>
                <a:spcPts val="500"/>
              </a:spcAft>
              <a:buClrTx/>
              <a:buSzTx/>
              <a:buFontTx/>
              <a:buNone/>
            </a:pPr>
            <a:r>
              <a:rPr lang="hr-HR" altLang="sr-Latn-RS" sz="1600" b="1">
                <a:latin typeface="Arial" panose="020B0604020202020204" pitchFamily="34" charset="0"/>
              </a:rPr>
              <a:t>int</a:t>
            </a:r>
            <a:r>
              <a:rPr lang="hr-HR" altLang="sr-Latn-RS" sz="1600">
                <a:latin typeface="Arial" panose="020B0604020202020204" pitchFamily="34" charset="0"/>
              </a:rPr>
              <a:t> </a:t>
            </a:r>
            <a:r>
              <a:rPr lang="hr-HR" altLang="sr-Latn-RS" sz="1600" i="1">
                <a:latin typeface="Arial" panose="020B0604020202020204" pitchFamily="34" charset="0"/>
              </a:rPr>
              <a:t>incrD = 2 * dy</a:t>
            </a:r>
            <a:r>
              <a:rPr lang="hr-HR" altLang="sr-Latn-RS" sz="1600">
                <a:latin typeface="Arial" panose="020B0604020202020204" pitchFamily="34" charset="0"/>
              </a:rPr>
              <a:t>;/* povećanje za pomak u D */</a:t>
            </a:r>
          </a:p>
          <a:p>
            <a:pPr algn="just">
              <a:spcBef>
                <a:spcPts val="500"/>
              </a:spcBef>
              <a:spcAft>
                <a:spcPts val="500"/>
              </a:spcAft>
              <a:buClrTx/>
              <a:buSzTx/>
              <a:buFontTx/>
              <a:buNone/>
            </a:pPr>
            <a:r>
              <a:rPr lang="hr-HR" altLang="sr-Latn-RS" sz="1600" b="1">
                <a:latin typeface="Arial" panose="020B0604020202020204" pitchFamily="34" charset="0"/>
              </a:rPr>
              <a:t>int</a:t>
            </a:r>
            <a:r>
              <a:rPr lang="hr-HR" altLang="sr-Latn-RS" sz="1600">
                <a:latin typeface="Arial" panose="020B0604020202020204" pitchFamily="34" charset="0"/>
              </a:rPr>
              <a:t> </a:t>
            </a:r>
            <a:r>
              <a:rPr lang="hr-HR" altLang="sr-Latn-RS" sz="1600" i="1">
                <a:latin typeface="Arial" panose="020B0604020202020204" pitchFamily="34" charset="0"/>
              </a:rPr>
              <a:t>incrGD = 2 * (dy – dx)</a:t>
            </a:r>
            <a:r>
              <a:rPr lang="hr-HR" altLang="sr-Latn-RS" sz="1600">
                <a:latin typeface="Arial" panose="020B0604020202020204" pitchFamily="34" charset="0"/>
              </a:rPr>
              <a:t>;/* povećanje za pomak u GD */</a:t>
            </a:r>
          </a:p>
          <a:p>
            <a:pPr algn="just">
              <a:spcBef>
                <a:spcPts val="500"/>
              </a:spcBef>
              <a:spcAft>
                <a:spcPts val="500"/>
              </a:spcAft>
              <a:buClrTx/>
              <a:buSzTx/>
              <a:buFontTx/>
              <a:buNone/>
            </a:pPr>
            <a:r>
              <a:rPr lang="hr-HR" altLang="sr-Latn-RS" sz="1600" b="1">
                <a:latin typeface="Arial" panose="020B0604020202020204" pitchFamily="34" charset="0"/>
              </a:rPr>
              <a:t>int</a:t>
            </a:r>
            <a:r>
              <a:rPr lang="hr-HR" altLang="sr-Latn-RS" sz="1600">
                <a:latin typeface="Arial" panose="020B0604020202020204" pitchFamily="34" charset="0"/>
              </a:rPr>
              <a:t> </a:t>
            </a:r>
            <a:r>
              <a:rPr lang="hr-HR" altLang="sr-Latn-RS" sz="1600" i="1">
                <a:latin typeface="Arial" panose="020B0604020202020204" pitchFamily="34" charset="0"/>
              </a:rPr>
              <a:t>x = x0</a:t>
            </a:r>
            <a:r>
              <a:rPr lang="hr-HR" altLang="sr-Latn-RS" sz="1600">
                <a:latin typeface="Arial" panose="020B0604020202020204" pitchFamily="34" charset="0"/>
              </a:rPr>
              <a:t>;</a:t>
            </a:r>
          </a:p>
          <a:p>
            <a:pPr algn="just">
              <a:spcBef>
                <a:spcPts val="500"/>
              </a:spcBef>
              <a:spcAft>
                <a:spcPts val="500"/>
              </a:spcAft>
              <a:buClrTx/>
              <a:buSzTx/>
              <a:buFontTx/>
              <a:buNone/>
            </a:pPr>
            <a:r>
              <a:rPr lang="hr-HR" altLang="sr-Latn-RS" sz="1600" b="1">
                <a:latin typeface="Arial" panose="020B0604020202020204" pitchFamily="34" charset="0"/>
              </a:rPr>
              <a:t>int</a:t>
            </a:r>
            <a:r>
              <a:rPr lang="hr-HR" altLang="sr-Latn-RS" sz="1600">
                <a:latin typeface="Arial" panose="020B0604020202020204" pitchFamily="34" charset="0"/>
              </a:rPr>
              <a:t> </a:t>
            </a:r>
            <a:r>
              <a:rPr lang="hr-HR" altLang="sr-Latn-RS" sz="1600" i="1">
                <a:latin typeface="Arial" panose="020B0604020202020204" pitchFamily="34" charset="0"/>
              </a:rPr>
              <a:t>y = y0</a:t>
            </a:r>
            <a:r>
              <a:rPr lang="hr-HR" altLang="sr-Latn-RS" sz="1600">
                <a:latin typeface="Arial" panose="020B0604020202020204" pitchFamily="34" charset="0"/>
              </a:rPr>
              <a:t>;</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0834" name="Date Placeholder 2">
            <a:extLst>
              <a:ext uri="{FF2B5EF4-FFF2-40B4-BE49-F238E27FC236}">
                <a16:creationId xmlns:a16="http://schemas.microsoft.com/office/drawing/2014/main" id="{2B49E017-1C36-642F-D6A7-91CC3014D12C}"/>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B1DBDCDC-B1F1-48FD-8C9F-55CE84C3E3F2}"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20836" name="Slide Number Placeholder 4">
            <a:extLst>
              <a:ext uri="{FF2B5EF4-FFF2-40B4-BE49-F238E27FC236}">
                <a16:creationId xmlns:a16="http://schemas.microsoft.com/office/drawing/2014/main" id="{166B520D-2266-2998-AF03-5635E4C1175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758A0D7B-9EA3-4DA4-A03E-99E7470EF2F9}" type="slidenum">
              <a:rPr lang="en-GB" altLang="sr-Latn-RS" sz="1400" smtClean="0">
                <a:latin typeface="Times New Roman" panose="02020603050405020304" pitchFamily="18" charset="0"/>
              </a:rPr>
              <a:pPr>
                <a:spcBef>
                  <a:spcPct val="50000"/>
                </a:spcBef>
                <a:buClrTx/>
                <a:buSzTx/>
                <a:buFontTx/>
                <a:buNone/>
              </a:pPr>
              <a:t>24</a:t>
            </a:fld>
            <a:endParaRPr lang="en-GB" altLang="sr-Latn-RS" sz="1400">
              <a:latin typeface="Times New Roman" panose="02020603050405020304" pitchFamily="18" charset="0"/>
            </a:endParaRPr>
          </a:p>
        </p:txBody>
      </p:sp>
      <p:sp>
        <p:nvSpPr>
          <p:cNvPr id="120837" name="Text Box 2">
            <a:extLst>
              <a:ext uri="{FF2B5EF4-FFF2-40B4-BE49-F238E27FC236}">
                <a16:creationId xmlns:a16="http://schemas.microsoft.com/office/drawing/2014/main" id="{1F8DFFA9-EB98-6BFC-DA42-AE276A1FEB91}"/>
              </a:ext>
            </a:extLst>
          </p:cNvPr>
          <p:cNvSpPr txBox="1">
            <a:spLocks noChangeArrowheads="1"/>
          </p:cNvSpPr>
          <p:nvPr/>
        </p:nvSpPr>
        <p:spPr bwMode="auto">
          <a:xfrm>
            <a:off x="762000" y="838200"/>
            <a:ext cx="792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400" b="1">
                <a:latin typeface="Arial" panose="020B0604020202020204" pitchFamily="34" charset="0"/>
                <a:cs typeface="Arial" panose="020B0604020202020204" pitchFamily="34" charset="0"/>
              </a:rPr>
              <a:t>Algoritam središnje točke</a:t>
            </a:r>
            <a:r>
              <a:rPr lang="en-GB" altLang="sr-Latn-RS" sz="2400">
                <a:latin typeface="Arial" panose="020B0604020202020204" pitchFamily="34" charset="0"/>
                <a:cs typeface="Arial" panose="020B0604020202020204" pitchFamily="34" charset="0"/>
              </a:rPr>
              <a:t> </a:t>
            </a:r>
            <a:endParaRPr lang="hr-HR" altLang="sr-Latn-RS" sz="2400">
              <a:latin typeface="Arial" panose="020B0604020202020204" pitchFamily="34" charset="0"/>
              <a:cs typeface="Arial" panose="020B0604020202020204" pitchFamily="34" charset="0"/>
            </a:endParaRPr>
          </a:p>
        </p:txBody>
      </p:sp>
      <p:sp>
        <p:nvSpPr>
          <p:cNvPr id="120838" name="Rectangle 3">
            <a:extLst>
              <a:ext uri="{FF2B5EF4-FFF2-40B4-BE49-F238E27FC236}">
                <a16:creationId xmlns:a16="http://schemas.microsoft.com/office/drawing/2014/main" id="{38377C5B-BB7A-C63A-CEBE-BB47C8EAB1F5}"/>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20839" name="Rectangle 4">
            <a:extLst>
              <a:ext uri="{FF2B5EF4-FFF2-40B4-BE49-F238E27FC236}">
                <a16:creationId xmlns:a16="http://schemas.microsoft.com/office/drawing/2014/main" id="{D16A9C53-8E91-4D79-6B58-22D05B78E520}"/>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20840" name="Rectangle 8">
            <a:extLst>
              <a:ext uri="{FF2B5EF4-FFF2-40B4-BE49-F238E27FC236}">
                <a16:creationId xmlns:a16="http://schemas.microsoft.com/office/drawing/2014/main" id="{3A9FAFC1-1CBF-66D3-ED10-E6693FE72777}"/>
              </a:ext>
            </a:extLst>
          </p:cNvPr>
          <p:cNvSpPr>
            <a:spLocks noChangeArrowheads="1"/>
          </p:cNvSpPr>
          <p:nvPr/>
        </p:nvSpPr>
        <p:spPr bwMode="auto">
          <a:xfrm>
            <a:off x="3300413"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20841" name="Text Box 10">
            <a:extLst>
              <a:ext uri="{FF2B5EF4-FFF2-40B4-BE49-F238E27FC236}">
                <a16:creationId xmlns:a16="http://schemas.microsoft.com/office/drawing/2014/main" id="{037B0FC2-D13C-6F86-D68E-7A7D70E2F6F2}"/>
              </a:ext>
            </a:extLst>
          </p:cNvPr>
          <p:cNvSpPr txBox="1">
            <a:spLocks noChangeArrowheads="1"/>
          </p:cNvSpPr>
          <p:nvPr/>
        </p:nvSpPr>
        <p:spPr bwMode="auto">
          <a:xfrm>
            <a:off x="609600" y="1371600"/>
            <a:ext cx="8153400" cy="4724400"/>
          </a:xfrm>
          <a:prstGeom prst="rect">
            <a:avLst/>
          </a:prstGeom>
          <a:solidFill>
            <a:srgbClr val="DDDDDD"/>
          </a:solidFill>
          <a:ln w="9525">
            <a:solidFill>
              <a:srgbClr val="000000"/>
            </a:solidFill>
            <a:miter lim="800000"/>
            <a:headEnd/>
            <a:tailEnd/>
          </a:ln>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a:spcBef>
                <a:spcPts val="500"/>
              </a:spcBef>
              <a:spcAft>
                <a:spcPts val="500"/>
              </a:spcAft>
              <a:buClrTx/>
              <a:buSzTx/>
              <a:buFontTx/>
              <a:buNone/>
            </a:pPr>
            <a:r>
              <a:rPr lang="hr-HR" altLang="sr-Latn-RS" sz="1600">
                <a:latin typeface="Arial" panose="020B0604020202020204" pitchFamily="34" charset="0"/>
              </a:rPr>
              <a:t>WritePixel (</a:t>
            </a:r>
            <a:r>
              <a:rPr lang="hr-HR" altLang="sr-Latn-RS" sz="1600" i="1">
                <a:latin typeface="Arial" panose="020B0604020202020204" pitchFamily="34" charset="0"/>
              </a:rPr>
              <a:t>x</a:t>
            </a:r>
            <a:r>
              <a:rPr lang="hr-HR" altLang="sr-Latn-RS" sz="1600">
                <a:latin typeface="Arial" panose="020B0604020202020204" pitchFamily="34" charset="0"/>
              </a:rPr>
              <a:t>, </a:t>
            </a:r>
            <a:r>
              <a:rPr lang="hr-HR" altLang="sr-Latn-RS" sz="1600" i="1">
                <a:latin typeface="Arial" panose="020B0604020202020204" pitchFamily="34" charset="0"/>
              </a:rPr>
              <a:t>y</a:t>
            </a:r>
            <a:r>
              <a:rPr lang="hr-HR" altLang="sr-Latn-RS" sz="1600">
                <a:latin typeface="Arial" panose="020B0604020202020204" pitchFamily="34" charset="0"/>
              </a:rPr>
              <a:t>, </a:t>
            </a:r>
            <a:r>
              <a:rPr lang="hr-HR" altLang="sr-Latn-RS" sz="1600" i="1">
                <a:latin typeface="Arial" panose="020B0604020202020204" pitchFamily="34" charset="0"/>
              </a:rPr>
              <a:t>value</a:t>
            </a:r>
            <a:r>
              <a:rPr lang="hr-HR" altLang="sr-Latn-RS" sz="1600">
                <a:latin typeface="Arial" panose="020B0604020202020204" pitchFamily="34" charset="0"/>
              </a:rPr>
              <a:t>);/* Početni piksel */</a:t>
            </a:r>
          </a:p>
          <a:p>
            <a:pPr algn="just">
              <a:spcBef>
                <a:spcPts val="500"/>
              </a:spcBef>
              <a:spcAft>
                <a:spcPts val="500"/>
              </a:spcAft>
              <a:buClrTx/>
              <a:buSzTx/>
              <a:buFontTx/>
              <a:buNone/>
            </a:pPr>
            <a:r>
              <a:rPr lang="hr-HR" altLang="sr-Latn-RS" sz="1600" b="1">
                <a:latin typeface="Arial" panose="020B0604020202020204" pitchFamily="34" charset="0"/>
              </a:rPr>
              <a:t>while</a:t>
            </a:r>
            <a:r>
              <a:rPr lang="hr-HR" altLang="sr-Latn-RS" sz="1600">
                <a:latin typeface="Arial" panose="020B0604020202020204" pitchFamily="34" charset="0"/>
              </a:rPr>
              <a:t> (</a:t>
            </a:r>
            <a:r>
              <a:rPr lang="hr-HR" altLang="sr-Latn-RS" sz="1600" i="1">
                <a:latin typeface="Arial" panose="020B0604020202020204" pitchFamily="34" charset="0"/>
              </a:rPr>
              <a:t>x</a:t>
            </a:r>
            <a:r>
              <a:rPr lang="hr-HR" altLang="sr-Latn-RS" sz="1600">
                <a:latin typeface="Arial" panose="020B0604020202020204" pitchFamily="34" charset="0"/>
              </a:rPr>
              <a:t> &lt; </a:t>
            </a:r>
            <a:r>
              <a:rPr lang="hr-HR" altLang="sr-Latn-RS" sz="1600" i="1">
                <a:latin typeface="Arial" panose="020B0604020202020204" pitchFamily="34" charset="0"/>
              </a:rPr>
              <a:t>x1</a:t>
            </a:r>
            <a:r>
              <a:rPr lang="hr-HR" altLang="sr-Latn-RS" sz="1600">
                <a:latin typeface="Arial" panose="020B0604020202020204" pitchFamily="34" charset="0"/>
              </a:rPr>
              <a:t>) {</a:t>
            </a:r>
          </a:p>
          <a:p>
            <a:pPr algn="just">
              <a:spcBef>
                <a:spcPts val="500"/>
              </a:spcBef>
              <a:spcAft>
                <a:spcPts val="500"/>
              </a:spcAft>
              <a:buClrTx/>
              <a:buSzTx/>
              <a:buFontTx/>
              <a:buNone/>
            </a:pPr>
            <a:r>
              <a:rPr lang="hr-HR" altLang="sr-Latn-RS" sz="1600" b="1">
                <a:latin typeface="Arial" panose="020B0604020202020204" pitchFamily="34" charset="0"/>
              </a:rPr>
              <a:t>     if</a:t>
            </a:r>
            <a:r>
              <a:rPr lang="hr-HR" altLang="sr-Latn-RS" sz="1600">
                <a:latin typeface="Arial" panose="020B0604020202020204" pitchFamily="34" charset="0"/>
              </a:rPr>
              <a:t> (</a:t>
            </a:r>
            <a:r>
              <a:rPr lang="hr-HR" altLang="sr-Latn-RS" sz="1600" i="1">
                <a:latin typeface="Arial" panose="020B0604020202020204" pitchFamily="34" charset="0"/>
              </a:rPr>
              <a:t>d</a:t>
            </a:r>
            <a:r>
              <a:rPr lang="hr-HR" altLang="sr-Latn-RS" sz="1600">
                <a:latin typeface="Arial" panose="020B0604020202020204" pitchFamily="34" charset="0"/>
              </a:rPr>
              <a:t> &lt;= 0) {/* Izaberi D */</a:t>
            </a:r>
          </a:p>
          <a:p>
            <a:pPr algn="just">
              <a:spcBef>
                <a:spcPts val="500"/>
              </a:spcBef>
              <a:spcAft>
                <a:spcPts val="500"/>
              </a:spcAft>
              <a:buClrTx/>
              <a:buSzTx/>
              <a:buFontTx/>
              <a:buNone/>
            </a:pPr>
            <a:r>
              <a:rPr lang="hr-HR" altLang="sr-Latn-RS" sz="1600" i="1">
                <a:latin typeface="Arial" panose="020B0604020202020204" pitchFamily="34" charset="0"/>
              </a:rPr>
              <a:t>d</a:t>
            </a:r>
            <a:r>
              <a:rPr lang="hr-HR" altLang="sr-Latn-RS" sz="1600">
                <a:latin typeface="Arial" panose="020B0604020202020204" pitchFamily="34" charset="0"/>
              </a:rPr>
              <a:t> += </a:t>
            </a:r>
            <a:r>
              <a:rPr lang="hr-HR" altLang="sr-Latn-RS" sz="1600" i="1">
                <a:latin typeface="Arial" panose="020B0604020202020204" pitchFamily="34" charset="0"/>
              </a:rPr>
              <a:t>incrD</a:t>
            </a:r>
            <a:r>
              <a:rPr lang="hr-HR" altLang="sr-Latn-RS" sz="1600">
                <a:latin typeface="Arial" panose="020B0604020202020204" pitchFamily="34" charset="0"/>
              </a:rPr>
              <a:t>;</a:t>
            </a:r>
          </a:p>
          <a:p>
            <a:pPr algn="just">
              <a:spcBef>
                <a:spcPts val="500"/>
              </a:spcBef>
              <a:spcAft>
                <a:spcPts val="500"/>
              </a:spcAft>
              <a:buClrTx/>
              <a:buSzTx/>
              <a:buFontTx/>
              <a:buNone/>
            </a:pPr>
            <a:r>
              <a:rPr lang="hr-HR" altLang="sr-Latn-RS" sz="1600" i="1">
                <a:latin typeface="Arial" panose="020B0604020202020204" pitchFamily="34" charset="0"/>
              </a:rPr>
              <a:t>x</a:t>
            </a:r>
            <a:r>
              <a:rPr lang="hr-HR" altLang="sr-Latn-RS" sz="1600">
                <a:latin typeface="Arial" panose="020B0604020202020204" pitchFamily="34" charset="0"/>
              </a:rPr>
              <a:t>++;</a:t>
            </a:r>
          </a:p>
          <a:p>
            <a:pPr algn="just">
              <a:spcBef>
                <a:spcPts val="500"/>
              </a:spcBef>
              <a:spcAft>
                <a:spcPts val="500"/>
              </a:spcAft>
              <a:buClrTx/>
              <a:buSzTx/>
              <a:buFontTx/>
              <a:buNone/>
            </a:pPr>
            <a:r>
              <a:rPr lang="hr-HR" altLang="sr-Latn-RS" sz="1600">
                <a:latin typeface="Arial" panose="020B0604020202020204" pitchFamily="34" charset="0"/>
              </a:rPr>
              <a:t>     } </a:t>
            </a:r>
            <a:r>
              <a:rPr lang="hr-HR" altLang="sr-Latn-RS" sz="1600" b="1">
                <a:latin typeface="Arial" panose="020B0604020202020204" pitchFamily="34" charset="0"/>
              </a:rPr>
              <a:t>else</a:t>
            </a:r>
            <a:r>
              <a:rPr lang="hr-HR" altLang="sr-Latn-RS" sz="1600">
                <a:latin typeface="Arial" panose="020B0604020202020204" pitchFamily="34" charset="0"/>
              </a:rPr>
              <a:t> {/* Izaberi GD */</a:t>
            </a:r>
          </a:p>
          <a:p>
            <a:pPr algn="just">
              <a:spcBef>
                <a:spcPts val="500"/>
              </a:spcBef>
              <a:spcAft>
                <a:spcPts val="500"/>
              </a:spcAft>
              <a:buClrTx/>
              <a:buSzTx/>
              <a:buFontTx/>
              <a:buNone/>
            </a:pPr>
            <a:r>
              <a:rPr lang="hr-HR" altLang="sr-Latn-RS" sz="1600" i="1">
                <a:latin typeface="Arial" panose="020B0604020202020204" pitchFamily="34" charset="0"/>
              </a:rPr>
              <a:t>d</a:t>
            </a:r>
            <a:r>
              <a:rPr lang="hr-HR" altLang="sr-Latn-RS" sz="1600">
                <a:latin typeface="Arial" panose="020B0604020202020204" pitchFamily="34" charset="0"/>
              </a:rPr>
              <a:t> += </a:t>
            </a:r>
            <a:r>
              <a:rPr lang="hr-HR" altLang="sr-Latn-RS" sz="1600" i="1">
                <a:latin typeface="Arial" panose="020B0604020202020204" pitchFamily="34" charset="0"/>
              </a:rPr>
              <a:t>incrGD</a:t>
            </a:r>
            <a:r>
              <a:rPr lang="hr-HR" altLang="sr-Latn-RS" sz="1600">
                <a:latin typeface="Arial" panose="020B0604020202020204" pitchFamily="34" charset="0"/>
              </a:rPr>
              <a:t>;</a:t>
            </a:r>
          </a:p>
          <a:p>
            <a:pPr algn="just">
              <a:spcBef>
                <a:spcPts val="500"/>
              </a:spcBef>
              <a:spcAft>
                <a:spcPts val="500"/>
              </a:spcAft>
              <a:buClrTx/>
              <a:buSzTx/>
              <a:buFontTx/>
              <a:buNone/>
            </a:pPr>
            <a:r>
              <a:rPr lang="hr-HR" altLang="sr-Latn-RS" sz="1600" i="1">
                <a:latin typeface="Arial" panose="020B0604020202020204" pitchFamily="34" charset="0"/>
              </a:rPr>
              <a:t>x</a:t>
            </a:r>
            <a:r>
              <a:rPr lang="hr-HR" altLang="sr-Latn-RS" sz="1600">
                <a:latin typeface="Arial" panose="020B0604020202020204" pitchFamily="34" charset="0"/>
              </a:rPr>
              <a:t>++;</a:t>
            </a:r>
          </a:p>
          <a:p>
            <a:pPr algn="just">
              <a:spcBef>
                <a:spcPts val="500"/>
              </a:spcBef>
              <a:spcAft>
                <a:spcPts val="500"/>
              </a:spcAft>
              <a:buClrTx/>
              <a:buSzTx/>
              <a:buFontTx/>
              <a:buNone/>
            </a:pPr>
            <a:r>
              <a:rPr lang="hr-HR" altLang="sr-Latn-RS" sz="1600" i="1">
                <a:latin typeface="Arial" panose="020B0604020202020204" pitchFamily="34" charset="0"/>
              </a:rPr>
              <a:t>y</a:t>
            </a:r>
            <a:r>
              <a:rPr lang="hr-HR" altLang="sr-Latn-RS" sz="1600">
                <a:latin typeface="Arial" panose="020B0604020202020204" pitchFamily="34" charset="0"/>
              </a:rPr>
              <a:t>++;</a:t>
            </a:r>
          </a:p>
          <a:p>
            <a:pPr algn="just">
              <a:spcBef>
                <a:spcPts val="500"/>
              </a:spcBef>
              <a:spcAft>
                <a:spcPts val="500"/>
              </a:spcAft>
              <a:buClrTx/>
              <a:buSzTx/>
              <a:buFontTx/>
              <a:buNone/>
            </a:pPr>
            <a:r>
              <a:rPr lang="hr-HR" altLang="sr-Latn-RS" sz="1600">
                <a:latin typeface="Arial" panose="020B0604020202020204" pitchFamily="34" charset="0"/>
              </a:rPr>
              <a:t>     }</a:t>
            </a:r>
          </a:p>
          <a:p>
            <a:pPr algn="just">
              <a:spcBef>
                <a:spcPts val="500"/>
              </a:spcBef>
              <a:spcAft>
                <a:spcPts val="500"/>
              </a:spcAft>
              <a:buClrTx/>
              <a:buSzTx/>
              <a:buFontTx/>
              <a:buNone/>
            </a:pPr>
            <a:r>
              <a:rPr lang="hr-HR" altLang="sr-Latn-RS" sz="1600">
                <a:latin typeface="Arial" panose="020B0604020202020204" pitchFamily="34" charset="0"/>
              </a:rPr>
              <a:t>     WritePixel (</a:t>
            </a:r>
            <a:r>
              <a:rPr lang="hr-HR" altLang="sr-Latn-RS" sz="1600" i="1">
                <a:latin typeface="Arial" panose="020B0604020202020204" pitchFamily="34" charset="0"/>
              </a:rPr>
              <a:t>x</a:t>
            </a:r>
            <a:r>
              <a:rPr lang="hr-HR" altLang="sr-Latn-RS" sz="1600">
                <a:latin typeface="Arial" panose="020B0604020202020204" pitchFamily="34" charset="0"/>
              </a:rPr>
              <a:t>, </a:t>
            </a:r>
            <a:r>
              <a:rPr lang="hr-HR" altLang="sr-Latn-RS" sz="1600" i="1">
                <a:latin typeface="Arial" panose="020B0604020202020204" pitchFamily="34" charset="0"/>
              </a:rPr>
              <a:t>y</a:t>
            </a:r>
            <a:r>
              <a:rPr lang="hr-HR" altLang="sr-Latn-RS" sz="1600">
                <a:latin typeface="Arial" panose="020B0604020202020204" pitchFamily="34" charset="0"/>
              </a:rPr>
              <a:t>, </a:t>
            </a:r>
            <a:r>
              <a:rPr lang="hr-HR" altLang="sr-Latn-RS" sz="1600" i="1">
                <a:latin typeface="Arial" panose="020B0604020202020204" pitchFamily="34" charset="0"/>
              </a:rPr>
              <a:t>value</a:t>
            </a:r>
            <a:r>
              <a:rPr lang="hr-HR" altLang="sr-Latn-RS" sz="1600">
                <a:latin typeface="Arial" panose="020B0604020202020204" pitchFamily="34" charset="0"/>
              </a:rPr>
              <a:t>);/* Izabrani piksel najbliži liniji */</a:t>
            </a:r>
          </a:p>
          <a:p>
            <a:pPr algn="just">
              <a:spcBef>
                <a:spcPts val="500"/>
              </a:spcBef>
              <a:spcAft>
                <a:spcPts val="500"/>
              </a:spcAft>
              <a:buClrTx/>
              <a:buSzTx/>
              <a:buFontTx/>
              <a:buNone/>
            </a:pPr>
            <a:r>
              <a:rPr lang="hr-HR" altLang="sr-Latn-RS" sz="1600">
                <a:latin typeface="Arial" panose="020B0604020202020204" pitchFamily="34" charset="0"/>
              </a:rPr>
              <a:t>      }  /* while */</a:t>
            </a:r>
          </a:p>
          <a:p>
            <a:pPr algn="just">
              <a:spcBef>
                <a:spcPts val="500"/>
              </a:spcBef>
              <a:spcAft>
                <a:spcPts val="500"/>
              </a:spcAft>
              <a:buClrTx/>
              <a:buSzTx/>
              <a:buFontTx/>
              <a:buNone/>
            </a:pPr>
            <a:r>
              <a:rPr lang="hr-HR" altLang="sr-Latn-RS" sz="1600">
                <a:latin typeface="Arial" panose="020B0604020202020204" pitchFamily="34" charset="0"/>
              </a:rPr>
              <a:t>}/* SredCrta */</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Date Placeholder 2">
            <a:extLst>
              <a:ext uri="{FF2B5EF4-FFF2-40B4-BE49-F238E27FC236}">
                <a16:creationId xmlns:a16="http://schemas.microsoft.com/office/drawing/2014/main" id="{B228D9A5-9700-7B92-8C87-978B23B7BE4F}"/>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8F9B680E-8D57-4BE3-805A-C3A8F01D3988}"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22884" name="Slide Number Placeholder 4">
            <a:extLst>
              <a:ext uri="{FF2B5EF4-FFF2-40B4-BE49-F238E27FC236}">
                <a16:creationId xmlns:a16="http://schemas.microsoft.com/office/drawing/2014/main" id="{9B74D305-32F6-ECFD-58FC-0B1C7D296E5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CBA340F9-01F1-41AB-83AF-3FCE8196FC5A}" type="slidenum">
              <a:rPr lang="en-GB" altLang="sr-Latn-RS" sz="1400" smtClean="0">
                <a:latin typeface="Times New Roman" panose="02020603050405020304" pitchFamily="18" charset="0"/>
              </a:rPr>
              <a:pPr>
                <a:spcBef>
                  <a:spcPct val="50000"/>
                </a:spcBef>
                <a:buClrTx/>
                <a:buSzTx/>
                <a:buFontTx/>
                <a:buNone/>
              </a:pPr>
              <a:t>25</a:t>
            </a:fld>
            <a:endParaRPr lang="en-GB" altLang="sr-Latn-RS" sz="1400">
              <a:latin typeface="Times New Roman" panose="02020603050405020304" pitchFamily="18" charset="0"/>
            </a:endParaRPr>
          </a:p>
        </p:txBody>
      </p:sp>
      <p:sp>
        <p:nvSpPr>
          <p:cNvPr id="122885" name="Text Box 2">
            <a:extLst>
              <a:ext uri="{FF2B5EF4-FFF2-40B4-BE49-F238E27FC236}">
                <a16:creationId xmlns:a16="http://schemas.microsoft.com/office/drawing/2014/main" id="{EFB25C1F-0019-8479-1592-6B239F08009D}"/>
              </a:ext>
            </a:extLst>
          </p:cNvPr>
          <p:cNvSpPr txBox="1">
            <a:spLocks noChangeArrowheads="1"/>
          </p:cNvSpPr>
          <p:nvPr/>
        </p:nvSpPr>
        <p:spPr bwMode="auto">
          <a:xfrm>
            <a:off x="762000" y="57785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kružnice</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p:txBody>
      </p:sp>
      <p:sp>
        <p:nvSpPr>
          <p:cNvPr id="122886" name="Rectangle 3">
            <a:extLst>
              <a:ext uri="{FF2B5EF4-FFF2-40B4-BE49-F238E27FC236}">
                <a16:creationId xmlns:a16="http://schemas.microsoft.com/office/drawing/2014/main" id="{33D85BEE-F587-7CD9-B201-B830C6256A9C}"/>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22887" name="Rectangle 4">
            <a:extLst>
              <a:ext uri="{FF2B5EF4-FFF2-40B4-BE49-F238E27FC236}">
                <a16:creationId xmlns:a16="http://schemas.microsoft.com/office/drawing/2014/main" id="{DCB21ADC-15FE-7A91-F826-BCA71B4005AC}"/>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aphicFrame>
        <p:nvGraphicFramePr>
          <p:cNvPr id="122888" name="Object 5">
            <a:extLst>
              <a:ext uri="{FF2B5EF4-FFF2-40B4-BE49-F238E27FC236}">
                <a16:creationId xmlns:a16="http://schemas.microsoft.com/office/drawing/2014/main" id="{D59D8E8E-A450-74B3-E662-A89ECA64AC32}"/>
              </a:ext>
            </a:extLst>
          </p:cNvPr>
          <p:cNvGraphicFramePr>
            <a:graphicFrameLocks noChangeAspect="1"/>
          </p:cNvGraphicFramePr>
          <p:nvPr/>
        </p:nvGraphicFramePr>
        <p:xfrm>
          <a:off x="0" y="2225675"/>
          <a:ext cx="114300" cy="142875"/>
        </p:xfrm>
        <a:graphic>
          <a:graphicData uri="http://schemas.openxmlformats.org/presentationml/2006/ole">
            <mc:AlternateContent xmlns:mc="http://schemas.openxmlformats.org/markup-compatibility/2006">
              <mc:Choice xmlns:v="urn:schemas-microsoft-com:vml" Requires="v">
                <p:oleObj r:id="rId3" imgW="114201" imgH="139579" progId="Equation.3">
                  <p:embed/>
                </p:oleObj>
              </mc:Choice>
              <mc:Fallback>
                <p:oleObj r:id="rId3" imgW="114201" imgH="139579" progId="Equation.3">
                  <p:embed/>
                  <p:pic>
                    <p:nvPicPr>
                      <p:cNvPr id="122888" name="Object 5">
                        <a:extLst>
                          <a:ext uri="{FF2B5EF4-FFF2-40B4-BE49-F238E27FC236}">
                            <a16:creationId xmlns:a16="http://schemas.microsoft.com/office/drawing/2014/main" id="{D59D8E8E-A450-74B3-E662-A89ECA64AC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25675"/>
                        <a:ext cx="1143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889" name="Object 6">
            <a:extLst>
              <a:ext uri="{FF2B5EF4-FFF2-40B4-BE49-F238E27FC236}">
                <a16:creationId xmlns:a16="http://schemas.microsoft.com/office/drawing/2014/main" id="{4043B810-E77F-29F2-838A-46D5B9D46EBD}"/>
              </a:ext>
            </a:extLst>
          </p:cNvPr>
          <p:cNvGraphicFramePr>
            <a:graphicFrameLocks noChangeAspect="1"/>
          </p:cNvGraphicFramePr>
          <p:nvPr/>
        </p:nvGraphicFramePr>
        <p:xfrm>
          <a:off x="0" y="2225675"/>
          <a:ext cx="114300" cy="142875"/>
        </p:xfrm>
        <a:graphic>
          <a:graphicData uri="http://schemas.openxmlformats.org/presentationml/2006/ole">
            <mc:AlternateContent xmlns:mc="http://schemas.openxmlformats.org/markup-compatibility/2006">
              <mc:Choice xmlns:v="urn:schemas-microsoft-com:vml" Requires="v">
                <p:oleObj r:id="rId5" imgW="114201" imgH="139579" progId="Equation.3">
                  <p:embed/>
                </p:oleObj>
              </mc:Choice>
              <mc:Fallback>
                <p:oleObj r:id="rId5" imgW="114201" imgH="139579" progId="Equation.3">
                  <p:embed/>
                  <p:pic>
                    <p:nvPicPr>
                      <p:cNvPr id="122889" name="Object 6">
                        <a:extLst>
                          <a:ext uri="{FF2B5EF4-FFF2-40B4-BE49-F238E27FC236}">
                            <a16:creationId xmlns:a16="http://schemas.microsoft.com/office/drawing/2014/main" id="{4043B810-E77F-29F2-838A-46D5B9D46E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225675"/>
                        <a:ext cx="1143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890" name="Rectangle 8">
            <a:extLst>
              <a:ext uri="{FF2B5EF4-FFF2-40B4-BE49-F238E27FC236}">
                <a16:creationId xmlns:a16="http://schemas.microsoft.com/office/drawing/2014/main" id="{DC91075F-65F9-9FDC-62EA-AEFA60B176CF}"/>
              </a:ext>
            </a:extLst>
          </p:cNvPr>
          <p:cNvSpPr>
            <a:spLocks noChangeArrowheads="1"/>
          </p:cNvSpPr>
          <p:nvPr/>
        </p:nvSpPr>
        <p:spPr bwMode="auto">
          <a:xfrm>
            <a:off x="3300413"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22891" name="Rectangle 10">
            <a:extLst>
              <a:ext uri="{FF2B5EF4-FFF2-40B4-BE49-F238E27FC236}">
                <a16:creationId xmlns:a16="http://schemas.microsoft.com/office/drawing/2014/main" id="{9A273A38-D109-2396-E6F9-AAEA06D554DA}"/>
              </a:ext>
            </a:extLst>
          </p:cNvPr>
          <p:cNvSpPr>
            <a:spLocks noChangeArrowheads="1"/>
          </p:cNvSpPr>
          <p:nvPr/>
        </p:nvSpPr>
        <p:spPr bwMode="auto">
          <a:xfrm>
            <a:off x="914400" y="1828800"/>
            <a:ext cx="7239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hr-HR" altLang="sr-Latn-RS" sz="2000">
                <a:latin typeface="Arial" panose="020B0604020202020204" pitchFamily="34" charset="0"/>
                <a:cs typeface="Arial" panose="020B0604020202020204" pitchFamily="34" charset="0"/>
              </a:rPr>
              <a:t>Osnovna jednadžba kružnice sa ishodištem koordinatnog sustava smještenom u njenom središtu je:</a:t>
            </a:r>
          </a:p>
          <a:p>
            <a:pPr algn="just">
              <a:spcBef>
                <a:spcPct val="0"/>
              </a:spcBef>
              <a:buClrTx/>
              <a:buSzTx/>
              <a:buFontTx/>
              <a:buNone/>
            </a:pPr>
            <a:r>
              <a:rPr lang="hr-HR" altLang="sr-Latn-RS" sz="2000">
                <a:latin typeface="Arial" panose="020B0604020202020204" pitchFamily="34" charset="0"/>
                <a:cs typeface="Arial" panose="020B0604020202020204" pitchFamily="34" charset="0"/>
              </a:rPr>
              <a:t> </a:t>
            </a:r>
          </a:p>
          <a:p>
            <a:pPr algn="ctr">
              <a:spcBef>
                <a:spcPct val="0"/>
              </a:spcBef>
              <a:buClrTx/>
              <a:buSzTx/>
              <a:buFontTx/>
              <a:buNone/>
            </a:pPr>
            <a:r>
              <a:rPr lang="hr-HR" altLang="sr-Latn-RS" sz="2000" i="1">
                <a:latin typeface="Arial" panose="020B0604020202020204" pitchFamily="34" charset="0"/>
                <a:cs typeface="Arial" panose="020B0604020202020204" pitchFamily="34" charset="0"/>
              </a:rPr>
              <a:t>x</a:t>
            </a:r>
            <a:r>
              <a:rPr lang="hr-HR" altLang="sr-Latn-RS" sz="2000" i="1" baseline="30000">
                <a:latin typeface="Arial" panose="020B0604020202020204" pitchFamily="34" charset="0"/>
                <a:cs typeface="Arial" panose="020B0604020202020204" pitchFamily="34" charset="0"/>
              </a:rPr>
              <a:t>2</a:t>
            </a:r>
            <a:r>
              <a:rPr lang="hr-HR" altLang="sr-Latn-RS" sz="2000" i="1">
                <a:latin typeface="Arial" panose="020B0604020202020204" pitchFamily="34" charset="0"/>
                <a:cs typeface="Arial" panose="020B0604020202020204" pitchFamily="34" charset="0"/>
              </a:rPr>
              <a:t> + y</a:t>
            </a:r>
            <a:r>
              <a:rPr lang="hr-HR" altLang="sr-Latn-RS" sz="2000" i="1" baseline="30000">
                <a:latin typeface="Arial" panose="020B0604020202020204" pitchFamily="34" charset="0"/>
                <a:cs typeface="Arial" panose="020B0604020202020204" pitchFamily="34" charset="0"/>
              </a:rPr>
              <a:t>2</a:t>
            </a:r>
            <a:r>
              <a:rPr lang="hr-HR" altLang="sr-Latn-RS" sz="2000" i="1">
                <a:latin typeface="Arial" panose="020B0604020202020204" pitchFamily="34" charset="0"/>
                <a:cs typeface="Arial" panose="020B0604020202020204" pitchFamily="34" charset="0"/>
              </a:rPr>
              <a:t> = r</a:t>
            </a:r>
            <a:r>
              <a:rPr lang="hr-HR" altLang="sr-Latn-RS" sz="2000" i="1" baseline="30000">
                <a:latin typeface="Arial" panose="020B0604020202020204" pitchFamily="34" charset="0"/>
                <a:cs typeface="Arial" panose="020B0604020202020204" pitchFamily="34" charset="0"/>
              </a:rPr>
              <a:t>2</a:t>
            </a:r>
          </a:p>
          <a:p>
            <a:pPr>
              <a:spcBef>
                <a:spcPct val="0"/>
              </a:spcBef>
              <a:buClrTx/>
              <a:buSzTx/>
              <a:buFontTx/>
              <a:buNone/>
            </a:pPr>
            <a:endParaRPr lang="hr-HR" altLang="sr-Latn-RS" sz="2000">
              <a:latin typeface="Arial" panose="020B0604020202020204" pitchFamily="34" charset="0"/>
              <a:cs typeface="Arial" panose="020B0604020202020204" pitchFamily="34" charset="0"/>
            </a:endParaRPr>
          </a:p>
          <a:p>
            <a:pPr algn="just">
              <a:spcBef>
                <a:spcPct val="0"/>
              </a:spcBef>
              <a:buClrTx/>
              <a:buSzTx/>
              <a:buFontTx/>
              <a:buNone/>
            </a:pPr>
            <a:r>
              <a:rPr lang="hr-HR" altLang="sr-Latn-RS" sz="2000">
                <a:latin typeface="Arial" panose="020B0604020202020204" pitchFamily="34" charset="0"/>
                <a:cs typeface="Arial" panose="020B0604020202020204" pitchFamily="34" charset="0"/>
              </a:rPr>
              <a:t>Eksplicitno izrazimo </a:t>
            </a:r>
            <a:r>
              <a:rPr lang="hr-HR" altLang="sr-Latn-RS" sz="2000" i="1">
                <a:latin typeface="Arial" panose="020B0604020202020204" pitchFamily="34" charset="0"/>
                <a:cs typeface="Arial" panose="020B0604020202020204" pitchFamily="34" charset="0"/>
              </a:rPr>
              <a:t>y</a:t>
            </a:r>
            <a:r>
              <a:rPr lang="hr-HR" altLang="sr-Latn-RS" sz="2000">
                <a:latin typeface="Arial" panose="020B0604020202020204" pitchFamily="34" charset="0"/>
                <a:cs typeface="Arial" panose="020B0604020202020204" pitchFamily="34" charset="0"/>
              </a:rPr>
              <a:t>:</a:t>
            </a:r>
          </a:p>
        </p:txBody>
      </p:sp>
      <p:sp>
        <p:nvSpPr>
          <p:cNvPr id="122892" name="Rectangle 12">
            <a:extLst>
              <a:ext uri="{FF2B5EF4-FFF2-40B4-BE49-F238E27FC236}">
                <a16:creationId xmlns:a16="http://schemas.microsoft.com/office/drawing/2014/main" id="{CCDD0434-B250-254A-3B85-4948B3C497DB}"/>
              </a:ext>
            </a:extLst>
          </p:cNvPr>
          <p:cNvSpPr>
            <a:spLocks noChangeArrowheads="1"/>
          </p:cNvSpPr>
          <p:nvPr/>
        </p:nvSpPr>
        <p:spPr bwMode="auto">
          <a:xfrm>
            <a:off x="4090988"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aphicFrame>
        <p:nvGraphicFramePr>
          <p:cNvPr id="122893" name="Object 11">
            <a:extLst>
              <a:ext uri="{FF2B5EF4-FFF2-40B4-BE49-F238E27FC236}">
                <a16:creationId xmlns:a16="http://schemas.microsoft.com/office/drawing/2014/main" id="{427AD911-B351-FE68-713E-52E07C0B37B4}"/>
              </a:ext>
            </a:extLst>
          </p:cNvPr>
          <p:cNvGraphicFramePr>
            <a:graphicFrameLocks noChangeAspect="1"/>
          </p:cNvGraphicFramePr>
          <p:nvPr/>
        </p:nvGraphicFramePr>
        <p:xfrm>
          <a:off x="3708400" y="3767138"/>
          <a:ext cx="1800225" cy="579437"/>
        </p:xfrm>
        <a:graphic>
          <a:graphicData uri="http://schemas.openxmlformats.org/presentationml/2006/ole">
            <mc:AlternateContent xmlns:mc="http://schemas.openxmlformats.org/markup-compatibility/2006">
              <mc:Choice xmlns:v="urn:schemas-microsoft-com:vml" Requires="v">
                <p:oleObj name="Equation" r:id="rId7" imgW="799753" imgH="253890" progId="Equation.3">
                  <p:embed/>
                </p:oleObj>
              </mc:Choice>
              <mc:Fallback>
                <p:oleObj name="Equation" r:id="rId7" imgW="799753" imgH="253890" progId="Equation.3">
                  <p:embed/>
                  <p:pic>
                    <p:nvPicPr>
                      <p:cNvPr id="122893" name="Object 11">
                        <a:extLst>
                          <a:ext uri="{FF2B5EF4-FFF2-40B4-BE49-F238E27FC236}">
                            <a16:creationId xmlns:a16="http://schemas.microsoft.com/office/drawing/2014/main" id="{427AD911-B351-FE68-713E-52E07C0B37B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8400" y="3767138"/>
                        <a:ext cx="1800225" cy="5794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Date Placeholder 2">
            <a:extLst>
              <a:ext uri="{FF2B5EF4-FFF2-40B4-BE49-F238E27FC236}">
                <a16:creationId xmlns:a16="http://schemas.microsoft.com/office/drawing/2014/main" id="{826A805C-DAA6-8256-6BA1-CF2C72BF8BAC}"/>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2A571F30-899F-4C82-B87E-9E4EE2F3BE68}"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24932" name="Slide Number Placeholder 4">
            <a:extLst>
              <a:ext uri="{FF2B5EF4-FFF2-40B4-BE49-F238E27FC236}">
                <a16:creationId xmlns:a16="http://schemas.microsoft.com/office/drawing/2014/main" id="{AF15CFBD-6255-D46A-429E-73C7299B6BB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7ADC7BD2-8CA4-450D-9AB2-2D41F3F927C2}" type="slidenum">
              <a:rPr lang="en-GB" altLang="sr-Latn-RS" sz="1400" smtClean="0">
                <a:latin typeface="Times New Roman" panose="02020603050405020304" pitchFamily="18" charset="0"/>
              </a:rPr>
              <a:pPr>
                <a:spcBef>
                  <a:spcPct val="50000"/>
                </a:spcBef>
                <a:buClrTx/>
                <a:buSzTx/>
                <a:buFontTx/>
                <a:buNone/>
              </a:pPr>
              <a:t>26</a:t>
            </a:fld>
            <a:endParaRPr lang="en-GB" altLang="sr-Latn-RS" sz="1400">
              <a:latin typeface="Times New Roman" panose="02020603050405020304" pitchFamily="18" charset="0"/>
            </a:endParaRPr>
          </a:p>
        </p:txBody>
      </p:sp>
      <p:sp>
        <p:nvSpPr>
          <p:cNvPr id="124933" name="Text Box 2">
            <a:extLst>
              <a:ext uri="{FF2B5EF4-FFF2-40B4-BE49-F238E27FC236}">
                <a16:creationId xmlns:a16="http://schemas.microsoft.com/office/drawing/2014/main" id="{8185B59C-BA0F-93EF-9BD4-1A2F30464DB0}"/>
              </a:ext>
            </a:extLst>
          </p:cNvPr>
          <p:cNvSpPr txBox="1">
            <a:spLocks noChangeArrowheads="1"/>
          </p:cNvSpPr>
          <p:nvPr/>
        </p:nvSpPr>
        <p:spPr bwMode="auto">
          <a:xfrm>
            <a:off x="762000" y="83820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kružnice</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p:txBody>
      </p:sp>
      <p:sp>
        <p:nvSpPr>
          <p:cNvPr id="124934" name="Rectangle 4">
            <a:extLst>
              <a:ext uri="{FF2B5EF4-FFF2-40B4-BE49-F238E27FC236}">
                <a16:creationId xmlns:a16="http://schemas.microsoft.com/office/drawing/2014/main" id="{E8E0F3DA-DA5D-3250-1F34-096F33387E55}"/>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24935" name="Rectangle 7">
            <a:extLst>
              <a:ext uri="{FF2B5EF4-FFF2-40B4-BE49-F238E27FC236}">
                <a16:creationId xmlns:a16="http://schemas.microsoft.com/office/drawing/2014/main" id="{4194359B-6037-B0ED-A1AD-2325A61AF4FC}"/>
              </a:ext>
            </a:extLst>
          </p:cNvPr>
          <p:cNvSpPr>
            <a:spLocks noChangeArrowheads="1"/>
          </p:cNvSpPr>
          <p:nvPr/>
        </p:nvSpPr>
        <p:spPr bwMode="auto">
          <a:xfrm>
            <a:off x="3300413"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24936" name="Rectangle 8">
            <a:extLst>
              <a:ext uri="{FF2B5EF4-FFF2-40B4-BE49-F238E27FC236}">
                <a16:creationId xmlns:a16="http://schemas.microsoft.com/office/drawing/2014/main" id="{A6F4F743-8326-6212-42C4-A42020B4AC97}"/>
              </a:ext>
            </a:extLst>
          </p:cNvPr>
          <p:cNvSpPr>
            <a:spLocks noChangeArrowheads="1"/>
          </p:cNvSpPr>
          <p:nvPr/>
        </p:nvSpPr>
        <p:spPr bwMode="auto">
          <a:xfrm>
            <a:off x="381000" y="1752600"/>
            <a:ext cx="35433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AutoNum type="arabicPeriod"/>
            </a:pPr>
            <a:r>
              <a:rPr lang="hr-HR" altLang="sr-Latn-RS" sz="2000">
                <a:latin typeface="Arial" panose="020B0604020202020204" pitchFamily="34" charset="0"/>
                <a:cs typeface="Arial" panose="020B0604020202020204" pitchFamily="34" charset="0"/>
              </a:rPr>
              <a:t>Nacrtamo četvrtinu kružnice </a:t>
            </a:r>
          </a:p>
          <a:p>
            <a:pPr eaLnBrk="1" hangingPunct="1">
              <a:spcBef>
                <a:spcPct val="0"/>
              </a:spcBef>
              <a:buClrTx/>
              <a:buSzTx/>
              <a:buFontTx/>
              <a:buAutoNum type="arabicPeriod"/>
            </a:pPr>
            <a:r>
              <a:rPr lang="hr-HR" altLang="sr-Latn-RS" sz="2000">
                <a:latin typeface="Arial" panose="020B0604020202020204" pitchFamily="34" charset="0"/>
                <a:cs typeface="Arial" panose="020B0604020202020204" pitchFamily="34" charset="0"/>
              </a:rPr>
              <a:t>Povećavanjem vrijednosti </a:t>
            </a:r>
            <a:r>
              <a:rPr lang="hr-HR" altLang="sr-Latn-RS" sz="2000" i="1">
                <a:latin typeface="Arial" panose="020B0604020202020204" pitchFamily="34" charset="0"/>
                <a:cs typeface="Arial" panose="020B0604020202020204" pitchFamily="34" charset="0"/>
              </a:rPr>
              <a:t>x</a:t>
            </a:r>
            <a:r>
              <a:rPr lang="hr-HR" altLang="sr-Latn-RS" sz="2000">
                <a:latin typeface="Arial" panose="020B0604020202020204" pitchFamily="34" charset="0"/>
                <a:cs typeface="Arial" panose="020B0604020202020204" pitchFamily="34" charset="0"/>
              </a:rPr>
              <a:t>-a od 0 do </a:t>
            </a:r>
            <a:r>
              <a:rPr lang="hr-HR" altLang="sr-Latn-RS" sz="2000" i="1">
                <a:latin typeface="Arial" panose="020B0604020202020204" pitchFamily="34" charset="0"/>
                <a:cs typeface="Arial" panose="020B0604020202020204" pitchFamily="34" charset="0"/>
              </a:rPr>
              <a:t>r</a:t>
            </a:r>
            <a:r>
              <a:rPr lang="hr-HR" altLang="sr-Latn-RS" sz="2000">
                <a:latin typeface="Arial" panose="020B0604020202020204" pitchFamily="34" charset="0"/>
                <a:cs typeface="Arial" panose="020B0604020202020204" pitchFamily="34" charset="0"/>
              </a:rPr>
              <a:t> u jediničnim koracima izračunavamo </a:t>
            </a:r>
            <a:r>
              <a:rPr lang="hr-HR" altLang="sr-Latn-RS" sz="2000" i="1">
                <a:latin typeface="Arial" panose="020B0604020202020204" pitchFamily="34" charset="0"/>
                <a:cs typeface="Arial" panose="020B0604020202020204" pitchFamily="34" charset="0"/>
              </a:rPr>
              <a:t>+y</a:t>
            </a:r>
            <a:r>
              <a:rPr lang="hr-HR" altLang="sr-Latn-RS" sz="2000">
                <a:latin typeface="Arial" panose="020B0604020202020204" pitchFamily="34" charset="0"/>
                <a:cs typeface="Arial" panose="020B0604020202020204" pitchFamily="34" charset="0"/>
              </a:rPr>
              <a:t> rješenje za svaki korak. </a:t>
            </a:r>
          </a:p>
        </p:txBody>
      </p:sp>
      <p:sp>
        <p:nvSpPr>
          <p:cNvPr id="124937" name="Rectangle 9">
            <a:extLst>
              <a:ext uri="{FF2B5EF4-FFF2-40B4-BE49-F238E27FC236}">
                <a16:creationId xmlns:a16="http://schemas.microsoft.com/office/drawing/2014/main" id="{5054CC1C-EBC4-A6BC-4A7C-461A4C974DA8}"/>
              </a:ext>
            </a:extLst>
          </p:cNvPr>
          <p:cNvSpPr>
            <a:spLocks noChangeArrowheads="1"/>
          </p:cNvSpPr>
          <p:nvPr/>
        </p:nvSpPr>
        <p:spPr bwMode="auto">
          <a:xfrm>
            <a:off x="4090988"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pic>
        <p:nvPicPr>
          <p:cNvPr id="124938" name="Picture 11" descr="circle1">
            <a:extLst>
              <a:ext uri="{FF2B5EF4-FFF2-40B4-BE49-F238E27FC236}">
                <a16:creationId xmlns:a16="http://schemas.microsoft.com/office/drawing/2014/main" id="{7816D6C7-6415-079A-53A5-25211B53E2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1600200"/>
            <a:ext cx="4914900"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Date Placeholder 2">
            <a:extLst>
              <a:ext uri="{FF2B5EF4-FFF2-40B4-BE49-F238E27FC236}">
                <a16:creationId xmlns:a16="http://schemas.microsoft.com/office/drawing/2014/main" id="{075B5B78-1711-24EF-ED33-B012A66EA2D3}"/>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CB95F1AD-9005-4E61-AFDB-EC8A0481423C}"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26980" name="Slide Number Placeholder 4">
            <a:extLst>
              <a:ext uri="{FF2B5EF4-FFF2-40B4-BE49-F238E27FC236}">
                <a16:creationId xmlns:a16="http://schemas.microsoft.com/office/drawing/2014/main" id="{9D777332-A4DA-E254-9CF9-E097DA1C1F7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8C56E169-386B-4B5B-85FB-D05DEC26B689}" type="slidenum">
              <a:rPr lang="en-GB" altLang="sr-Latn-RS" sz="1400" smtClean="0">
                <a:latin typeface="Times New Roman" panose="02020603050405020304" pitchFamily="18" charset="0"/>
              </a:rPr>
              <a:pPr>
                <a:spcBef>
                  <a:spcPct val="50000"/>
                </a:spcBef>
                <a:buClrTx/>
                <a:buSzTx/>
                <a:buFontTx/>
                <a:buNone/>
              </a:pPr>
              <a:t>27</a:t>
            </a:fld>
            <a:endParaRPr lang="en-GB" altLang="sr-Latn-RS" sz="1400">
              <a:latin typeface="Times New Roman" panose="02020603050405020304" pitchFamily="18" charset="0"/>
            </a:endParaRPr>
          </a:p>
        </p:txBody>
      </p:sp>
      <p:sp>
        <p:nvSpPr>
          <p:cNvPr id="126981" name="Text Box 2">
            <a:extLst>
              <a:ext uri="{FF2B5EF4-FFF2-40B4-BE49-F238E27FC236}">
                <a16:creationId xmlns:a16="http://schemas.microsoft.com/office/drawing/2014/main" id="{5A16786D-DF22-F44D-4AC1-15DB31E533CE}"/>
              </a:ext>
            </a:extLst>
          </p:cNvPr>
          <p:cNvSpPr txBox="1">
            <a:spLocks noChangeArrowheads="1"/>
          </p:cNvSpPr>
          <p:nvPr/>
        </p:nvSpPr>
        <p:spPr bwMode="auto">
          <a:xfrm>
            <a:off x="762000" y="83820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kružnice</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p:txBody>
      </p:sp>
      <p:sp>
        <p:nvSpPr>
          <p:cNvPr id="126982" name="Rectangle 4">
            <a:extLst>
              <a:ext uri="{FF2B5EF4-FFF2-40B4-BE49-F238E27FC236}">
                <a16:creationId xmlns:a16="http://schemas.microsoft.com/office/drawing/2014/main" id="{94055296-01B2-F917-DC40-C66A216F21C8}"/>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26983" name="Rectangle 5">
            <a:extLst>
              <a:ext uri="{FF2B5EF4-FFF2-40B4-BE49-F238E27FC236}">
                <a16:creationId xmlns:a16="http://schemas.microsoft.com/office/drawing/2014/main" id="{B301685C-BA36-1630-8330-D036E4DEF737}"/>
              </a:ext>
            </a:extLst>
          </p:cNvPr>
          <p:cNvSpPr>
            <a:spLocks noChangeArrowheads="1"/>
          </p:cNvSpPr>
          <p:nvPr/>
        </p:nvSpPr>
        <p:spPr bwMode="auto">
          <a:xfrm>
            <a:off x="3300413"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59401" name="Rectangle 6">
            <a:extLst>
              <a:ext uri="{FF2B5EF4-FFF2-40B4-BE49-F238E27FC236}">
                <a16:creationId xmlns:a16="http://schemas.microsoft.com/office/drawing/2014/main" id="{2BCF2D19-1255-A914-9490-92AEC07946B1}"/>
              </a:ext>
            </a:extLst>
          </p:cNvPr>
          <p:cNvSpPr>
            <a:spLocks noChangeArrowheads="1"/>
          </p:cNvSpPr>
          <p:nvPr/>
        </p:nvSpPr>
        <p:spPr bwMode="auto">
          <a:xfrm>
            <a:off x="838200" y="1752600"/>
            <a:ext cx="7848600" cy="4400550"/>
          </a:xfrm>
          <a:prstGeom prst="rect">
            <a:avLst/>
          </a:prstGeom>
          <a:noFill/>
          <a:ln>
            <a:noFill/>
          </a:ln>
        </p:spPr>
        <p:txBody>
          <a:bodyPr>
            <a:spAutoFit/>
          </a:bodyPr>
          <a:lstStyle>
            <a:lvl1pPr marL="457200" indent="-457200" eaLnBrk="0" hangingPunct="0">
              <a:defRPr sz="2400">
                <a:solidFill>
                  <a:srgbClr val="FFFFFF"/>
                </a:solidFill>
                <a:latin typeface="Times New Roman" pitchFamily="18" charset="0"/>
              </a:defRPr>
            </a:lvl1pPr>
            <a:lvl2pPr marL="742950" indent="-285750" eaLnBrk="0" hangingPunct="0">
              <a:defRPr sz="2400">
                <a:solidFill>
                  <a:srgbClr val="FFFFFF"/>
                </a:solidFill>
                <a:latin typeface="Times New Roman" pitchFamily="18" charset="0"/>
              </a:defRPr>
            </a:lvl2pPr>
            <a:lvl3pPr marL="1143000" indent="-228600" eaLnBrk="0" hangingPunct="0">
              <a:defRPr sz="2400">
                <a:solidFill>
                  <a:srgbClr val="FFFFFF"/>
                </a:solidFill>
                <a:latin typeface="Times New Roman" pitchFamily="18" charset="0"/>
              </a:defRPr>
            </a:lvl3pPr>
            <a:lvl4pPr marL="1600200" indent="-228600" eaLnBrk="0" hangingPunct="0">
              <a:defRPr sz="2400">
                <a:solidFill>
                  <a:srgbClr val="FFFFFF"/>
                </a:solidFill>
                <a:latin typeface="Times New Roman" pitchFamily="18" charset="0"/>
              </a:defRPr>
            </a:lvl4pPr>
            <a:lvl5pPr marL="2057400" indent="-228600" eaLnBrk="0" hangingPunct="0">
              <a:defRPr sz="2400">
                <a:solidFill>
                  <a:srgbClr val="FFFFFF"/>
                </a:solidFill>
                <a:latin typeface="Times New Roman" pitchFamily="18" charset="0"/>
              </a:defRPr>
            </a:lvl5pPr>
            <a:lvl6pPr marL="2514600" indent="-228600" algn="just" eaLnBrk="0" fontAlgn="base" hangingPunct="0">
              <a:spcBef>
                <a:spcPct val="50000"/>
              </a:spcBef>
              <a:spcAft>
                <a:spcPct val="0"/>
              </a:spcAft>
              <a:defRPr sz="2400">
                <a:solidFill>
                  <a:srgbClr val="FFFFFF"/>
                </a:solidFill>
                <a:latin typeface="Times New Roman" pitchFamily="18" charset="0"/>
              </a:defRPr>
            </a:lvl6pPr>
            <a:lvl7pPr marL="2971800" indent="-228600" algn="just" eaLnBrk="0" fontAlgn="base" hangingPunct="0">
              <a:spcBef>
                <a:spcPct val="50000"/>
              </a:spcBef>
              <a:spcAft>
                <a:spcPct val="0"/>
              </a:spcAft>
              <a:defRPr sz="2400">
                <a:solidFill>
                  <a:srgbClr val="FFFFFF"/>
                </a:solidFill>
                <a:latin typeface="Times New Roman" pitchFamily="18" charset="0"/>
              </a:defRPr>
            </a:lvl7pPr>
            <a:lvl8pPr marL="3429000" indent="-228600" algn="just" eaLnBrk="0" fontAlgn="base" hangingPunct="0">
              <a:spcBef>
                <a:spcPct val="50000"/>
              </a:spcBef>
              <a:spcAft>
                <a:spcPct val="0"/>
              </a:spcAft>
              <a:defRPr sz="2400">
                <a:solidFill>
                  <a:srgbClr val="FFFFFF"/>
                </a:solidFill>
                <a:latin typeface="Times New Roman" pitchFamily="18" charset="0"/>
              </a:defRPr>
            </a:lvl8pPr>
            <a:lvl9pPr marL="3886200" indent="-228600" algn="just" eaLnBrk="0" fontAlgn="base" hangingPunct="0">
              <a:spcBef>
                <a:spcPct val="50000"/>
              </a:spcBef>
              <a:spcAft>
                <a:spcPct val="0"/>
              </a:spcAft>
              <a:defRPr sz="2400">
                <a:solidFill>
                  <a:srgbClr val="FFFFFF"/>
                </a:solidFill>
                <a:latin typeface="Times New Roman" pitchFamily="18" charset="0"/>
              </a:defRPr>
            </a:lvl9pPr>
          </a:lstStyle>
          <a:p>
            <a:pPr algn="just" eaLnBrk="1" hangingPunct="1">
              <a:defRPr/>
            </a:pPr>
            <a:r>
              <a:rPr lang="hr-HR" altLang="sr-Latn-RS" sz="2000" dirty="0">
                <a:solidFill>
                  <a:schemeClr val="tx1"/>
                </a:solidFill>
                <a:latin typeface="Arial" panose="020B0604020202020204" pitchFamily="34" charset="0"/>
                <a:cs typeface="Arial" panose="020B0604020202020204" pitchFamily="34" charset="0"/>
              </a:rPr>
              <a:t>	</a:t>
            </a:r>
            <a:r>
              <a:rPr lang="hr-HR" altLang="sr-Latn-RS" sz="2000" b="1" dirty="0">
                <a:solidFill>
                  <a:schemeClr val="tx1"/>
                </a:solidFill>
                <a:latin typeface="Arial" panose="020B0604020202020204" pitchFamily="34" charset="0"/>
                <a:cs typeface="Arial" panose="020B0604020202020204" pitchFamily="34" charset="0"/>
              </a:rPr>
              <a:t>Nedostatci:</a:t>
            </a:r>
          </a:p>
          <a:p>
            <a:pPr algn="just" eaLnBrk="1" hangingPunct="1">
              <a:defRPr/>
            </a:pPr>
            <a:endParaRPr lang="hr-HR" altLang="sr-Latn-RS" sz="2000" b="1" dirty="0">
              <a:solidFill>
                <a:schemeClr val="tx1"/>
              </a:solidFill>
              <a:latin typeface="Arial" panose="020B0604020202020204" pitchFamily="34" charset="0"/>
              <a:cs typeface="Arial" panose="020B0604020202020204" pitchFamily="34" charset="0"/>
            </a:endParaRPr>
          </a:p>
          <a:p>
            <a:pPr algn="just" eaLnBrk="1" hangingPunct="1">
              <a:buFontTx/>
              <a:buChar char="•"/>
              <a:defRPr/>
            </a:pPr>
            <a:r>
              <a:rPr lang="hr-HR" altLang="sr-Latn-RS" sz="2000" dirty="0">
                <a:solidFill>
                  <a:schemeClr val="tx1"/>
                </a:solidFill>
                <a:latin typeface="Arial" panose="020B0604020202020204" pitchFamily="34" charset="0"/>
                <a:cs typeface="Arial" panose="020B0604020202020204" pitchFamily="34" charset="0"/>
              </a:rPr>
              <a:t>računski zahtjevna uzastupna izračunavanja kvadratnog korijena</a:t>
            </a:r>
          </a:p>
          <a:p>
            <a:pPr algn="just" eaLnBrk="1" hangingPunct="1">
              <a:buFontTx/>
              <a:buChar char="•"/>
              <a:defRPr/>
            </a:pPr>
            <a:r>
              <a:rPr lang="hr-HR" altLang="sr-Latn-RS" sz="2000" dirty="0">
                <a:solidFill>
                  <a:schemeClr val="tx1"/>
                </a:solidFill>
                <a:latin typeface="Arial" panose="020B0604020202020204" pitchFamily="34" charset="0"/>
                <a:cs typeface="Arial" panose="020B0604020202020204" pitchFamily="34" charset="0"/>
              </a:rPr>
              <a:t>kako vrijednost x-a postaje bliža krajnjoj vrijednosti 	r, točke na kružnici će biti sve razmaknutije </a:t>
            </a:r>
          </a:p>
          <a:p>
            <a:pPr algn="just" eaLnBrk="1" hangingPunct="1">
              <a:buFontTx/>
              <a:buChar char="•"/>
              <a:defRPr/>
            </a:pPr>
            <a:endParaRPr lang="hr-HR" altLang="sr-Latn-RS" sz="2000" dirty="0">
              <a:solidFill>
                <a:schemeClr val="tx1"/>
              </a:solidFill>
              <a:latin typeface="Arial" panose="020B0604020202020204" pitchFamily="34" charset="0"/>
              <a:cs typeface="Arial" panose="020B0604020202020204" pitchFamily="34" charset="0"/>
            </a:endParaRPr>
          </a:p>
          <a:p>
            <a:pPr algn="just" eaLnBrk="1" hangingPunct="1">
              <a:defRPr/>
            </a:pPr>
            <a:r>
              <a:rPr lang="hr-HR" altLang="sr-Latn-RS" sz="2000" dirty="0">
                <a:solidFill>
                  <a:schemeClr val="tx1"/>
                </a:solidFill>
              </a:rPr>
              <a:t>	</a:t>
            </a:r>
            <a:r>
              <a:rPr lang="hr-HR" altLang="sr-Latn-RS" sz="2000" b="1" dirty="0">
                <a:solidFill>
                  <a:schemeClr val="tx1"/>
                </a:solidFill>
                <a:latin typeface="Arial" panose="020B0604020202020204" pitchFamily="34" charset="0"/>
                <a:cs typeface="Arial" panose="020B0604020202020204" pitchFamily="34" charset="0"/>
              </a:rPr>
              <a:t>Drugi pristup:</a:t>
            </a:r>
          </a:p>
          <a:p>
            <a:pPr algn="just" eaLnBrk="1" hangingPunct="1">
              <a:defRPr/>
            </a:pPr>
            <a:endParaRPr lang="hr-HR" altLang="sr-Latn-RS" sz="2000" b="1" dirty="0">
              <a:solidFill>
                <a:schemeClr val="tx1"/>
              </a:solidFill>
              <a:latin typeface="Arial" panose="020B0604020202020204" pitchFamily="34" charset="0"/>
              <a:cs typeface="Arial" panose="020B0604020202020204" pitchFamily="34" charset="0"/>
            </a:endParaRPr>
          </a:p>
          <a:p>
            <a:pPr algn="just" eaLnBrk="1" hangingPunct="1">
              <a:buFontTx/>
              <a:buChar char="•"/>
              <a:defRPr/>
            </a:pPr>
            <a:r>
              <a:rPr lang="hr-HR" altLang="sr-Latn-RS" sz="2000" dirty="0">
                <a:solidFill>
                  <a:schemeClr val="tx1"/>
                </a:solidFill>
                <a:latin typeface="Arial" panose="020B0604020202020204" pitchFamily="34" charset="0"/>
                <a:cs typeface="Arial" panose="020B0604020202020204" pitchFamily="34" charset="0"/>
              </a:rPr>
              <a:t>crtanjem točaka s koordinatama (rcos</a:t>
            </a:r>
            <a:r>
              <a:rPr lang="hr-HR" altLang="sr-Latn-RS" sz="2000" dirty="0">
                <a:solidFill>
                  <a:schemeClr val="tx1"/>
                </a:solidFill>
                <a:latin typeface="Arial" panose="020B0604020202020204" pitchFamily="34" charset="0"/>
                <a:cs typeface="Arial" panose="020B0604020202020204" pitchFamily="34" charset="0"/>
                <a:sym typeface="Symbol" pitchFamily="18" charset="2"/>
              </a:rPr>
              <a:t>, rsin</a:t>
            </a:r>
            <a:r>
              <a:rPr lang="hr-HR" altLang="sr-Latn-RS" sz="2000" dirty="0">
                <a:solidFill>
                  <a:schemeClr val="tx1"/>
                </a:solidFill>
                <a:latin typeface="Arial" panose="020B0604020202020204" pitchFamily="34" charset="0"/>
                <a:cs typeface="Arial" panose="020B0604020202020204" pitchFamily="34" charset="0"/>
              </a:rPr>
              <a:t>) povećavanjem vrijednosti kuta od 0° do 90°</a:t>
            </a:r>
          </a:p>
          <a:p>
            <a:pPr algn="just" eaLnBrk="1" hangingPunct="1">
              <a:buFontTx/>
              <a:buChar char="•"/>
              <a:defRPr/>
            </a:pPr>
            <a:endParaRPr lang="hr-HR" altLang="sr-Latn-RS" sz="2000" dirty="0">
              <a:solidFill>
                <a:schemeClr val="tx1"/>
              </a:solidFill>
              <a:latin typeface="Arial" panose="020B0604020202020204" pitchFamily="34" charset="0"/>
              <a:cs typeface="Arial" panose="020B0604020202020204" pitchFamily="34" charset="0"/>
            </a:endParaRPr>
          </a:p>
          <a:p>
            <a:pPr algn="just" eaLnBrk="1" hangingPunct="1">
              <a:buFontTx/>
              <a:buChar char="•"/>
              <a:defRPr/>
            </a:pPr>
            <a:r>
              <a:rPr lang="hr-HR" altLang="sr-Latn-RS" sz="2000" dirty="0">
                <a:solidFill>
                  <a:schemeClr val="tx1"/>
                </a:solidFill>
                <a:latin typeface="Arial" panose="020B0604020202020204" pitchFamily="34" charset="0"/>
                <a:cs typeface="Arial" panose="020B0604020202020204" pitchFamily="34" charset="0"/>
              </a:rPr>
              <a:t>Ovaj način je također spor</a:t>
            </a:r>
          </a:p>
          <a:p>
            <a:pPr marL="0" indent="0" algn="just" eaLnBrk="1" hangingPunct="1">
              <a:defRPr/>
            </a:pPr>
            <a:endParaRPr lang="hr-HR" altLang="sr-Latn-RS" sz="2000" dirty="0">
              <a:solidFill>
                <a:schemeClr val="tx1"/>
              </a:solidFill>
              <a:latin typeface="Arial" panose="020B0604020202020204" pitchFamily="34" charset="0"/>
              <a:cs typeface="Arial" panose="020B0604020202020204" pitchFamily="34" charset="0"/>
            </a:endParaRPr>
          </a:p>
        </p:txBody>
      </p:sp>
      <p:sp>
        <p:nvSpPr>
          <p:cNvPr id="126985" name="Rectangle 7">
            <a:extLst>
              <a:ext uri="{FF2B5EF4-FFF2-40B4-BE49-F238E27FC236}">
                <a16:creationId xmlns:a16="http://schemas.microsoft.com/office/drawing/2014/main" id="{6B5D604A-B0C8-1E24-0694-C731E2D2096B}"/>
              </a:ext>
            </a:extLst>
          </p:cNvPr>
          <p:cNvSpPr>
            <a:spLocks noChangeArrowheads="1"/>
          </p:cNvSpPr>
          <p:nvPr/>
        </p:nvSpPr>
        <p:spPr bwMode="auto">
          <a:xfrm>
            <a:off x="4090988"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Date Placeholder 2">
            <a:extLst>
              <a:ext uri="{FF2B5EF4-FFF2-40B4-BE49-F238E27FC236}">
                <a16:creationId xmlns:a16="http://schemas.microsoft.com/office/drawing/2014/main" id="{BF6C0348-9678-95AC-F9BD-0204A1B008D1}"/>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872159C9-851B-4D47-8242-7BE699800DFC}"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29028" name="Slide Number Placeholder 4">
            <a:extLst>
              <a:ext uri="{FF2B5EF4-FFF2-40B4-BE49-F238E27FC236}">
                <a16:creationId xmlns:a16="http://schemas.microsoft.com/office/drawing/2014/main" id="{E7AC606F-C698-C70F-9856-76FD9D16F26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97014318-DCD1-44F5-B8CA-C1A6E1EA6FB5}" type="slidenum">
              <a:rPr lang="en-GB" altLang="sr-Latn-RS" sz="1400" smtClean="0">
                <a:latin typeface="Times New Roman" panose="02020603050405020304" pitchFamily="18" charset="0"/>
              </a:rPr>
              <a:pPr>
                <a:spcBef>
                  <a:spcPct val="50000"/>
                </a:spcBef>
                <a:buClrTx/>
                <a:buSzTx/>
                <a:buFontTx/>
                <a:buNone/>
              </a:pPr>
              <a:t>28</a:t>
            </a:fld>
            <a:endParaRPr lang="en-GB" altLang="sr-Latn-RS" sz="1400">
              <a:latin typeface="Times New Roman" panose="02020603050405020304" pitchFamily="18" charset="0"/>
            </a:endParaRPr>
          </a:p>
        </p:txBody>
      </p:sp>
      <p:sp>
        <p:nvSpPr>
          <p:cNvPr id="129029" name="Text Box 2">
            <a:extLst>
              <a:ext uri="{FF2B5EF4-FFF2-40B4-BE49-F238E27FC236}">
                <a16:creationId xmlns:a16="http://schemas.microsoft.com/office/drawing/2014/main" id="{38200D1E-A882-DA4B-3585-3BC26EB07729}"/>
              </a:ext>
            </a:extLst>
          </p:cNvPr>
          <p:cNvSpPr txBox="1">
            <a:spLocks noChangeArrowheads="1"/>
          </p:cNvSpPr>
          <p:nvPr/>
        </p:nvSpPr>
        <p:spPr bwMode="auto">
          <a:xfrm>
            <a:off x="762000" y="83820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kružnice</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p:txBody>
      </p:sp>
      <p:sp>
        <p:nvSpPr>
          <p:cNvPr id="129030" name="Rectangle 4">
            <a:extLst>
              <a:ext uri="{FF2B5EF4-FFF2-40B4-BE49-F238E27FC236}">
                <a16:creationId xmlns:a16="http://schemas.microsoft.com/office/drawing/2014/main" id="{320AC652-45DD-5FA2-6026-62C26B9681F9}"/>
              </a:ext>
            </a:extLst>
          </p:cNvPr>
          <p:cNvSpPr>
            <a:spLocks noChangeArrowheads="1"/>
          </p:cNvSpPr>
          <p:nvPr/>
        </p:nvSpPr>
        <p:spPr bwMode="auto">
          <a:xfrm>
            <a:off x="4352925" y="3343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29031" name="Rectangle 6">
            <a:extLst>
              <a:ext uri="{FF2B5EF4-FFF2-40B4-BE49-F238E27FC236}">
                <a16:creationId xmlns:a16="http://schemas.microsoft.com/office/drawing/2014/main" id="{9ABEF8EE-464E-51D1-37CF-48F78798C715}"/>
              </a:ext>
            </a:extLst>
          </p:cNvPr>
          <p:cNvSpPr>
            <a:spLocks noChangeArrowheads="1"/>
          </p:cNvSpPr>
          <p:nvPr/>
        </p:nvSpPr>
        <p:spPr bwMode="auto">
          <a:xfrm>
            <a:off x="2514600" y="18288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hr-HR" altLang="sr-Latn-RS" sz="2400">
                <a:latin typeface="Times New Roman" panose="02020603050405020304" pitchFamily="18" charset="0"/>
              </a:rPr>
              <a:t>	</a:t>
            </a:r>
            <a:r>
              <a:rPr lang="hr-HR" altLang="sr-Latn-RS" sz="2400" b="1">
                <a:latin typeface="Arial" panose="020B0604020202020204" pitchFamily="34" charset="0"/>
                <a:cs typeface="Arial" panose="020B0604020202020204" pitchFamily="34" charset="0"/>
              </a:rPr>
              <a:t>Osmosmjerna simetrija</a:t>
            </a:r>
          </a:p>
        </p:txBody>
      </p:sp>
      <p:sp>
        <p:nvSpPr>
          <p:cNvPr id="129032" name="Rectangle 7">
            <a:extLst>
              <a:ext uri="{FF2B5EF4-FFF2-40B4-BE49-F238E27FC236}">
                <a16:creationId xmlns:a16="http://schemas.microsoft.com/office/drawing/2014/main" id="{05637AA1-6B8B-899C-367B-145E2C947370}"/>
              </a:ext>
            </a:extLst>
          </p:cNvPr>
          <p:cNvSpPr>
            <a:spLocks noChangeArrowheads="1"/>
          </p:cNvSpPr>
          <p:nvPr/>
        </p:nvSpPr>
        <p:spPr bwMode="auto">
          <a:xfrm>
            <a:off x="4090988"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pic>
        <p:nvPicPr>
          <p:cNvPr id="129033" name="Picture 8" descr="circle2">
            <a:extLst>
              <a:ext uri="{FF2B5EF4-FFF2-40B4-BE49-F238E27FC236}">
                <a16:creationId xmlns:a16="http://schemas.microsoft.com/office/drawing/2014/main" id="{B36C6F04-B138-474A-86C3-AFB9D48B7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130" r="22122" b="19153"/>
          <a:stretch>
            <a:fillRect/>
          </a:stretch>
        </p:blipFill>
        <p:spPr bwMode="auto">
          <a:xfrm>
            <a:off x="323850" y="2540000"/>
            <a:ext cx="4211638" cy="344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34" name="Text Box 8">
            <a:extLst>
              <a:ext uri="{FF2B5EF4-FFF2-40B4-BE49-F238E27FC236}">
                <a16:creationId xmlns:a16="http://schemas.microsoft.com/office/drawing/2014/main" id="{1DE0C5AC-A1C9-6EFF-9AFE-7869628D40C2}"/>
              </a:ext>
            </a:extLst>
          </p:cNvPr>
          <p:cNvSpPr txBox="1">
            <a:spLocks noChangeArrowheads="1"/>
          </p:cNvSpPr>
          <p:nvPr/>
        </p:nvSpPr>
        <p:spPr bwMode="auto">
          <a:xfrm>
            <a:off x="4691063" y="2708275"/>
            <a:ext cx="4181475" cy="2990850"/>
          </a:xfrm>
          <a:prstGeom prst="rect">
            <a:avLst/>
          </a:prstGeom>
          <a:solidFill>
            <a:srgbClr val="C0C0C0"/>
          </a:solidFill>
          <a:ln w="9525">
            <a:solidFill>
              <a:srgbClr val="000000"/>
            </a:solidFill>
            <a:miter lim="800000"/>
            <a:headEnd/>
            <a:tailEnd/>
          </a:ln>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sr-Latn-RS" sz="1600" b="1">
                <a:latin typeface="Arial" panose="020B0604020202020204" pitchFamily="34" charset="0"/>
              </a:rPr>
              <a:t>void</a:t>
            </a:r>
            <a:r>
              <a:rPr lang="en-US" altLang="sr-Latn-RS" sz="1600">
                <a:latin typeface="Arial" panose="020B0604020202020204" pitchFamily="34" charset="0"/>
              </a:rPr>
              <a:t> TockeKruznice(</a:t>
            </a:r>
            <a:r>
              <a:rPr lang="en-US" altLang="sr-Latn-RS" sz="1600" b="1">
                <a:latin typeface="Arial" panose="020B0604020202020204" pitchFamily="34" charset="0"/>
              </a:rPr>
              <a:t>int</a:t>
            </a:r>
            <a:r>
              <a:rPr lang="en-US" altLang="sr-Latn-RS" sz="1600">
                <a:latin typeface="Arial" panose="020B0604020202020204" pitchFamily="34" charset="0"/>
              </a:rPr>
              <a:t> </a:t>
            </a:r>
            <a:r>
              <a:rPr lang="en-US" altLang="sr-Latn-RS" sz="1600" i="1">
                <a:latin typeface="Arial" panose="020B0604020202020204" pitchFamily="34" charset="0"/>
              </a:rPr>
              <a:t>x</a:t>
            </a:r>
            <a:r>
              <a:rPr lang="en-US" altLang="sr-Latn-RS" sz="1600">
                <a:latin typeface="Arial" panose="020B0604020202020204" pitchFamily="34" charset="0"/>
              </a:rPr>
              <a:t>, </a:t>
            </a:r>
            <a:r>
              <a:rPr lang="en-US" altLang="sr-Latn-RS" sz="1600" b="1">
                <a:latin typeface="Arial" panose="020B0604020202020204" pitchFamily="34" charset="0"/>
              </a:rPr>
              <a:t>int</a:t>
            </a:r>
            <a:r>
              <a:rPr lang="en-US" altLang="sr-Latn-RS" sz="1600">
                <a:latin typeface="Arial" panose="020B0604020202020204" pitchFamily="34" charset="0"/>
              </a:rPr>
              <a:t> </a:t>
            </a:r>
            <a:r>
              <a:rPr lang="en-US" altLang="sr-Latn-RS" sz="1600" i="1">
                <a:latin typeface="Arial" panose="020B0604020202020204" pitchFamily="34" charset="0"/>
              </a:rPr>
              <a:t>y</a:t>
            </a:r>
            <a:r>
              <a:rPr lang="en-US" altLang="sr-Latn-RS" sz="1600">
                <a:latin typeface="Arial" panose="020B0604020202020204" pitchFamily="34" charset="0"/>
              </a:rPr>
              <a:t>, </a:t>
            </a:r>
            <a:r>
              <a:rPr lang="en-US" altLang="sr-Latn-RS" sz="1600" b="1">
                <a:latin typeface="Arial" panose="020B0604020202020204" pitchFamily="34" charset="0"/>
              </a:rPr>
              <a:t>int</a:t>
            </a:r>
            <a:r>
              <a:rPr lang="en-US" altLang="sr-Latn-RS" sz="1600">
                <a:latin typeface="Arial" panose="020B0604020202020204" pitchFamily="34" charset="0"/>
              </a:rPr>
              <a:t> </a:t>
            </a:r>
            <a:r>
              <a:rPr lang="en-US" altLang="sr-Latn-RS" sz="1600" i="1">
                <a:latin typeface="Arial" panose="020B0604020202020204" pitchFamily="34" charset="0"/>
              </a:rPr>
              <a:t>value</a:t>
            </a:r>
            <a:r>
              <a:rPr lang="en-US" altLang="sr-Latn-RS" sz="1600">
                <a:latin typeface="Arial" panose="020B0604020202020204" pitchFamily="34" charset="0"/>
              </a:rPr>
              <a:t>)</a:t>
            </a:r>
          </a:p>
          <a:p>
            <a:pPr>
              <a:spcBef>
                <a:spcPct val="0"/>
              </a:spcBef>
              <a:buClrTx/>
              <a:buSzTx/>
              <a:buFontTx/>
              <a:buNone/>
            </a:pPr>
            <a:r>
              <a:rPr lang="en-US" altLang="sr-Latn-RS" sz="1600">
                <a:latin typeface="Arial" panose="020B0604020202020204" pitchFamily="34" charset="0"/>
              </a:rPr>
              <a:t>{</a:t>
            </a:r>
          </a:p>
          <a:p>
            <a:pPr>
              <a:spcBef>
                <a:spcPct val="0"/>
              </a:spcBef>
              <a:buClrTx/>
              <a:buSzTx/>
              <a:buFontTx/>
              <a:buNone/>
            </a:pPr>
            <a:r>
              <a:rPr lang="hr-HR" altLang="sr-Latn-RS" sz="1600">
                <a:latin typeface="Arial" panose="020B0604020202020204" pitchFamily="34" charset="0"/>
              </a:rPr>
              <a:t>WritePixel(</a:t>
            </a:r>
            <a:r>
              <a:rPr lang="hr-HR" altLang="sr-Latn-RS" sz="1600" i="1">
                <a:latin typeface="Arial" panose="020B0604020202020204" pitchFamily="34" charset="0"/>
              </a:rPr>
              <a:t>x</a:t>
            </a:r>
            <a:r>
              <a:rPr lang="hr-HR" altLang="sr-Latn-RS" sz="1600">
                <a:latin typeface="Arial" panose="020B0604020202020204" pitchFamily="34" charset="0"/>
              </a:rPr>
              <a:t>, </a:t>
            </a:r>
            <a:r>
              <a:rPr lang="hr-HR" altLang="sr-Latn-RS" sz="1600" i="1">
                <a:latin typeface="Arial" panose="020B0604020202020204" pitchFamily="34" charset="0"/>
              </a:rPr>
              <a:t>y</a:t>
            </a:r>
            <a:r>
              <a:rPr lang="hr-HR" altLang="sr-Latn-RS" sz="1600">
                <a:latin typeface="Arial" panose="020B0604020202020204" pitchFamily="34" charset="0"/>
              </a:rPr>
              <a:t>, </a:t>
            </a:r>
            <a:r>
              <a:rPr lang="hr-HR" altLang="sr-Latn-RS" sz="1600" i="1">
                <a:latin typeface="Arial" panose="020B0604020202020204" pitchFamily="34" charset="0"/>
              </a:rPr>
              <a:t>value</a:t>
            </a:r>
            <a:r>
              <a:rPr lang="hr-HR" altLang="sr-Latn-RS" sz="1600">
                <a:latin typeface="Arial" panose="020B0604020202020204" pitchFamily="34" charset="0"/>
              </a:rPr>
              <a:t>);</a:t>
            </a:r>
          </a:p>
          <a:p>
            <a:pPr>
              <a:spcBef>
                <a:spcPct val="0"/>
              </a:spcBef>
              <a:buClrTx/>
              <a:buSzTx/>
              <a:buFontTx/>
              <a:buNone/>
            </a:pPr>
            <a:r>
              <a:rPr lang="hr-HR" altLang="sr-Latn-RS" sz="1600">
                <a:latin typeface="Arial" panose="020B0604020202020204" pitchFamily="34" charset="0"/>
              </a:rPr>
              <a:t>WritePixel(</a:t>
            </a:r>
            <a:r>
              <a:rPr lang="hr-HR" altLang="sr-Latn-RS" sz="1600" i="1">
                <a:latin typeface="Arial" panose="020B0604020202020204" pitchFamily="34" charset="0"/>
              </a:rPr>
              <a:t>y, x, value</a:t>
            </a:r>
            <a:r>
              <a:rPr lang="hr-HR" altLang="sr-Latn-RS" sz="1600">
                <a:latin typeface="Arial" panose="020B0604020202020204" pitchFamily="34" charset="0"/>
              </a:rPr>
              <a:t>);</a:t>
            </a:r>
          </a:p>
          <a:p>
            <a:pPr>
              <a:spcBef>
                <a:spcPct val="0"/>
              </a:spcBef>
              <a:buClrTx/>
              <a:buSzTx/>
              <a:buFontTx/>
              <a:buNone/>
            </a:pPr>
            <a:r>
              <a:rPr lang="hr-HR" altLang="sr-Latn-RS" sz="1600">
                <a:latin typeface="Arial" panose="020B0604020202020204" pitchFamily="34" charset="0"/>
              </a:rPr>
              <a:t>WritePixel(</a:t>
            </a:r>
            <a:r>
              <a:rPr lang="hr-HR" altLang="sr-Latn-RS" sz="1600" i="1">
                <a:latin typeface="Arial" panose="020B0604020202020204" pitchFamily="34" charset="0"/>
              </a:rPr>
              <a:t>y, -x, value</a:t>
            </a:r>
            <a:r>
              <a:rPr lang="hr-HR" altLang="sr-Latn-RS" sz="1600">
                <a:latin typeface="Arial" panose="020B0604020202020204" pitchFamily="34" charset="0"/>
              </a:rPr>
              <a:t>);</a:t>
            </a:r>
          </a:p>
          <a:p>
            <a:pPr>
              <a:spcBef>
                <a:spcPct val="0"/>
              </a:spcBef>
              <a:buClrTx/>
              <a:buSzTx/>
              <a:buFontTx/>
              <a:buNone/>
            </a:pPr>
            <a:r>
              <a:rPr lang="hr-HR" altLang="sr-Latn-RS" sz="1600">
                <a:latin typeface="Arial" panose="020B0604020202020204" pitchFamily="34" charset="0"/>
              </a:rPr>
              <a:t>WritePixel(</a:t>
            </a:r>
            <a:r>
              <a:rPr lang="hr-HR" altLang="sr-Latn-RS" sz="1600" i="1">
                <a:latin typeface="Arial" panose="020B0604020202020204" pitchFamily="34" charset="0"/>
              </a:rPr>
              <a:t>x, -y, value</a:t>
            </a:r>
            <a:r>
              <a:rPr lang="hr-HR" altLang="sr-Latn-RS" sz="1600">
                <a:latin typeface="Arial" panose="020B0604020202020204" pitchFamily="34" charset="0"/>
              </a:rPr>
              <a:t>);</a:t>
            </a:r>
          </a:p>
          <a:p>
            <a:pPr>
              <a:spcBef>
                <a:spcPct val="0"/>
              </a:spcBef>
              <a:buClrTx/>
              <a:buSzTx/>
              <a:buFontTx/>
              <a:buNone/>
            </a:pPr>
            <a:r>
              <a:rPr lang="hr-HR" altLang="sr-Latn-RS" sz="1600">
                <a:latin typeface="Arial" panose="020B0604020202020204" pitchFamily="34" charset="0"/>
              </a:rPr>
              <a:t>WritePixel(</a:t>
            </a:r>
            <a:r>
              <a:rPr lang="hr-HR" altLang="sr-Latn-RS" sz="1600" i="1">
                <a:latin typeface="Arial" panose="020B0604020202020204" pitchFamily="34" charset="0"/>
              </a:rPr>
              <a:t>-x, -y, value</a:t>
            </a:r>
            <a:r>
              <a:rPr lang="hr-HR" altLang="sr-Latn-RS" sz="1600">
                <a:latin typeface="Arial" panose="020B0604020202020204" pitchFamily="34" charset="0"/>
              </a:rPr>
              <a:t>);</a:t>
            </a:r>
          </a:p>
          <a:p>
            <a:pPr>
              <a:spcBef>
                <a:spcPct val="0"/>
              </a:spcBef>
              <a:buClrTx/>
              <a:buSzTx/>
              <a:buFontTx/>
              <a:buNone/>
            </a:pPr>
            <a:r>
              <a:rPr lang="hr-HR" altLang="sr-Latn-RS" sz="1600">
                <a:latin typeface="Arial" panose="020B0604020202020204" pitchFamily="34" charset="0"/>
              </a:rPr>
              <a:t>WritePixel(</a:t>
            </a:r>
            <a:r>
              <a:rPr lang="hr-HR" altLang="sr-Latn-RS" sz="1600" i="1">
                <a:latin typeface="Arial" panose="020B0604020202020204" pitchFamily="34" charset="0"/>
              </a:rPr>
              <a:t>-y, -x, value</a:t>
            </a:r>
            <a:r>
              <a:rPr lang="hr-HR" altLang="sr-Latn-RS" sz="1600">
                <a:latin typeface="Arial" panose="020B0604020202020204" pitchFamily="34" charset="0"/>
              </a:rPr>
              <a:t>);</a:t>
            </a:r>
          </a:p>
          <a:p>
            <a:pPr>
              <a:spcBef>
                <a:spcPct val="0"/>
              </a:spcBef>
              <a:buClrTx/>
              <a:buSzTx/>
              <a:buFontTx/>
              <a:buNone/>
            </a:pPr>
            <a:r>
              <a:rPr lang="hr-HR" altLang="sr-Latn-RS" sz="1600">
                <a:latin typeface="Arial" panose="020B0604020202020204" pitchFamily="34" charset="0"/>
              </a:rPr>
              <a:t>WritePixel(</a:t>
            </a:r>
            <a:r>
              <a:rPr lang="hr-HR" altLang="sr-Latn-RS" sz="1600" i="1">
                <a:latin typeface="Arial" panose="020B0604020202020204" pitchFamily="34" charset="0"/>
              </a:rPr>
              <a:t>-y, x, value</a:t>
            </a:r>
            <a:r>
              <a:rPr lang="hr-HR" altLang="sr-Latn-RS" sz="1600">
                <a:latin typeface="Arial" panose="020B0604020202020204" pitchFamily="34" charset="0"/>
              </a:rPr>
              <a:t>);</a:t>
            </a:r>
          </a:p>
          <a:p>
            <a:pPr>
              <a:spcBef>
                <a:spcPct val="0"/>
              </a:spcBef>
              <a:buClrTx/>
              <a:buSzTx/>
              <a:buFontTx/>
              <a:buNone/>
            </a:pPr>
            <a:r>
              <a:rPr lang="hr-HR" altLang="sr-Latn-RS" sz="1600">
                <a:latin typeface="Arial" panose="020B0604020202020204" pitchFamily="34" charset="0"/>
              </a:rPr>
              <a:t>WritePixel(</a:t>
            </a:r>
            <a:r>
              <a:rPr lang="hr-HR" altLang="sr-Latn-RS" sz="1600" i="1">
                <a:latin typeface="Arial" panose="020B0604020202020204" pitchFamily="34" charset="0"/>
              </a:rPr>
              <a:t>-x, y, value</a:t>
            </a:r>
            <a:r>
              <a:rPr lang="hr-HR" altLang="sr-Latn-RS" sz="1600">
                <a:latin typeface="Arial" panose="020B0604020202020204" pitchFamily="34" charset="0"/>
              </a:rPr>
              <a:t>);</a:t>
            </a:r>
          </a:p>
          <a:p>
            <a:pPr>
              <a:spcBef>
                <a:spcPct val="0"/>
              </a:spcBef>
              <a:buClrTx/>
              <a:buSzTx/>
              <a:buFontTx/>
              <a:buNone/>
            </a:pPr>
            <a:r>
              <a:rPr lang="hr-HR" altLang="sr-Latn-RS" sz="1600">
                <a:latin typeface="Arial" panose="020B0604020202020204" pitchFamily="34" charset="0"/>
              </a:rPr>
              <a:t>}  /* TockeKruznice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Date Placeholder 2">
            <a:extLst>
              <a:ext uri="{FF2B5EF4-FFF2-40B4-BE49-F238E27FC236}">
                <a16:creationId xmlns:a16="http://schemas.microsoft.com/office/drawing/2014/main" id="{7264A96C-CF99-6240-98AC-3337B2FD113F}"/>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801ED438-9592-4AA0-B35D-A207BD7202CB}"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31076" name="Slide Number Placeholder 4">
            <a:extLst>
              <a:ext uri="{FF2B5EF4-FFF2-40B4-BE49-F238E27FC236}">
                <a16:creationId xmlns:a16="http://schemas.microsoft.com/office/drawing/2014/main" id="{A7299E7C-9458-EE4F-C4FC-A209CBF7455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15F2F8D2-5032-4B0C-9D10-D33BD57DB6DA}" type="slidenum">
              <a:rPr lang="en-GB" altLang="sr-Latn-RS" sz="1400" smtClean="0">
                <a:latin typeface="Times New Roman" panose="02020603050405020304" pitchFamily="18" charset="0"/>
              </a:rPr>
              <a:pPr>
                <a:spcBef>
                  <a:spcPct val="50000"/>
                </a:spcBef>
                <a:buClrTx/>
                <a:buSzTx/>
                <a:buFontTx/>
                <a:buNone/>
              </a:pPr>
              <a:t>29</a:t>
            </a:fld>
            <a:endParaRPr lang="en-GB" altLang="sr-Latn-RS" sz="1400">
              <a:latin typeface="Times New Roman" panose="02020603050405020304" pitchFamily="18" charset="0"/>
            </a:endParaRPr>
          </a:p>
        </p:txBody>
      </p:sp>
      <p:sp>
        <p:nvSpPr>
          <p:cNvPr id="131077" name="Text Box 2">
            <a:extLst>
              <a:ext uri="{FF2B5EF4-FFF2-40B4-BE49-F238E27FC236}">
                <a16:creationId xmlns:a16="http://schemas.microsoft.com/office/drawing/2014/main" id="{7581CC6C-422F-BB2F-23A8-DF4C44988068}"/>
              </a:ext>
            </a:extLst>
          </p:cNvPr>
          <p:cNvSpPr txBox="1">
            <a:spLocks noChangeArrowheads="1"/>
          </p:cNvSpPr>
          <p:nvPr/>
        </p:nvSpPr>
        <p:spPr bwMode="auto">
          <a:xfrm>
            <a:off x="762000" y="83820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kružnice</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p:txBody>
      </p:sp>
      <p:sp>
        <p:nvSpPr>
          <p:cNvPr id="131078" name="Rectangle 3">
            <a:extLst>
              <a:ext uri="{FF2B5EF4-FFF2-40B4-BE49-F238E27FC236}">
                <a16:creationId xmlns:a16="http://schemas.microsoft.com/office/drawing/2014/main" id="{17603C66-B734-B1E4-430F-9909E45DAF38}"/>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31079" name="Rectangle 4">
            <a:extLst>
              <a:ext uri="{FF2B5EF4-FFF2-40B4-BE49-F238E27FC236}">
                <a16:creationId xmlns:a16="http://schemas.microsoft.com/office/drawing/2014/main" id="{2D36251E-A247-5FAA-C7AE-4FAE1E9D548F}"/>
              </a:ext>
            </a:extLst>
          </p:cNvPr>
          <p:cNvSpPr>
            <a:spLocks noChangeArrowheads="1"/>
          </p:cNvSpPr>
          <p:nvPr/>
        </p:nvSpPr>
        <p:spPr bwMode="auto">
          <a:xfrm>
            <a:off x="1357313" y="1447800"/>
            <a:ext cx="67341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hr-HR" altLang="sr-Latn-RS" sz="2400" dirty="0">
                <a:latin typeface="Times New Roman" panose="02020603050405020304" pitchFamily="18" charset="0"/>
              </a:rPr>
              <a:t>	</a:t>
            </a:r>
            <a:r>
              <a:rPr lang="en-GB" altLang="sr-Latn-RS" sz="2400" b="1" dirty="0" err="1">
                <a:latin typeface="Arial" panose="020B0604020202020204" pitchFamily="34" charset="0"/>
                <a:cs typeface="Arial" panose="020B0604020202020204" pitchFamily="34" charset="0"/>
              </a:rPr>
              <a:t>Algoritam</a:t>
            </a:r>
            <a:r>
              <a:rPr lang="en-GB" altLang="sr-Latn-RS" sz="2400" b="1" dirty="0">
                <a:latin typeface="Arial" panose="020B0604020202020204" pitchFamily="34" charset="0"/>
                <a:cs typeface="Arial" panose="020B0604020202020204" pitchFamily="34" charset="0"/>
              </a:rPr>
              <a:t> </a:t>
            </a:r>
            <a:r>
              <a:rPr lang="en-GB" altLang="sr-Latn-RS" sz="2400" b="1" dirty="0" err="1">
                <a:latin typeface="Arial" panose="020B0604020202020204" pitchFamily="34" charset="0"/>
                <a:cs typeface="Arial" panose="020B0604020202020204" pitchFamily="34" charset="0"/>
              </a:rPr>
              <a:t>središnje</a:t>
            </a:r>
            <a:r>
              <a:rPr lang="en-GB" altLang="sr-Latn-RS" sz="2400" b="1" dirty="0">
                <a:latin typeface="Arial" panose="020B0604020202020204" pitchFamily="34" charset="0"/>
                <a:cs typeface="Arial" panose="020B0604020202020204" pitchFamily="34" charset="0"/>
              </a:rPr>
              <a:t> </a:t>
            </a:r>
            <a:r>
              <a:rPr lang="en-GB" altLang="sr-Latn-RS" sz="2400" b="1" dirty="0" err="1">
                <a:latin typeface="Arial" panose="020B0604020202020204" pitchFamily="34" charset="0"/>
                <a:cs typeface="Arial" panose="020B0604020202020204" pitchFamily="34" charset="0"/>
              </a:rPr>
              <a:t>točke</a:t>
            </a:r>
            <a:r>
              <a:rPr lang="en-GB" altLang="sr-Latn-RS" sz="2400" b="1" dirty="0">
                <a:latin typeface="Arial" panose="020B0604020202020204" pitchFamily="34" charset="0"/>
                <a:cs typeface="Arial" panose="020B0604020202020204" pitchFamily="34" charset="0"/>
              </a:rPr>
              <a:t> za </a:t>
            </a:r>
            <a:r>
              <a:rPr lang="en-GB" altLang="sr-Latn-RS" sz="2400" b="1" dirty="0" err="1">
                <a:latin typeface="Arial" panose="020B0604020202020204" pitchFamily="34" charset="0"/>
                <a:cs typeface="Arial" panose="020B0604020202020204" pitchFamily="34" charset="0"/>
              </a:rPr>
              <a:t>kružnice</a:t>
            </a:r>
            <a:endParaRPr lang="hr-HR" altLang="sr-Latn-RS" sz="2400" dirty="0">
              <a:latin typeface="+mj-lt"/>
              <a:cs typeface="Arial" panose="020B0604020202020204" pitchFamily="34" charset="0"/>
            </a:endParaRPr>
          </a:p>
        </p:txBody>
      </p:sp>
      <p:sp>
        <p:nvSpPr>
          <p:cNvPr id="131080" name="Rectangle 7">
            <a:extLst>
              <a:ext uri="{FF2B5EF4-FFF2-40B4-BE49-F238E27FC236}">
                <a16:creationId xmlns:a16="http://schemas.microsoft.com/office/drawing/2014/main" id="{6DF8C790-D355-8A02-0D0C-84DDE5902F9C}"/>
              </a:ext>
            </a:extLst>
          </p:cNvPr>
          <p:cNvSpPr>
            <a:spLocks noChangeArrowheads="1"/>
          </p:cNvSpPr>
          <p:nvPr/>
        </p:nvSpPr>
        <p:spPr bwMode="auto">
          <a:xfrm>
            <a:off x="762000" y="2438400"/>
            <a:ext cx="77724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hr-HR" altLang="sr-Latn-RS" sz="2000">
                <a:latin typeface="Arial" panose="020B0604020202020204" pitchFamily="34" charset="0"/>
                <a:cs typeface="Arial" panose="020B0604020202020204" pitchFamily="34" charset="0"/>
              </a:rPr>
              <a:t>Koristimo simetriju pa razmatramo samo segment od 45°, npr. drugi oktant</a:t>
            </a:r>
          </a:p>
          <a:p>
            <a:pPr eaLnBrk="1" hangingPunct="1">
              <a:spcBef>
                <a:spcPct val="0"/>
              </a:spcBef>
              <a:buClrTx/>
              <a:buSzTx/>
              <a:buFontTx/>
              <a:buNone/>
            </a:pPr>
            <a:endParaRPr lang="hr-HR" altLang="sr-Latn-RS" sz="2000">
              <a:latin typeface="Arial" panose="020B0604020202020204" pitchFamily="34" charset="0"/>
              <a:cs typeface="Arial" panose="020B0604020202020204" pitchFamily="34" charset="0"/>
            </a:endParaRPr>
          </a:p>
          <a:p>
            <a:pPr eaLnBrk="1" hangingPunct="1">
              <a:spcBef>
                <a:spcPct val="0"/>
              </a:spcBef>
              <a:buClrTx/>
              <a:buSzTx/>
              <a:buFontTx/>
              <a:buNone/>
            </a:pPr>
            <a:r>
              <a:rPr lang="hr-HR" altLang="sr-Latn-RS" sz="2000">
                <a:latin typeface="Arial" panose="020B0604020202020204" pitchFamily="34" charset="0"/>
                <a:cs typeface="Arial" panose="020B0604020202020204" pitchFamily="34" charset="0"/>
              </a:rPr>
              <a:t>Kao i kod tehnike središnje točke za rasterski prikaz ravne crte, strategija se zasniva na odabiru koji je od dva piksela bliži kružnici tako što se procijeni funkcija na sredini između ta dva piksela.</a:t>
            </a:r>
          </a:p>
          <a:p>
            <a:pPr>
              <a:spcBef>
                <a:spcPct val="0"/>
              </a:spcBef>
              <a:buClrTx/>
              <a:buSzTx/>
              <a:buFontTx/>
              <a:buNone/>
            </a:pPr>
            <a:endParaRPr lang="hr-HR" altLang="sr-Latn-RS" sz="2000">
              <a:latin typeface="Arial" panose="020B0604020202020204" pitchFamily="34"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Date Placeholder 2">
            <a:extLst>
              <a:ext uri="{FF2B5EF4-FFF2-40B4-BE49-F238E27FC236}">
                <a16:creationId xmlns:a16="http://schemas.microsoft.com/office/drawing/2014/main" id="{DE45B83B-8532-84F0-B7DF-6617C7C91BA8}"/>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6005FC0A-E5F8-45C6-963C-B7603DD6B327}"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33124" name="Slide Number Placeholder 4">
            <a:extLst>
              <a:ext uri="{FF2B5EF4-FFF2-40B4-BE49-F238E27FC236}">
                <a16:creationId xmlns:a16="http://schemas.microsoft.com/office/drawing/2014/main" id="{58821916-D931-DAC3-69FA-041BB73338C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27E5B019-4E31-4B76-BF67-D842247B7C21}" type="slidenum">
              <a:rPr lang="en-GB" altLang="sr-Latn-RS" sz="1400" smtClean="0">
                <a:latin typeface="Times New Roman" panose="02020603050405020304" pitchFamily="18" charset="0"/>
              </a:rPr>
              <a:pPr>
                <a:spcBef>
                  <a:spcPct val="50000"/>
                </a:spcBef>
                <a:buClrTx/>
                <a:buSzTx/>
                <a:buFontTx/>
                <a:buNone/>
              </a:pPr>
              <a:t>30</a:t>
            </a:fld>
            <a:endParaRPr lang="en-GB" altLang="sr-Latn-RS" sz="1400">
              <a:latin typeface="Times New Roman" panose="02020603050405020304" pitchFamily="18" charset="0"/>
            </a:endParaRPr>
          </a:p>
        </p:txBody>
      </p:sp>
      <p:sp>
        <p:nvSpPr>
          <p:cNvPr id="133125" name="Text Box 2">
            <a:extLst>
              <a:ext uri="{FF2B5EF4-FFF2-40B4-BE49-F238E27FC236}">
                <a16:creationId xmlns:a16="http://schemas.microsoft.com/office/drawing/2014/main" id="{FC06BB12-8E57-2264-DB0E-C88C8EA20250}"/>
              </a:ext>
            </a:extLst>
          </p:cNvPr>
          <p:cNvSpPr txBox="1">
            <a:spLocks noChangeArrowheads="1"/>
          </p:cNvSpPr>
          <p:nvPr/>
        </p:nvSpPr>
        <p:spPr bwMode="auto">
          <a:xfrm>
            <a:off x="762000" y="83820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kružnice</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p:txBody>
      </p:sp>
      <p:sp>
        <p:nvSpPr>
          <p:cNvPr id="133126" name="Rectangle 3">
            <a:extLst>
              <a:ext uri="{FF2B5EF4-FFF2-40B4-BE49-F238E27FC236}">
                <a16:creationId xmlns:a16="http://schemas.microsoft.com/office/drawing/2014/main" id="{26DCF051-6FD1-B13A-7FD6-44A69EE40916}"/>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33127" name="Rectangle 4">
            <a:extLst>
              <a:ext uri="{FF2B5EF4-FFF2-40B4-BE49-F238E27FC236}">
                <a16:creationId xmlns:a16="http://schemas.microsoft.com/office/drawing/2014/main" id="{AAE82424-9FCF-0B92-5731-288F93F05DB3}"/>
              </a:ext>
            </a:extLst>
          </p:cNvPr>
          <p:cNvSpPr>
            <a:spLocks noChangeArrowheads="1"/>
          </p:cNvSpPr>
          <p:nvPr/>
        </p:nvSpPr>
        <p:spPr bwMode="auto">
          <a:xfrm>
            <a:off x="1322388" y="1431925"/>
            <a:ext cx="680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hr-HR" altLang="sr-Latn-RS" sz="2400">
                <a:latin typeface="Times New Roman" panose="02020603050405020304" pitchFamily="18" charset="0"/>
              </a:rPr>
              <a:t>	</a:t>
            </a:r>
            <a:r>
              <a:rPr lang="en-GB" altLang="sr-Latn-RS" sz="2400" b="1">
                <a:latin typeface="Arial" panose="020B0604020202020204" pitchFamily="34" charset="0"/>
                <a:cs typeface="Arial" panose="020B0604020202020204" pitchFamily="34" charset="0"/>
              </a:rPr>
              <a:t>Algoritam središnje točke za kružnice </a:t>
            </a:r>
            <a:endParaRPr lang="hr-HR" altLang="sr-Latn-RS" sz="2400" b="1">
              <a:latin typeface="Arial" panose="020B0604020202020204" pitchFamily="34" charset="0"/>
              <a:cs typeface="Arial" panose="020B0604020202020204" pitchFamily="34" charset="0"/>
            </a:endParaRPr>
          </a:p>
        </p:txBody>
      </p:sp>
      <p:sp>
        <p:nvSpPr>
          <p:cNvPr id="133128" name="Rectangle 6">
            <a:extLst>
              <a:ext uri="{FF2B5EF4-FFF2-40B4-BE49-F238E27FC236}">
                <a16:creationId xmlns:a16="http://schemas.microsoft.com/office/drawing/2014/main" id="{69488F33-5C60-91C0-121D-A85B658B602D}"/>
              </a:ext>
            </a:extLst>
          </p:cNvPr>
          <p:cNvSpPr>
            <a:spLocks noChangeArrowheads="1"/>
          </p:cNvSpPr>
          <p:nvPr/>
        </p:nvSpPr>
        <p:spPr bwMode="auto">
          <a:xfrm>
            <a:off x="2933700" y="2085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aphicFrame>
        <p:nvGraphicFramePr>
          <p:cNvPr id="133129" name="Object 9">
            <a:extLst>
              <a:ext uri="{FF2B5EF4-FFF2-40B4-BE49-F238E27FC236}">
                <a16:creationId xmlns:a16="http://schemas.microsoft.com/office/drawing/2014/main" id="{ED65E5C5-7438-83D0-6D26-7F94287339BC}"/>
              </a:ext>
            </a:extLst>
          </p:cNvPr>
          <p:cNvGraphicFramePr>
            <a:graphicFrameLocks noChangeAspect="1"/>
          </p:cNvGraphicFramePr>
          <p:nvPr/>
        </p:nvGraphicFramePr>
        <p:xfrm>
          <a:off x="3200400" y="1905000"/>
          <a:ext cx="3276600" cy="881063"/>
        </p:xfrm>
        <a:graphic>
          <a:graphicData uri="http://schemas.openxmlformats.org/presentationml/2006/ole">
            <mc:AlternateContent xmlns:mc="http://schemas.openxmlformats.org/markup-compatibility/2006">
              <mc:Choice xmlns:v="urn:schemas-microsoft-com:vml" Requires="v">
                <p:oleObj name="Equation" r:id="rId3" imgW="1752600" imgH="469900" progId="Equation.3">
                  <p:embed/>
                </p:oleObj>
              </mc:Choice>
              <mc:Fallback>
                <p:oleObj name="Equation" r:id="rId3" imgW="1752600" imgH="469900" progId="Equation.3">
                  <p:embed/>
                  <p:pic>
                    <p:nvPicPr>
                      <p:cNvPr id="133129" name="Object 9">
                        <a:extLst>
                          <a:ext uri="{FF2B5EF4-FFF2-40B4-BE49-F238E27FC236}">
                            <a16:creationId xmlns:a16="http://schemas.microsoft.com/office/drawing/2014/main" id="{ED65E5C5-7438-83D0-6D26-7F94287339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1905000"/>
                        <a:ext cx="3276600" cy="88106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33130" name="Picture 10" descr="midpoint-circle-decision">
            <a:extLst>
              <a:ext uri="{FF2B5EF4-FFF2-40B4-BE49-F238E27FC236}">
                <a16:creationId xmlns:a16="http://schemas.microsoft.com/office/drawing/2014/main" id="{F9DFF5A5-9577-0917-0DC4-2E729C0989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2819400"/>
            <a:ext cx="6096000" cy="257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31" name="Rectangle 11">
            <a:extLst>
              <a:ext uri="{FF2B5EF4-FFF2-40B4-BE49-F238E27FC236}">
                <a16:creationId xmlns:a16="http://schemas.microsoft.com/office/drawing/2014/main" id="{88A667AA-FF0E-9808-CB80-370A2438FA10}"/>
              </a:ext>
            </a:extLst>
          </p:cNvPr>
          <p:cNvSpPr>
            <a:spLocks noChangeArrowheads="1"/>
          </p:cNvSpPr>
          <p:nvPr/>
        </p:nvSpPr>
        <p:spPr bwMode="auto">
          <a:xfrm>
            <a:off x="2030413" y="5638800"/>
            <a:ext cx="5472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lvl="1" algn="just">
              <a:spcBef>
                <a:spcPct val="20000"/>
              </a:spcBef>
              <a:buClrTx/>
              <a:buSzTx/>
              <a:buFontTx/>
              <a:buChar char="–"/>
            </a:pPr>
            <a:r>
              <a:rPr lang="hr-HR" altLang="sr-Latn-RS" sz="2000">
                <a:latin typeface="Times New Roman" panose="02020603050405020304" pitchFamily="18" charset="0"/>
              </a:rPr>
              <a:t>Ako je</a:t>
            </a:r>
            <a:r>
              <a:rPr lang="en-US" altLang="sr-Latn-RS" sz="2000">
                <a:latin typeface="Times New Roman" panose="02020603050405020304" pitchFamily="18" charset="0"/>
              </a:rPr>
              <a:t> </a:t>
            </a:r>
            <a:r>
              <a:rPr lang="en-US" altLang="sr-Latn-RS" sz="2000" i="1">
                <a:latin typeface="Times New Roman" panose="02020603050405020304" pitchFamily="18" charset="0"/>
              </a:rPr>
              <a:t>d</a:t>
            </a:r>
            <a:r>
              <a:rPr lang="en-US" altLang="sr-Latn-RS" sz="2000" i="1" baseline="-25000">
                <a:latin typeface="Times New Roman" panose="02020603050405020304" pitchFamily="18" charset="0"/>
              </a:rPr>
              <a:t>i</a:t>
            </a:r>
            <a:r>
              <a:rPr lang="en-US" altLang="sr-Latn-RS" sz="2000" i="1">
                <a:latin typeface="Times New Roman" panose="02020603050405020304" pitchFamily="18" charset="0"/>
              </a:rPr>
              <a:t> </a:t>
            </a:r>
            <a:r>
              <a:rPr lang="en-US" altLang="sr-Latn-RS" sz="2000">
                <a:latin typeface="Times New Roman" panose="02020603050405020304" pitchFamily="18" charset="0"/>
              </a:rPr>
              <a:t>&lt; 0 </a:t>
            </a:r>
            <a:r>
              <a:rPr lang="hr-HR" altLang="sr-Latn-RS" sz="2000">
                <a:latin typeface="Times New Roman" panose="02020603050405020304" pitchFamily="18" charset="0"/>
              </a:rPr>
              <a:t>izabiremo</a:t>
            </a:r>
            <a:r>
              <a:rPr lang="en-US" altLang="sr-Latn-RS" sz="2000">
                <a:latin typeface="Times New Roman" panose="02020603050405020304" pitchFamily="18" charset="0"/>
              </a:rPr>
              <a:t> pi</a:t>
            </a:r>
            <a:r>
              <a:rPr lang="hr-HR" altLang="sr-Latn-RS" sz="2000">
                <a:latin typeface="Times New Roman" panose="02020603050405020304" pitchFamily="18" charset="0"/>
              </a:rPr>
              <a:t>kse</a:t>
            </a:r>
            <a:r>
              <a:rPr lang="en-US" altLang="sr-Latn-RS" sz="2000">
                <a:latin typeface="Times New Roman" panose="02020603050405020304" pitchFamily="18" charset="0"/>
              </a:rPr>
              <a:t>l </a:t>
            </a:r>
            <a:r>
              <a:rPr lang="en-US" altLang="sr-Latn-RS" sz="2000" b="1">
                <a:latin typeface="Courier New" panose="02070309020205020404" pitchFamily="49" charset="0"/>
              </a:rPr>
              <a:t>A</a:t>
            </a:r>
            <a:r>
              <a:rPr lang="hr-HR" altLang="sr-Latn-RS" sz="2000" b="1">
                <a:latin typeface="Courier New" panose="02070309020205020404" pitchFamily="49" charset="0"/>
              </a:rPr>
              <a:t>, inače B</a:t>
            </a:r>
            <a:endParaRPr lang="en-US" altLang="sr-Latn-RS" sz="2000" b="1">
              <a:latin typeface="Courier New" panose="02070309020205020404" pitchFamily="49"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Date Placeholder 2">
            <a:extLst>
              <a:ext uri="{FF2B5EF4-FFF2-40B4-BE49-F238E27FC236}">
                <a16:creationId xmlns:a16="http://schemas.microsoft.com/office/drawing/2014/main" id="{5471FF8D-4C36-7690-AD5F-8F45EF408628}"/>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91FC04CB-9215-4FEA-BC32-4F9C5550871C}"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35172" name="Slide Number Placeholder 4">
            <a:extLst>
              <a:ext uri="{FF2B5EF4-FFF2-40B4-BE49-F238E27FC236}">
                <a16:creationId xmlns:a16="http://schemas.microsoft.com/office/drawing/2014/main" id="{5212AFB8-5FF1-F584-7921-AC0334188FF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55543D40-13C3-4AC9-A8A8-88F9FECB719A}" type="slidenum">
              <a:rPr lang="en-GB" altLang="sr-Latn-RS" sz="1400" smtClean="0">
                <a:latin typeface="Times New Roman" panose="02020603050405020304" pitchFamily="18" charset="0"/>
              </a:rPr>
              <a:pPr>
                <a:spcBef>
                  <a:spcPct val="50000"/>
                </a:spcBef>
                <a:buClrTx/>
                <a:buSzTx/>
                <a:buFontTx/>
                <a:buNone/>
              </a:pPr>
              <a:t>31</a:t>
            </a:fld>
            <a:endParaRPr lang="en-GB" altLang="sr-Latn-RS" sz="1400">
              <a:latin typeface="Times New Roman" panose="02020603050405020304" pitchFamily="18" charset="0"/>
            </a:endParaRPr>
          </a:p>
        </p:txBody>
      </p:sp>
      <p:sp>
        <p:nvSpPr>
          <p:cNvPr id="135173" name="Text Box 2">
            <a:extLst>
              <a:ext uri="{FF2B5EF4-FFF2-40B4-BE49-F238E27FC236}">
                <a16:creationId xmlns:a16="http://schemas.microsoft.com/office/drawing/2014/main" id="{CA90EF23-B80C-0E43-A551-429A6C0AD6E8}"/>
              </a:ext>
            </a:extLst>
          </p:cNvPr>
          <p:cNvSpPr txBox="1">
            <a:spLocks noChangeArrowheads="1"/>
          </p:cNvSpPr>
          <p:nvPr/>
        </p:nvSpPr>
        <p:spPr bwMode="auto">
          <a:xfrm>
            <a:off x="762000" y="83820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kružnice</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p:txBody>
      </p:sp>
      <p:sp>
        <p:nvSpPr>
          <p:cNvPr id="135174" name="Rectangle 3">
            <a:extLst>
              <a:ext uri="{FF2B5EF4-FFF2-40B4-BE49-F238E27FC236}">
                <a16:creationId xmlns:a16="http://schemas.microsoft.com/office/drawing/2014/main" id="{7FB0ACE3-1120-A059-6CE7-EBE1975917F4}"/>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35175" name="Rectangle 4">
            <a:extLst>
              <a:ext uri="{FF2B5EF4-FFF2-40B4-BE49-F238E27FC236}">
                <a16:creationId xmlns:a16="http://schemas.microsoft.com/office/drawing/2014/main" id="{CF12835B-EBC7-128C-D581-456A241D1AEA}"/>
              </a:ext>
            </a:extLst>
          </p:cNvPr>
          <p:cNvSpPr>
            <a:spLocks noChangeArrowheads="1"/>
          </p:cNvSpPr>
          <p:nvPr/>
        </p:nvSpPr>
        <p:spPr bwMode="auto">
          <a:xfrm>
            <a:off x="1577975" y="1447800"/>
            <a:ext cx="62166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hr-HR" altLang="sr-Latn-RS" sz="2400">
                <a:latin typeface="Times New Roman" panose="02020603050405020304" pitchFamily="18" charset="0"/>
              </a:rPr>
              <a:t>	</a:t>
            </a:r>
            <a:r>
              <a:rPr lang="en-GB" altLang="sr-Latn-RS" sz="2400" b="1">
                <a:latin typeface="Arial" panose="020B0604020202020204" pitchFamily="34" charset="0"/>
                <a:cs typeface="Arial" panose="020B0604020202020204" pitchFamily="34" charset="0"/>
              </a:rPr>
              <a:t>Algoritam središnje točke za kružnice </a:t>
            </a:r>
            <a:endParaRPr lang="hr-HR" altLang="sr-Latn-RS" sz="2400" b="1">
              <a:latin typeface="Arial" panose="020B0604020202020204" pitchFamily="34" charset="0"/>
              <a:cs typeface="Arial" panose="020B0604020202020204" pitchFamily="34" charset="0"/>
            </a:endParaRPr>
          </a:p>
        </p:txBody>
      </p:sp>
      <p:sp>
        <p:nvSpPr>
          <p:cNvPr id="135176" name="Rectangle 6">
            <a:extLst>
              <a:ext uri="{FF2B5EF4-FFF2-40B4-BE49-F238E27FC236}">
                <a16:creationId xmlns:a16="http://schemas.microsoft.com/office/drawing/2014/main" id="{0AE74BEF-2DFA-F14F-397C-64749CB6977F}"/>
              </a:ext>
            </a:extLst>
          </p:cNvPr>
          <p:cNvSpPr>
            <a:spLocks noChangeArrowheads="1"/>
          </p:cNvSpPr>
          <p:nvPr/>
        </p:nvSpPr>
        <p:spPr bwMode="auto">
          <a:xfrm>
            <a:off x="2933700" y="2085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35177" name="Rectangle 9">
            <a:extLst>
              <a:ext uri="{FF2B5EF4-FFF2-40B4-BE49-F238E27FC236}">
                <a16:creationId xmlns:a16="http://schemas.microsoft.com/office/drawing/2014/main" id="{EE30F096-30FC-CF92-BD9B-52ED8C402CEA}"/>
              </a:ext>
            </a:extLst>
          </p:cNvPr>
          <p:cNvSpPr>
            <a:spLocks noChangeArrowheads="1"/>
          </p:cNvSpPr>
          <p:nvPr/>
        </p:nvSpPr>
        <p:spPr bwMode="auto">
          <a:xfrm>
            <a:off x="685800" y="2286000"/>
            <a:ext cx="8001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a:spcBef>
                <a:spcPct val="20000"/>
              </a:spcBef>
              <a:buClrTx/>
              <a:buSzTx/>
              <a:buFont typeface="Arial" panose="020B0604020202020204" pitchFamily="34" charset="0"/>
              <a:buChar char="•"/>
            </a:pPr>
            <a:r>
              <a:rPr lang="hr-HR" altLang="sr-Latn-RS" sz="2000">
                <a:latin typeface="Arial" panose="020B0604020202020204" pitchFamily="34" charset="0"/>
                <a:cs typeface="Arial" panose="020B0604020202020204" pitchFamily="34" charset="0"/>
              </a:rPr>
              <a:t>Ponovo</a:t>
            </a:r>
            <a:r>
              <a:rPr lang="en-US" altLang="sr-Latn-RS" sz="2000">
                <a:latin typeface="Arial" panose="020B0604020202020204" pitchFamily="34" charset="0"/>
                <a:cs typeface="Arial" panose="020B0604020202020204" pitchFamily="34" charset="0"/>
              </a:rPr>
              <a:t>, </a:t>
            </a:r>
            <a:r>
              <a:rPr lang="hr-HR" altLang="sr-Latn-RS" sz="2000">
                <a:latin typeface="Arial" panose="020B0604020202020204" pitchFamily="34" charset="0"/>
                <a:cs typeface="Arial" panose="020B0604020202020204" pitchFamily="34" charset="0"/>
              </a:rPr>
              <a:t>na osnovu izbora točke</a:t>
            </a:r>
            <a:r>
              <a:rPr lang="en-US" altLang="sr-Latn-RS" sz="2000">
                <a:latin typeface="Arial" panose="020B0604020202020204" pitchFamily="34" charset="0"/>
                <a:cs typeface="Arial" panose="020B0604020202020204" pitchFamily="34" charset="0"/>
              </a:rPr>
              <a:t> A </a:t>
            </a:r>
            <a:r>
              <a:rPr lang="hr-HR" altLang="sr-Latn-RS" sz="2000">
                <a:latin typeface="Arial" panose="020B0604020202020204" pitchFamily="34" charset="0"/>
                <a:cs typeface="Arial" panose="020B0604020202020204" pitchFamily="34" charset="0"/>
              </a:rPr>
              <a:t>ili</a:t>
            </a:r>
            <a:r>
              <a:rPr lang="en-US" altLang="sr-Latn-RS" sz="2000">
                <a:latin typeface="Arial" panose="020B0604020202020204" pitchFamily="34" charset="0"/>
                <a:cs typeface="Arial" panose="020B0604020202020204" pitchFamily="34" charset="0"/>
              </a:rPr>
              <a:t> B </a:t>
            </a:r>
            <a:r>
              <a:rPr lang="hr-HR" altLang="sr-Latn-RS" sz="2000">
                <a:latin typeface="Arial" panose="020B0604020202020204" pitchFamily="34" charset="0"/>
                <a:cs typeface="Arial" panose="020B0604020202020204" pitchFamily="34" charset="0"/>
              </a:rPr>
              <a:t>se može koristiti za izračun nove vrijednosti</a:t>
            </a:r>
            <a:r>
              <a:rPr lang="en-US" altLang="sr-Latn-RS" sz="2000">
                <a:latin typeface="Arial" panose="020B0604020202020204" pitchFamily="34" charset="0"/>
                <a:cs typeface="Arial" panose="020B0604020202020204" pitchFamily="34" charset="0"/>
              </a:rPr>
              <a:t> </a:t>
            </a:r>
            <a:r>
              <a:rPr lang="en-US" altLang="sr-Latn-RS" sz="2000" i="1">
                <a:latin typeface="Arial" panose="020B0604020202020204" pitchFamily="34" charset="0"/>
                <a:cs typeface="Arial" panose="020B0604020202020204" pitchFamily="34" charset="0"/>
              </a:rPr>
              <a:t>d</a:t>
            </a:r>
            <a:r>
              <a:rPr lang="en-US" altLang="sr-Latn-RS" sz="2000" i="1" baseline="-25000">
                <a:latin typeface="Arial" panose="020B0604020202020204" pitchFamily="34" charset="0"/>
                <a:cs typeface="Arial" panose="020B0604020202020204" pitchFamily="34" charset="0"/>
              </a:rPr>
              <a:t>i+1</a:t>
            </a:r>
          </a:p>
          <a:p>
            <a:pPr algn="just">
              <a:spcBef>
                <a:spcPct val="20000"/>
              </a:spcBef>
              <a:buClrTx/>
              <a:buSzTx/>
              <a:buFont typeface="Arial" panose="020B0604020202020204" pitchFamily="34" charset="0"/>
              <a:buChar char="•"/>
            </a:pPr>
            <a:r>
              <a:rPr lang="hr-HR" altLang="sr-Latn-RS" sz="2000">
                <a:latin typeface="Arial" panose="020B0604020202020204" pitchFamily="34" charset="0"/>
                <a:cs typeface="Arial" panose="020B0604020202020204" pitchFamily="34" charset="0"/>
              </a:rPr>
              <a:t>Ako je izabran </a:t>
            </a:r>
            <a:r>
              <a:rPr lang="en-US" altLang="sr-Latn-RS" sz="2000" b="1">
                <a:latin typeface="Arial" panose="020B0604020202020204" pitchFamily="34" charset="0"/>
                <a:cs typeface="Arial" panose="020B0604020202020204" pitchFamily="34" charset="0"/>
              </a:rPr>
              <a:t>A</a:t>
            </a:r>
            <a:r>
              <a:rPr lang="en-US" altLang="sr-Latn-RS" sz="2000">
                <a:latin typeface="Arial" panose="020B0604020202020204" pitchFamily="34" charset="0"/>
                <a:cs typeface="Arial" panose="020B0604020202020204" pitchFamily="34" charset="0"/>
              </a:rPr>
              <a:t> </a:t>
            </a:r>
            <a:r>
              <a:rPr lang="hr-HR" altLang="sr-Latn-RS" sz="2000">
                <a:latin typeface="Arial" panose="020B0604020202020204" pitchFamily="34" charset="0"/>
                <a:cs typeface="Arial" panose="020B0604020202020204" pitchFamily="34" charset="0"/>
              </a:rPr>
              <a:t>onda slijedeća središnja točka ima vrijednost varijable odluke:</a:t>
            </a:r>
            <a:endParaRPr lang="en-US" altLang="sr-Latn-RS" sz="2000">
              <a:latin typeface="Arial" panose="020B0604020202020204" pitchFamily="34" charset="0"/>
              <a:cs typeface="Arial" panose="020B0604020202020204" pitchFamily="34" charset="0"/>
            </a:endParaRPr>
          </a:p>
        </p:txBody>
      </p:sp>
      <p:graphicFrame>
        <p:nvGraphicFramePr>
          <p:cNvPr id="135178" name="Object 10">
            <a:extLst>
              <a:ext uri="{FF2B5EF4-FFF2-40B4-BE49-F238E27FC236}">
                <a16:creationId xmlns:a16="http://schemas.microsoft.com/office/drawing/2014/main" id="{7B824C61-B2C4-F4CE-CF62-E7229D246BE6}"/>
              </a:ext>
            </a:extLst>
          </p:cNvPr>
          <p:cNvGraphicFramePr>
            <a:graphicFrameLocks noChangeAspect="1"/>
          </p:cNvGraphicFramePr>
          <p:nvPr/>
        </p:nvGraphicFramePr>
        <p:xfrm>
          <a:off x="1600200" y="4114800"/>
          <a:ext cx="6202363" cy="1443038"/>
        </p:xfrm>
        <a:graphic>
          <a:graphicData uri="http://schemas.openxmlformats.org/presentationml/2006/ole">
            <mc:AlternateContent xmlns:mc="http://schemas.openxmlformats.org/markup-compatibility/2006">
              <mc:Choice xmlns:v="urn:schemas-microsoft-com:vml" Requires="v">
                <p:oleObj name="Equation" r:id="rId3" imgW="3060700" imgH="711200" progId="Equation.3">
                  <p:embed/>
                </p:oleObj>
              </mc:Choice>
              <mc:Fallback>
                <p:oleObj name="Equation" r:id="rId3" imgW="3060700" imgH="711200" progId="Equation.3">
                  <p:embed/>
                  <p:pic>
                    <p:nvPicPr>
                      <p:cNvPr id="135178" name="Object 10">
                        <a:extLst>
                          <a:ext uri="{FF2B5EF4-FFF2-40B4-BE49-F238E27FC236}">
                            <a16:creationId xmlns:a16="http://schemas.microsoft.com/office/drawing/2014/main" id="{7B824C61-B2C4-F4CE-CF62-E7229D246B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114800"/>
                        <a:ext cx="6202363" cy="144303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Date Placeholder 2">
            <a:extLst>
              <a:ext uri="{FF2B5EF4-FFF2-40B4-BE49-F238E27FC236}">
                <a16:creationId xmlns:a16="http://schemas.microsoft.com/office/drawing/2014/main" id="{63B703A4-8029-CC73-8D9C-ED7CDDB554DC}"/>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A9EB4E8A-EE75-494F-B92F-A782890EBF18}"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37220" name="Slide Number Placeholder 4">
            <a:extLst>
              <a:ext uri="{FF2B5EF4-FFF2-40B4-BE49-F238E27FC236}">
                <a16:creationId xmlns:a16="http://schemas.microsoft.com/office/drawing/2014/main" id="{B6335781-A0F7-9225-3285-FF96E2E7780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1DE0AB03-129A-46A1-94B5-2D2EFC711A39}" type="slidenum">
              <a:rPr lang="en-GB" altLang="sr-Latn-RS" sz="1400" smtClean="0">
                <a:latin typeface="Times New Roman" panose="02020603050405020304" pitchFamily="18" charset="0"/>
              </a:rPr>
              <a:pPr>
                <a:spcBef>
                  <a:spcPct val="50000"/>
                </a:spcBef>
                <a:buClrTx/>
                <a:buSzTx/>
                <a:buFontTx/>
                <a:buNone/>
              </a:pPr>
              <a:t>32</a:t>
            </a:fld>
            <a:endParaRPr lang="en-GB" altLang="sr-Latn-RS" sz="1400">
              <a:latin typeface="Times New Roman" panose="02020603050405020304" pitchFamily="18" charset="0"/>
            </a:endParaRPr>
          </a:p>
        </p:txBody>
      </p:sp>
      <p:sp>
        <p:nvSpPr>
          <p:cNvPr id="137221" name="Text Box 2">
            <a:extLst>
              <a:ext uri="{FF2B5EF4-FFF2-40B4-BE49-F238E27FC236}">
                <a16:creationId xmlns:a16="http://schemas.microsoft.com/office/drawing/2014/main" id="{9DACCDBA-011C-7191-0D9F-B31222B8A67C}"/>
              </a:ext>
            </a:extLst>
          </p:cNvPr>
          <p:cNvSpPr txBox="1">
            <a:spLocks noChangeArrowheads="1"/>
          </p:cNvSpPr>
          <p:nvPr/>
        </p:nvSpPr>
        <p:spPr bwMode="auto">
          <a:xfrm>
            <a:off x="762000" y="83820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kružnice</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p:txBody>
      </p:sp>
      <p:sp>
        <p:nvSpPr>
          <p:cNvPr id="137222" name="Rectangle 3">
            <a:extLst>
              <a:ext uri="{FF2B5EF4-FFF2-40B4-BE49-F238E27FC236}">
                <a16:creationId xmlns:a16="http://schemas.microsoft.com/office/drawing/2014/main" id="{E4DFDFD5-E4A0-DE0C-955B-F31F1401A0C2}"/>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37223" name="Rectangle 4">
            <a:extLst>
              <a:ext uri="{FF2B5EF4-FFF2-40B4-BE49-F238E27FC236}">
                <a16:creationId xmlns:a16="http://schemas.microsoft.com/office/drawing/2014/main" id="{D4F4D717-5CC8-F0C5-6791-624A8E5856CB}"/>
              </a:ext>
            </a:extLst>
          </p:cNvPr>
          <p:cNvSpPr>
            <a:spLocks noChangeArrowheads="1"/>
          </p:cNvSpPr>
          <p:nvPr/>
        </p:nvSpPr>
        <p:spPr bwMode="auto">
          <a:xfrm>
            <a:off x="1541463" y="1447800"/>
            <a:ext cx="6289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hr-HR" altLang="sr-Latn-RS" sz="2400">
                <a:latin typeface="Times New Roman" panose="02020603050405020304" pitchFamily="18" charset="0"/>
              </a:rPr>
              <a:t>	</a:t>
            </a:r>
            <a:r>
              <a:rPr lang="en-GB" altLang="sr-Latn-RS" sz="2400" b="1">
                <a:latin typeface="Arial" panose="020B0604020202020204" pitchFamily="34" charset="0"/>
                <a:cs typeface="Arial" panose="020B0604020202020204" pitchFamily="34" charset="0"/>
              </a:rPr>
              <a:t>Algoritam središnje točke za kružnice </a:t>
            </a:r>
            <a:endParaRPr lang="hr-HR" altLang="sr-Latn-RS" sz="2400" b="1">
              <a:latin typeface="Arial" panose="020B0604020202020204" pitchFamily="34" charset="0"/>
              <a:cs typeface="Arial" panose="020B0604020202020204" pitchFamily="34" charset="0"/>
            </a:endParaRPr>
          </a:p>
        </p:txBody>
      </p:sp>
      <p:sp>
        <p:nvSpPr>
          <p:cNvPr id="137224" name="Rectangle 6">
            <a:extLst>
              <a:ext uri="{FF2B5EF4-FFF2-40B4-BE49-F238E27FC236}">
                <a16:creationId xmlns:a16="http://schemas.microsoft.com/office/drawing/2014/main" id="{45E7E85B-913B-3A72-C207-72D90FD3A225}"/>
              </a:ext>
            </a:extLst>
          </p:cNvPr>
          <p:cNvSpPr>
            <a:spLocks noChangeArrowheads="1"/>
          </p:cNvSpPr>
          <p:nvPr/>
        </p:nvSpPr>
        <p:spPr bwMode="auto">
          <a:xfrm>
            <a:off x="2933700" y="2085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37225" name="Rectangle 7">
            <a:extLst>
              <a:ext uri="{FF2B5EF4-FFF2-40B4-BE49-F238E27FC236}">
                <a16:creationId xmlns:a16="http://schemas.microsoft.com/office/drawing/2014/main" id="{654EE9B9-E483-9BC6-AD6A-1BDCFD777362}"/>
              </a:ext>
            </a:extLst>
          </p:cNvPr>
          <p:cNvSpPr>
            <a:spLocks noChangeArrowheads="1"/>
          </p:cNvSpPr>
          <p:nvPr/>
        </p:nvSpPr>
        <p:spPr bwMode="auto">
          <a:xfrm>
            <a:off x="685800" y="2286000"/>
            <a:ext cx="800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20000"/>
              </a:spcBef>
              <a:buClrTx/>
              <a:buSzTx/>
              <a:buFontTx/>
              <a:buNone/>
            </a:pPr>
            <a:r>
              <a:rPr lang="hr-HR" altLang="sr-Latn-RS" sz="2000">
                <a:latin typeface="Arial" panose="020B0604020202020204" pitchFamily="34" charset="0"/>
                <a:cs typeface="Arial" panose="020B0604020202020204" pitchFamily="34" charset="0"/>
              </a:rPr>
              <a:t>Inače, ako je bio izabran</a:t>
            </a:r>
            <a:r>
              <a:rPr lang="en-US" altLang="sr-Latn-RS" sz="2000">
                <a:latin typeface="Arial" panose="020B0604020202020204" pitchFamily="34" charset="0"/>
                <a:cs typeface="Arial" panose="020B0604020202020204" pitchFamily="34" charset="0"/>
              </a:rPr>
              <a:t> </a:t>
            </a:r>
            <a:r>
              <a:rPr lang="en-US" altLang="sr-Latn-RS" sz="2000" b="1">
                <a:latin typeface="Arial" panose="020B0604020202020204" pitchFamily="34" charset="0"/>
                <a:cs typeface="Arial" panose="020B0604020202020204" pitchFamily="34" charset="0"/>
              </a:rPr>
              <a:t>B</a:t>
            </a:r>
            <a:r>
              <a:rPr lang="en-US" altLang="sr-Latn-RS" sz="2000">
                <a:latin typeface="Arial" panose="020B0604020202020204" pitchFamily="34" charset="0"/>
                <a:cs typeface="Arial" panose="020B0604020202020204" pitchFamily="34" charset="0"/>
              </a:rPr>
              <a:t> </a:t>
            </a:r>
            <a:r>
              <a:rPr lang="hr-HR" altLang="sr-Latn-RS" sz="2000">
                <a:latin typeface="Arial" panose="020B0604020202020204" pitchFamily="34" charset="0"/>
                <a:cs typeface="Arial" panose="020B0604020202020204" pitchFamily="34" charset="0"/>
              </a:rPr>
              <a:t>varijabla odluke se izračunava iz</a:t>
            </a:r>
            <a:r>
              <a:rPr lang="en-US" altLang="sr-Latn-RS" sz="2000">
                <a:latin typeface="Arial" panose="020B0604020202020204" pitchFamily="34" charset="0"/>
                <a:cs typeface="Arial" panose="020B0604020202020204" pitchFamily="34" charset="0"/>
              </a:rPr>
              <a:t>:</a:t>
            </a:r>
          </a:p>
        </p:txBody>
      </p:sp>
      <p:graphicFrame>
        <p:nvGraphicFramePr>
          <p:cNvPr id="137226" name="Object 9">
            <a:extLst>
              <a:ext uri="{FF2B5EF4-FFF2-40B4-BE49-F238E27FC236}">
                <a16:creationId xmlns:a16="http://schemas.microsoft.com/office/drawing/2014/main" id="{B27662F6-A5AE-724B-993A-980C52874798}"/>
              </a:ext>
            </a:extLst>
          </p:cNvPr>
          <p:cNvGraphicFramePr>
            <a:graphicFrameLocks noChangeAspect="1"/>
          </p:cNvGraphicFramePr>
          <p:nvPr/>
        </p:nvGraphicFramePr>
        <p:xfrm>
          <a:off x="1187450" y="2924175"/>
          <a:ext cx="6202363" cy="1443038"/>
        </p:xfrm>
        <a:graphic>
          <a:graphicData uri="http://schemas.openxmlformats.org/presentationml/2006/ole">
            <mc:AlternateContent xmlns:mc="http://schemas.openxmlformats.org/markup-compatibility/2006">
              <mc:Choice xmlns:v="urn:schemas-microsoft-com:vml" Requires="v">
                <p:oleObj name="Equation" r:id="rId3" imgW="3060700" imgH="711200" progId="Equation.3">
                  <p:embed/>
                </p:oleObj>
              </mc:Choice>
              <mc:Fallback>
                <p:oleObj name="Equation" r:id="rId3" imgW="3060700" imgH="711200" progId="Equation.3">
                  <p:embed/>
                  <p:pic>
                    <p:nvPicPr>
                      <p:cNvPr id="137226" name="Object 9">
                        <a:extLst>
                          <a:ext uri="{FF2B5EF4-FFF2-40B4-BE49-F238E27FC236}">
                            <a16:creationId xmlns:a16="http://schemas.microsoft.com/office/drawing/2014/main" id="{B27662F6-A5AE-724B-993A-980C528747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924175"/>
                        <a:ext cx="6202363" cy="144303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Date Placeholder 2">
            <a:extLst>
              <a:ext uri="{FF2B5EF4-FFF2-40B4-BE49-F238E27FC236}">
                <a16:creationId xmlns:a16="http://schemas.microsoft.com/office/drawing/2014/main" id="{6F44AE12-A594-6A9A-87FE-416335A7E817}"/>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71F3620A-027A-4562-AFF0-37EE4422AE33}"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39268" name="Slide Number Placeholder 4">
            <a:extLst>
              <a:ext uri="{FF2B5EF4-FFF2-40B4-BE49-F238E27FC236}">
                <a16:creationId xmlns:a16="http://schemas.microsoft.com/office/drawing/2014/main" id="{B12B670C-CC50-93BD-5E89-7D53E84C391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59F30067-2711-40D6-8AF3-109598E67F3E}" type="slidenum">
              <a:rPr lang="en-GB" altLang="sr-Latn-RS" sz="1400" smtClean="0">
                <a:latin typeface="Times New Roman" panose="02020603050405020304" pitchFamily="18" charset="0"/>
              </a:rPr>
              <a:pPr>
                <a:spcBef>
                  <a:spcPct val="50000"/>
                </a:spcBef>
                <a:buClrTx/>
                <a:buSzTx/>
                <a:buFontTx/>
                <a:buNone/>
              </a:pPr>
              <a:t>33</a:t>
            </a:fld>
            <a:endParaRPr lang="en-GB" altLang="sr-Latn-RS" sz="1400">
              <a:latin typeface="Times New Roman" panose="02020603050405020304" pitchFamily="18" charset="0"/>
            </a:endParaRPr>
          </a:p>
        </p:txBody>
      </p:sp>
      <p:sp>
        <p:nvSpPr>
          <p:cNvPr id="139269" name="Text Box 2">
            <a:extLst>
              <a:ext uri="{FF2B5EF4-FFF2-40B4-BE49-F238E27FC236}">
                <a16:creationId xmlns:a16="http://schemas.microsoft.com/office/drawing/2014/main" id="{0C6E6B8A-96BE-789D-0730-144DCF4D958B}"/>
              </a:ext>
            </a:extLst>
          </p:cNvPr>
          <p:cNvSpPr txBox="1">
            <a:spLocks noChangeArrowheads="1"/>
          </p:cNvSpPr>
          <p:nvPr/>
        </p:nvSpPr>
        <p:spPr bwMode="auto">
          <a:xfrm>
            <a:off x="762000" y="83820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kružnice</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p:txBody>
      </p:sp>
      <p:sp>
        <p:nvSpPr>
          <p:cNvPr id="139270" name="Rectangle 3">
            <a:extLst>
              <a:ext uri="{FF2B5EF4-FFF2-40B4-BE49-F238E27FC236}">
                <a16:creationId xmlns:a16="http://schemas.microsoft.com/office/drawing/2014/main" id="{5403975E-7E6D-455C-A382-E2F77E6B8CCE}"/>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39271" name="Rectangle 4">
            <a:extLst>
              <a:ext uri="{FF2B5EF4-FFF2-40B4-BE49-F238E27FC236}">
                <a16:creationId xmlns:a16="http://schemas.microsoft.com/office/drawing/2014/main" id="{54B42613-7B59-7105-FDEB-90AE60140785}"/>
              </a:ext>
            </a:extLst>
          </p:cNvPr>
          <p:cNvSpPr>
            <a:spLocks noChangeArrowheads="1"/>
          </p:cNvSpPr>
          <p:nvPr/>
        </p:nvSpPr>
        <p:spPr bwMode="auto">
          <a:xfrm>
            <a:off x="1541463" y="1447800"/>
            <a:ext cx="6289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hr-HR" altLang="sr-Latn-RS" sz="2400">
                <a:latin typeface="Times New Roman" panose="02020603050405020304" pitchFamily="18" charset="0"/>
              </a:rPr>
              <a:t>	</a:t>
            </a:r>
            <a:r>
              <a:rPr lang="en-GB" altLang="sr-Latn-RS" sz="2400" b="1">
                <a:latin typeface="Arial" panose="020B0604020202020204" pitchFamily="34" charset="0"/>
                <a:cs typeface="Arial" panose="020B0604020202020204" pitchFamily="34" charset="0"/>
              </a:rPr>
              <a:t>Algoritam središnje točke za kružnice </a:t>
            </a:r>
            <a:endParaRPr lang="hr-HR" altLang="sr-Latn-RS" sz="2400" b="1">
              <a:latin typeface="Arial" panose="020B0604020202020204" pitchFamily="34" charset="0"/>
              <a:cs typeface="Arial" panose="020B0604020202020204" pitchFamily="34" charset="0"/>
            </a:endParaRPr>
          </a:p>
        </p:txBody>
      </p:sp>
      <p:sp>
        <p:nvSpPr>
          <p:cNvPr id="139272" name="Rectangle 6">
            <a:extLst>
              <a:ext uri="{FF2B5EF4-FFF2-40B4-BE49-F238E27FC236}">
                <a16:creationId xmlns:a16="http://schemas.microsoft.com/office/drawing/2014/main" id="{20EB6394-1EF7-59E6-2336-6673E52F852D}"/>
              </a:ext>
            </a:extLst>
          </p:cNvPr>
          <p:cNvSpPr>
            <a:spLocks noChangeArrowheads="1"/>
          </p:cNvSpPr>
          <p:nvPr/>
        </p:nvSpPr>
        <p:spPr bwMode="auto">
          <a:xfrm>
            <a:off x="2933700" y="2085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39273" name="Rectangle 7">
            <a:extLst>
              <a:ext uri="{FF2B5EF4-FFF2-40B4-BE49-F238E27FC236}">
                <a16:creationId xmlns:a16="http://schemas.microsoft.com/office/drawing/2014/main" id="{F7F8CAD2-E9E4-CA51-41BB-B5F11BBB1A6F}"/>
              </a:ext>
            </a:extLst>
          </p:cNvPr>
          <p:cNvSpPr>
            <a:spLocks noChangeArrowheads="1"/>
          </p:cNvSpPr>
          <p:nvPr/>
        </p:nvSpPr>
        <p:spPr bwMode="auto">
          <a:xfrm>
            <a:off x="685800" y="2286000"/>
            <a:ext cx="8001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20000"/>
              </a:spcBef>
              <a:buClrTx/>
              <a:buSzTx/>
              <a:buFontTx/>
              <a:buNone/>
            </a:pPr>
            <a:r>
              <a:rPr lang="hr-HR" altLang="sr-Latn-RS" sz="2000">
                <a:latin typeface="Arial" panose="020B0604020202020204" pitchFamily="34" charset="0"/>
                <a:cs typeface="Arial" panose="020B0604020202020204" pitchFamily="34" charset="0"/>
              </a:rPr>
              <a:t>Ako pretpostavimo da je radijus cjelobrojna vrijednost, prvi nacrtani piksel će biti</a:t>
            </a:r>
            <a:r>
              <a:rPr lang="en-US" altLang="sr-Latn-RS" sz="2000">
                <a:latin typeface="Arial" panose="020B0604020202020204" pitchFamily="34" charset="0"/>
                <a:cs typeface="Arial" panose="020B0604020202020204" pitchFamily="34" charset="0"/>
              </a:rPr>
              <a:t> </a:t>
            </a:r>
            <a:r>
              <a:rPr lang="en-US" altLang="sr-Latn-RS" sz="2000" i="1">
                <a:latin typeface="Arial" panose="020B0604020202020204" pitchFamily="34" charset="0"/>
                <a:cs typeface="Arial" panose="020B0604020202020204" pitchFamily="34" charset="0"/>
              </a:rPr>
              <a:t>(0, r)</a:t>
            </a:r>
            <a:r>
              <a:rPr lang="en-US" altLang="sr-Latn-RS" sz="2000">
                <a:latin typeface="Arial" panose="020B0604020202020204" pitchFamily="34" charset="0"/>
                <a:cs typeface="Arial" panose="020B0604020202020204" pitchFamily="34" charset="0"/>
              </a:rPr>
              <a:t> </a:t>
            </a:r>
            <a:r>
              <a:rPr lang="hr-HR" altLang="sr-Latn-RS" sz="2000">
                <a:latin typeface="Arial" panose="020B0604020202020204" pitchFamily="34" charset="0"/>
                <a:cs typeface="Arial" panose="020B0604020202020204" pitchFamily="34" charset="0"/>
              </a:rPr>
              <a:t>a početna vrijednost za varijablu odluke je:</a:t>
            </a:r>
            <a:endParaRPr lang="en-US" altLang="sr-Latn-RS" sz="2000">
              <a:latin typeface="Arial" panose="020B0604020202020204" pitchFamily="34" charset="0"/>
              <a:cs typeface="Arial" panose="020B0604020202020204" pitchFamily="34" charset="0"/>
            </a:endParaRPr>
          </a:p>
        </p:txBody>
      </p:sp>
      <p:graphicFrame>
        <p:nvGraphicFramePr>
          <p:cNvPr id="139274" name="Object 9">
            <a:extLst>
              <a:ext uri="{FF2B5EF4-FFF2-40B4-BE49-F238E27FC236}">
                <a16:creationId xmlns:a16="http://schemas.microsoft.com/office/drawing/2014/main" id="{8BD0E84E-EDF3-D13B-BCF9-7802876B4C45}"/>
              </a:ext>
            </a:extLst>
          </p:cNvPr>
          <p:cNvGraphicFramePr>
            <a:graphicFrameLocks noChangeAspect="1"/>
          </p:cNvGraphicFramePr>
          <p:nvPr/>
        </p:nvGraphicFramePr>
        <p:xfrm>
          <a:off x="2209800" y="3657600"/>
          <a:ext cx="4787900" cy="1701800"/>
        </p:xfrm>
        <a:graphic>
          <a:graphicData uri="http://schemas.openxmlformats.org/presentationml/2006/ole">
            <mc:AlternateContent xmlns:mc="http://schemas.openxmlformats.org/markup-compatibility/2006">
              <mc:Choice xmlns:v="urn:schemas-microsoft-com:vml" Requires="v">
                <p:oleObj name="Equation" r:id="rId3" imgW="2362200" imgH="838200" progId="Equation.3">
                  <p:embed/>
                </p:oleObj>
              </mc:Choice>
              <mc:Fallback>
                <p:oleObj name="Equation" r:id="rId3" imgW="2362200" imgH="838200" progId="Equation.3">
                  <p:embed/>
                  <p:pic>
                    <p:nvPicPr>
                      <p:cNvPr id="139274" name="Object 9">
                        <a:extLst>
                          <a:ext uri="{FF2B5EF4-FFF2-40B4-BE49-F238E27FC236}">
                            <a16:creationId xmlns:a16="http://schemas.microsoft.com/office/drawing/2014/main" id="{8BD0E84E-EDF3-D13B-BCF9-7802876B4C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3657600"/>
                        <a:ext cx="4787900" cy="1701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Date Placeholder 2">
            <a:extLst>
              <a:ext uri="{FF2B5EF4-FFF2-40B4-BE49-F238E27FC236}">
                <a16:creationId xmlns:a16="http://schemas.microsoft.com/office/drawing/2014/main" id="{453EC234-3243-2015-0F03-83679A9A6004}"/>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F365A630-6E26-40C5-87D8-42DF2A5BAA7D}"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41316" name="Slide Number Placeholder 4">
            <a:extLst>
              <a:ext uri="{FF2B5EF4-FFF2-40B4-BE49-F238E27FC236}">
                <a16:creationId xmlns:a16="http://schemas.microsoft.com/office/drawing/2014/main" id="{94532AFA-9110-0618-168B-CE71F55C5F8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4A9E27ED-D7BC-4C3B-AEF9-2048CABD3938}" type="slidenum">
              <a:rPr lang="en-GB" altLang="sr-Latn-RS" sz="1400" smtClean="0">
                <a:latin typeface="Times New Roman" panose="02020603050405020304" pitchFamily="18" charset="0"/>
              </a:rPr>
              <a:pPr>
                <a:spcBef>
                  <a:spcPct val="50000"/>
                </a:spcBef>
                <a:buClrTx/>
                <a:buSzTx/>
                <a:buFontTx/>
                <a:buNone/>
              </a:pPr>
              <a:t>34</a:t>
            </a:fld>
            <a:endParaRPr lang="en-GB" altLang="sr-Latn-RS" sz="1400">
              <a:latin typeface="Times New Roman" panose="02020603050405020304" pitchFamily="18" charset="0"/>
            </a:endParaRPr>
          </a:p>
        </p:txBody>
      </p:sp>
      <p:sp>
        <p:nvSpPr>
          <p:cNvPr id="141317" name="Text Box 2">
            <a:extLst>
              <a:ext uri="{FF2B5EF4-FFF2-40B4-BE49-F238E27FC236}">
                <a16:creationId xmlns:a16="http://schemas.microsoft.com/office/drawing/2014/main" id="{6BC59432-3698-E843-9CF8-FBA702ECE777}"/>
              </a:ext>
            </a:extLst>
          </p:cNvPr>
          <p:cNvSpPr txBox="1">
            <a:spLocks noChangeArrowheads="1"/>
          </p:cNvSpPr>
          <p:nvPr/>
        </p:nvSpPr>
        <p:spPr bwMode="auto">
          <a:xfrm>
            <a:off x="762000" y="83820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kružnice</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p:txBody>
      </p:sp>
      <p:sp>
        <p:nvSpPr>
          <p:cNvPr id="141318" name="Rectangle 3">
            <a:extLst>
              <a:ext uri="{FF2B5EF4-FFF2-40B4-BE49-F238E27FC236}">
                <a16:creationId xmlns:a16="http://schemas.microsoft.com/office/drawing/2014/main" id="{8318ECD8-F081-EBEB-D5E9-0505A45C4D06}"/>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41319" name="Rectangle 4">
            <a:extLst>
              <a:ext uri="{FF2B5EF4-FFF2-40B4-BE49-F238E27FC236}">
                <a16:creationId xmlns:a16="http://schemas.microsoft.com/office/drawing/2014/main" id="{FB5E345F-84AB-8468-AD2F-39AE1A81334E}"/>
              </a:ext>
            </a:extLst>
          </p:cNvPr>
          <p:cNvSpPr>
            <a:spLocks noChangeArrowheads="1"/>
          </p:cNvSpPr>
          <p:nvPr/>
        </p:nvSpPr>
        <p:spPr bwMode="auto">
          <a:xfrm>
            <a:off x="1541463" y="1447800"/>
            <a:ext cx="6289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hr-HR" altLang="sr-Latn-RS" sz="2400">
                <a:latin typeface="Times New Roman" panose="02020603050405020304" pitchFamily="18" charset="0"/>
              </a:rPr>
              <a:t>	</a:t>
            </a:r>
            <a:r>
              <a:rPr lang="en-GB" altLang="sr-Latn-RS" sz="2400" b="1">
                <a:latin typeface="Arial" panose="020B0604020202020204" pitchFamily="34" charset="0"/>
                <a:cs typeface="Arial" panose="020B0604020202020204" pitchFamily="34" charset="0"/>
              </a:rPr>
              <a:t>Algoritam središnje točke za kružnice </a:t>
            </a:r>
            <a:endParaRPr lang="hr-HR" altLang="sr-Latn-RS" sz="2400" b="1">
              <a:latin typeface="Arial" panose="020B0604020202020204" pitchFamily="34" charset="0"/>
              <a:cs typeface="Arial" panose="020B0604020202020204" pitchFamily="34" charset="0"/>
            </a:endParaRPr>
          </a:p>
        </p:txBody>
      </p:sp>
      <p:sp>
        <p:nvSpPr>
          <p:cNvPr id="141320" name="Rectangle 5">
            <a:extLst>
              <a:ext uri="{FF2B5EF4-FFF2-40B4-BE49-F238E27FC236}">
                <a16:creationId xmlns:a16="http://schemas.microsoft.com/office/drawing/2014/main" id="{216B93D7-CEA3-1C3D-D846-5C7E05C582F4}"/>
              </a:ext>
            </a:extLst>
          </p:cNvPr>
          <p:cNvSpPr>
            <a:spLocks noChangeArrowheads="1"/>
          </p:cNvSpPr>
          <p:nvPr/>
        </p:nvSpPr>
        <p:spPr bwMode="auto">
          <a:xfrm>
            <a:off x="2933700" y="2085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41321" name="Rectangle 6">
            <a:extLst>
              <a:ext uri="{FF2B5EF4-FFF2-40B4-BE49-F238E27FC236}">
                <a16:creationId xmlns:a16="http://schemas.microsoft.com/office/drawing/2014/main" id="{C5F1F591-DC7A-A9CF-73C4-8ED687B96E85}"/>
              </a:ext>
            </a:extLst>
          </p:cNvPr>
          <p:cNvSpPr>
            <a:spLocks noChangeArrowheads="1"/>
          </p:cNvSpPr>
          <p:nvPr/>
        </p:nvSpPr>
        <p:spPr bwMode="auto">
          <a:xfrm>
            <a:off x="685800" y="2286000"/>
            <a:ext cx="800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20000"/>
              </a:spcBef>
              <a:buClrTx/>
              <a:buSzTx/>
              <a:buFontTx/>
              <a:buNone/>
            </a:pPr>
            <a:r>
              <a:rPr lang="hr-HR" altLang="sr-Latn-RS" sz="2400">
                <a:latin typeface="Times New Roman" panose="02020603050405020304" pitchFamily="18" charset="0"/>
              </a:rPr>
              <a:t>Primjer:</a:t>
            </a:r>
            <a:endParaRPr lang="en-US" altLang="sr-Latn-RS" sz="2400">
              <a:latin typeface="Times New Roman" panose="02020603050405020304" pitchFamily="18" charset="0"/>
            </a:endParaRPr>
          </a:p>
        </p:txBody>
      </p:sp>
      <p:pic>
        <p:nvPicPr>
          <p:cNvPr id="141322" name="Picture 9" descr="CrtajKruznicu_a">
            <a:extLst>
              <a:ext uri="{FF2B5EF4-FFF2-40B4-BE49-F238E27FC236}">
                <a16:creationId xmlns:a16="http://schemas.microsoft.com/office/drawing/2014/main" id="{A68A3357-8A08-3492-01E2-DE859DED80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2636838"/>
            <a:ext cx="6761163" cy="346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Date Placeholder 2">
            <a:extLst>
              <a:ext uri="{FF2B5EF4-FFF2-40B4-BE49-F238E27FC236}">
                <a16:creationId xmlns:a16="http://schemas.microsoft.com/office/drawing/2014/main" id="{F6659D23-CD21-39AA-AD96-3CD5BBDB1289}"/>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06F2D40C-FB35-4D95-85C6-6CD0997ED4AB}"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43364" name="Slide Number Placeholder 4">
            <a:extLst>
              <a:ext uri="{FF2B5EF4-FFF2-40B4-BE49-F238E27FC236}">
                <a16:creationId xmlns:a16="http://schemas.microsoft.com/office/drawing/2014/main" id="{C190A06B-4FC8-FD43-1468-28D6DE2615F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3E9042C5-BF13-4B50-B175-BAA6E1D20B51}" type="slidenum">
              <a:rPr lang="en-GB" altLang="sr-Latn-RS" sz="1400" smtClean="0">
                <a:latin typeface="Times New Roman" panose="02020603050405020304" pitchFamily="18" charset="0"/>
              </a:rPr>
              <a:pPr>
                <a:spcBef>
                  <a:spcPct val="50000"/>
                </a:spcBef>
                <a:buClrTx/>
                <a:buSzTx/>
                <a:buFontTx/>
                <a:buNone/>
              </a:pPr>
              <a:t>35</a:t>
            </a:fld>
            <a:endParaRPr lang="en-GB" altLang="sr-Latn-RS" sz="1400">
              <a:latin typeface="Times New Roman" panose="02020603050405020304" pitchFamily="18" charset="0"/>
            </a:endParaRPr>
          </a:p>
        </p:txBody>
      </p:sp>
      <p:sp>
        <p:nvSpPr>
          <p:cNvPr id="143365" name="Text Box 2">
            <a:extLst>
              <a:ext uri="{FF2B5EF4-FFF2-40B4-BE49-F238E27FC236}">
                <a16:creationId xmlns:a16="http://schemas.microsoft.com/office/drawing/2014/main" id="{17BF0B89-FEB6-748D-569C-866079EC4E10}"/>
              </a:ext>
            </a:extLst>
          </p:cNvPr>
          <p:cNvSpPr txBox="1">
            <a:spLocks noChangeArrowheads="1"/>
          </p:cNvSpPr>
          <p:nvPr/>
        </p:nvSpPr>
        <p:spPr bwMode="auto">
          <a:xfrm>
            <a:off x="762000" y="83820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kružnice</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p:txBody>
      </p:sp>
      <p:sp>
        <p:nvSpPr>
          <p:cNvPr id="143366" name="Rectangle 3">
            <a:extLst>
              <a:ext uri="{FF2B5EF4-FFF2-40B4-BE49-F238E27FC236}">
                <a16:creationId xmlns:a16="http://schemas.microsoft.com/office/drawing/2014/main" id="{B49422C7-38BC-E785-FB89-C1EC893DE6DF}"/>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43367" name="Rectangle 4">
            <a:extLst>
              <a:ext uri="{FF2B5EF4-FFF2-40B4-BE49-F238E27FC236}">
                <a16:creationId xmlns:a16="http://schemas.microsoft.com/office/drawing/2014/main" id="{B72D9352-5B9E-FE40-120A-0013C5401EB8}"/>
              </a:ext>
            </a:extLst>
          </p:cNvPr>
          <p:cNvSpPr>
            <a:spLocks noChangeArrowheads="1"/>
          </p:cNvSpPr>
          <p:nvPr/>
        </p:nvSpPr>
        <p:spPr bwMode="auto">
          <a:xfrm>
            <a:off x="1652588" y="1458913"/>
            <a:ext cx="6143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hr-HR" altLang="sr-Latn-RS" sz="2400">
                <a:latin typeface="Times New Roman" panose="02020603050405020304" pitchFamily="18" charset="0"/>
              </a:rPr>
              <a:t>	</a:t>
            </a:r>
            <a:r>
              <a:rPr lang="en-GB" altLang="sr-Latn-RS" sz="2400" b="1">
                <a:latin typeface="Arial" panose="020B0604020202020204" pitchFamily="34" charset="0"/>
                <a:cs typeface="Arial" panose="020B0604020202020204" pitchFamily="34" charset="0"/>
              </a:rPr>
              <a:t>Algoritam središnje točke za kružnice </a:t>
            </a:r>
            <a:endParaRPr lang="hr-HR" altLang="sr-Latn-RS" sz="2400" b="1">
              <a:latin typeface="Arial" panose="020B0604020202020204" pitchFamily="34" charset="0"/>
              <a:cs typeface="Arial" panose="020B0604020202020204" pitchFamily="34" charset="0"/>
            </a:endParaRPr>
          </a:p>
        </p:txBody>
      </p:sp>
      <p:sp>
        <p:nvSpPr>
          <p:cNvPr id="143368" name="Rectangle 5">
            <a:extLst>
              <a:ext uri="{FF2B5EF4-FFF2-40B4-BE49-F238E27FC236}">
                <a16:creationId xmlns:a16="http://schemas.microsoft.com/office/drawing/2014/main" id="{FF51AAFA-E668-7159-B314-DAD408D23113}"/>
              </a:ext>
            </a:extLst>
          </p:cNvPr>
          <p:cNvSpPr>
            <a:spLocks noChangeArrowheads="1"/>
          </p:cNvSpPr>
          <p:nvPr/>
        </p:nvSpPr>
        <p:spPr bwMode="auto">
          <a:xfrm>
            <a:off x="2933700" y="2085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43369" name="Rectangle 6">
            <a:extLst>
              <a:ext uri="{FF2B5EF4-FFF2-40B4-BE49-F238E27FC236}">
                <a16:creationId xmlns:a16="http://schemas.microsoft.com/office/drawing/2014/main" id="{4196BED6-52D3-C5C8-3FE0-42E27FA4DB40}"/>
              </a:ext>
            </a:extLst>
          </p:cNvPr>
          <p:cNvSpPr>
            <a:spLocks noChangeArrowheads="1"/>
          </p:cNvSpPr>
          <p:nvPr/>
        </p:nvSpPr>
        <p:spPr bwMode="auto">
          <a:xfrm>
            <a:off x="685800" y="2286000"/>
            <a:ext cx="800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20000"/>
              </a:spcBef>
              <a:buClrTx/>
              <a:buSzTx/>
              <a:buFontTx/>
              <a:buNone/>
            </a:pPr>
            <a:r>
              <a:rPr lang="hr-HR" altLang="sr-Latn-RS" sz="2400">
                <a:latin typeface="Times New Roman" panose="02020603050405020304" pitchFamily="18" charset="0"/>
              </a:rPr>
              <a:t>Primjer:</a:t>
            </a:r>
            <a:endParaRPr lang="en-US" altLang="sr-Latn-RS" sz="2400">
              <a:latin typeface="Times New Roman" panose="02020603050405020304" pitchFamily="18" charset="0"/>
            </a:endParaRPr>
          </a:p>
        </p:txBody>
      </p:sp>
      <p:pic>
        <p:nvPicPr>
          <p:cNvPr id="143370" name="Picture 8" descr="CrtajKruznicu_b">
            <a:extLst>
              <a:ext uri="{FF2B5EF4-FFF2-40B4-BE49-F238E27FC236}">
                <a16:creationId xmlns:a16="http://schemas.microsoft.com/office/drawing/2014/main" id="{3B7CB0B4-1C92-23CA-A370-E364F7D69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2636838"/>
            <a:ext cx="6761163" cy="346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Date Placeholder 2">
            <a:extLst>
              <a:ext uri="{FF2B5EF4-FFF2-40B4-BE49-F238E27FC236}">
                <a16:creationId xmlns:a16="http://schemas.microsoft.com/office/drawing/2014/main" id="{A6409211-5F53-CC91-B7CA-3AFF7E01793F}"/>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33970BA9-4615-4FA3-8D99-6DD1BFC95807}"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45412" name="Slide Number Placeholder 4">
            <a:extLst>
              <a:ext uri="{FF2B5EF4-FFF2-40B4-BE49-F238E27FC236}">
                <a16:creationId xmlns:a16="http://schemas.microsoft.com/office/drawing/2014/main" id="{01889CD6-9B8C-36E8-CB86-99E393B119F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AB767F48-D160-45A9-AE31-8F31CA5B7D9D}" type="slidenum">
              <a:rPr lang="en-GB" altLang="sr-Latn-RS" sz="1400" smtClean="0">
                <a:latin typeface="Times New Roman" panose="02020603050405020304" pitchFamily="18" charset="0"/>
              </a:rPr>
              <a:pPr>
                <a:spcBef>
                  <a:spcPct val="50000"/>
                </a:spcBef>
                <a:buClrTx/>
                <a:buSzTx/>
                <a:buFontTx/>
                <a:buNone/>
              </a:pPr>
              <a:t>36</a:t>
            </a:fld>
            <a:endParaRPr lang="en-GB" altLang="sr-Latn-RS" sz="1400">
              <a:latin typeface="Times New Roman" panose="02020603050405020304" pitchFamily="18" charset="0"/>
            </a:endParaRPr>
          </a:p>
        </p:txBody>
      </p:sp>
      <p:sp>
        <p:nvSpPr>
          <p:cNvPr id="145413" name="Text Box 2">
            <a:extLst>
              <a:ext uri="{FF2B5EF4-FFF2-40B4-BE49-F238E27FC236}">
                <a16:creationId xmlns:a16="http://schemas.microsoft.com/office/drawing/2014/main" id="{8C9FDA30-8FBF-D10A-E050-32A517593FBA}"/>
              </a:ext>
            </a:extLst>
          </p:cNvPr>
          <p:cNvSpPr txBox="1">
            <a:spLocks noChangeArrowheads="1"/>
          </p:cNvSpPr>
          <p:nvPr/>
        </p:nvSpPr>
        <p:spPr bwMode="auto">
          <a:xfrm>
            <a:off x="762000" y="83820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Tx/>
              <a:buSzTx/>
              <a:buFontTx/>
              <a:buNone/>
            </a:pPr>
            <a:r>
              <a:rPr lang="hr-HR" altLang="sr-Latn-RS" sz="2800" b="1">
                <a:latin typeface="Arial" panose="020B0604020202020204" pitchFamily="34" charset="0"/>
                <a:cs typeface="Arial" panose="020B0604020202020204" pitchFamily="34" charset="0"/>
              </a:rPr>
              <a:t>Rasterski prikaz kružnice</a:t>
            </a:r>
            <a:r>
              <a:rPr lang="en-GB" altLang="sr-Latn-RS" sz="2800" b="1">
                <a:latin typeface="Arial" panose="020B0604020202020204" pitchFamily="34" charset="0"/>
                <a:cs typeface="Arial" panose="020B0604020202020204" pitchFamily="34" charset="0"/>
              </a:rPr>
              <a:t> </a:t>
            </a:r>
            <a:endParaRPr lang="hr-HR" altLang="sr-Latn-RS" sz="2800">
              <a:latin typeface="Arial" panose="020B0604020202020204" pitchFamily="34" charset="0"/>
              <a:cs typeface="Arial" panose="020B0604020202020204" pitchFamily="34" charset="0"/>
            </a:endParaRPr>
          </a:p>
        </p:txBody>
      </p:sp>
      <p:sp>
        <p:nvSpPr>
          <p:cNvPr id="145414" name="Rectangle 3">
            <a:extLst>
              <a:ext uri="{FF2B5EF4-FFF2-40B4-BE49-F238E27FC236}">
                <a16:creationId xmlns:a16="http://schemas.microsoft.com/office/drawing/2014/main" id="{E6AE5849-FBA9-0C00-F73D-6B63DFA3B7BA}"/>
              </a:ext>
            </a:extLst>
          </p:cNvPr>
          <p:cNvSpPr>
            <a:spLocks noChangeArrowheads="1"/>
          </p:cNvSpPr>
          <p:nvPr/>
        </p:nvSpPr>
        <p:spPr bwMode="auto">
          <a:xfrm>
            <a:off x="1695450" y="400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45415" name="Rectangle 4">
            <a:extLst>
              <a:ext uri="{FF2B5EF4-FFF2-40B4-BE49-F238E27FC236}">
                <a16:creationId xmlns:a16="http://schemas.microsoft.com/office/drawing/2014/main" id="{92883221-0AF2-12E7-2EB7-90F37CC8438E}"/>
              </a:ext>
            </a:extLst>
          </p:cNvPr>
          <p:cNvSpPr>
            <a:spLocks noChangeArrowheads="1"/>
          </p:cNvSpPr>
          <p:nvPr/>
        </p:nvSpPr>
        <p:spPr bwMode="auto">
          <a:xfrm>
            <a:off x="1652588" y="1431925"/>
            <a:ext cx="6143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hr-HR" altLang="sr-Latn-RS" sz="2400">
                <a:latin typeface="Times New Roman" panose="02020603050405020304" pitchFamily="18" charset="0"/>
              </a:rPr>
              <a:t>	</a:t>
            </a:r>
            <a:r>
              <a:rPr lang="en-GB" altLang="sr-Latn-RS" sz="2400" b="1">
                <a:latin typeface="Arial" panose="020B0604020202020204" pitchFamily="34" charset="0"/>
                <a:cs typeface="Arial" panose="020B0604020202020204" pitchFamily="34" charset="0"/>
              </a:rPr>
              <a:t>Algoritam središnje točke za kružnice </a:t>
            </a:r>
            <a:endParaRPr lang="hr-HR" altLang="sr-Latn-RS" sz="2400" b="1">
              <a:latin typeface="Arial" panose="020B0604020202020204" pitchFamily="34" charset="0"/>
              <a:cs typeface="Arial" panose="020B0604020202020204" pitchFamily="34" charset="0"/>
            </a:endParaRPr>
          </a:p>
        </p:txBody>
      </p:sp>
      <p:sp>
        <p:nvSpPr>
          <p:cNvPr id="145416" name="Rectangle 5">
            <a:extLst>
              <a:ext uri="{FF2B5EF4-FFF2-40B4-BE49-F238E27FC236}">
                <a16:creationId xmlns:a16="http://schemas.microsoft.com/office/drawing/2014/main" id="{2FEB4E7E-3C39-0369-6576-A1E031921277}"/>
              </a:ext>
            </a:extLst>
          </p:cNvPr>
          <p:cNvSpPr>
            <a:spLocks noChangeArrowheads="1"/>
          </p:cNvSpPr>
          <p:nvPr/>
        </p:nvSpPr>
        <p:spPr bwMode="auto">
          <a:xfrm>
            <a:off x="2933700" y="2085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45417" name="Rectangle 6">
            <a:extLst>
              <a:ext uri="{FF2B5EF4-FFF2-40B4-BE49-F238E27FC236}">
                <a16:creationId xmlns:a16="http://schemas.microsoft.com/office/drawing/2014/main" id="{372F2076-375A-EA60-B332-120737174221}"/>
              </a:ext>
            </a:extLst>
          </p:cNvPr>
          <p:cNvSpPr>
            <a:spLocks noChangeArrowheads="1"/>
          </p:cNvSpPr>
          <p:nvPr/>
        </p:nvSpPr>
        <p:spPr bwMode="auto">
          <a:xfrm>
            <a:off x="685800" y="2286000"/>
            <a:ext cx="800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20000"/>
              </a:spcBef>
              <a:buClrTx/>
              <a:buSzTx/>
              <a:buFontTx/>
              <a:buNone/>
            </a:pPr>
            <a:r>
              <a:rPr lang="hr-HR" altLang="sr-Latn-RS" sz="2400">
                <a:latin typeface="Times New Roman" panose="02020603050405020304" pitchFamily="18" charset="0"/>
              </a:rPr>
              <a:t>Primjer:</a:t>
            </a:r>
            <a:endParaRPr lang="en-US" altLang="sr-Latn-RS" sz="2400">
              <a:latin typeface="Times New Roman" panose="02020603050405020304" pitchFamily="18" charset="0"/>
            </a:endParaRPr>
          </a:p>
        </p:txBody>
      </p:sp>
      <p:pic>
        <p:nvPicPr>
          <p:cNvPr id="145418" name="Picture 8" descr="CrtajKruznicu_c">
            <a:extLst>
              <a:ext uri="{FF2B5EF4-FFF2-40B4-BE49-F238E27FC236}">
                <a16:creationId xmlns:a16="http://schemas.microsoft.com/office/drawing/2014/main" id="{256AB3DA-AC66-B029-2220-D309DD5E8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2636838"/>
            <a:ext cx="6761163" cy="346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106" name="Line 10">
            <a:extLst>
              <a:ext uri="{FF2B5EF4-FFF2-40B4-BE49-F238E27FC236}">
                <a16:creationId xmlns:a16="http://schemas.microsoft.com/office/drawing/2014/main" id="{76A6157D-9B9D-29E1-792A-5A2FD1747D08}"/>
              </a:ext>
            </a:extLst>
          </p:cNvPr>
          <p:cNvSpPr>
            <a:spLocks noChangeShapeType="1"/>
          </p:cNvSpPr>
          <p:nvPr/>
        </p:nvSpPr>
        <p:spPr bwMode="auto">
          <a:xfrm>
            <a:off x="3851275" y="4149725"/>
            <a:ext cx="431800" cy="4333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hr-HR"/>
          </a:p>
        </p:txBody>
      </p:sp>
      <p:sp>
        <p:nvSpPr>
          <p:cNvPr id="388108" name="Oval 12">
            <a:extLst>
              <a:ext uri="{FF2B5EF4-FFF2-40B4-BE49-F238E27FC236}">
                <a16:creationId xmlns:a16="http://schemas.microsoft.com/office/drawing/2014/main" id="{CB5F0261-6917-2297-9528-77B4117BF1E7}"/>
              </a:ext>
            </a:extLst>
          </p:cNvPr>
          <p:cNvSpPr>
            <a:spLocks noChangeArrowheads="1"/>
          </p:cNvSpPr>
          <p:nvPr/>
        </p:nvSpPr>
        <p:spPr bwMode="auto">
          <a:xfrm>
            <a:off x="4283075" y="4030663"/>
            <a:ext cx="142875" cy="1428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810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8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8"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7458" name="Date Placeholder 2">
            <a:extLst>
              <a:ext uri="{FF2B5EF4-FFF2-40B4-BE49-F238E27FC236}">
                <a16:creationId xmlns:a16="http://schemas.microsoft.com/office/drawing/2014/main" id="{CBD97891-5364-C9F4-B846-2C2D2C972D7F}"/>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B8D7B637-65FC-4605-BB8D-279D87BCBAA1}"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47460" name="Slide Number Placeholder 4">
            <a:extLst>
              <a:ext uri="{FF2B5EF4-FFF2-40B4-BE49-F238E27FC236}">
                <a16:creationId xmlns:a16="http://schemas.microsoft.com/office/drawing/2014/main" id="{F8BDD29E-20BA-500D-2EF3-F6163F8BECB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376D639D-867A-4959-AA23-B8D200995077}" type="slidenum">
              <a:rPr lang="en-GB" altLang="sr-Latn-RS" sz="1400" smtClean="0">
                <a:latin typeface="Times New Roman" panose="02020603050405020304" pitchFamily="18" charset="0"/>
              </a:rPr>
              <a:pPr>
                <a:spcBef>
                  <a:spcPct val="50000"/>
                </a:spcBef>
                <a:buClrTx/>
                <a:buSzTx/>
                <a:buFontTx/>
                <a:buNone/>
              </a:pPr>
              <a:t>37</a:t>
            </a:fld>
            <a:endParaRPr lang="en-GB" altLang="sr-Latn-RS" sz="1400">
              <a:latin typeface="Times New Roman" panose="02020603050405020304" pitchFamily="18" charset="0"/>
            </a:endParaRPr>
          </a:p>
        </p:txBody>
      </p:sp>
      <p:sp>
        <p:nvSpPr>
          <p:cNvPr id="147461" name="Rectangle 4">
            <a:extLst>
              <a:ext uri="{FF2B5EF4-FFF2-40B4-BE49-F238E27FC236}">
                <a16:creationId xmlns:a16="http://schemas.microsoft.com/office/drawing/2014/main" id="{029FA968-9444-263C-1F22-86DAEEE5BF1C}"/>
              </a:ext>
            </a:extLst>
          </p:cNvPr>
          <p:cNvSpPr>
            <a:spLocks noChangeArrowheads="1"/>
          </p:cNvSpPr>
          <p:nvPr/>
        </p:nvSpPr>
        <p:spPr bwMode="auto">
          <a:xfrm>
            <a:off x="1546225" y="914400"/>
            <a:ext cx="6432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hr-HR" altLang="sr-Latn-RS" sz="2400">
                <a:latin typeface="Times New Roman" panose="02020603050405020304" pitchFamily="18" charset="0"/>
              </a:rPr>
              <a:t>	</a:t>
            </a:r>
            <a:r>
              <a:rPr lang="en-GB" altLang="sr-Latn-RS" sz="2400" b="1">
                <a:latin typeface="Arial" panose="020B0604020202020204" pitchFamily="34" charset="0"/>
                <a:cs typeface="Arial" panose="020B0604020202020204" pitchFamily="34" charset="0"/>
              </a:rPr>
              <a:t>Algoritam središnje točke za kružnice </a:t>
            </a:r>
            <a:endParaRPr lang="hr-HR" altLang="sr-Latn-RS" sz="2400" b="1">
              <a:latin typeface="Arial" panose="020B0604020202020204" pitchFamily="34" charset="0"/>
              <a:cs typeface="Arial" panose="020B0604020202020204" pitchFamily="34" charset="0"/>
            </a:endParaRPr>
          </a:p>
        </p:txBody>
      </p:sp>
      <p:sp>
        <p:nvSpPr>
          <p:cNvPr id="147462" name="Rectangle 5">
            <a:extLst>
              <a:ext uri="{FF2B5EF4-FFF2-40B4-BE49-F238E27FC236}">
                <a16:creationId xmlns:a16="http://schemas.microsoft.com/office/drawing/2014/main" id="{BD6A903C-817D-597F-2DB1-68389A6EFB56}"/>
              </a:ext>
            </a:extLst>
          </p:cNvPr>
          <p:cNvSpPr>
            <a:spLocks noChangeArrowheads="1"/>
          </p:cNvSpPr>
          <p:nvPr/>
        </p:nvSpPr>
        <p:spPr bwMode="auto">
          <a:xfrm>
            <a:off x="2933700" y="2085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47463" name="Text Box 8">
            <a:extLst>
              <a:ext uri="{FF2B5EF4-FFF2-40B4-BE49-F238E27FC236}">
                <a16:creationId xmlns:a16="http://schemas.microsoft.com/office/drawing/2014/main" id="{24825961-8744-A5BF-F7D5-27653FA71C51}"/>
              </a:ext>
            </a:extLst>
          </p:cNvPr>
          <p:cNvSpPr txBox="1">
            <a:spLocks noChangeArrowheads="1"/>
          </p:cNvSpPr>
          <p:nvPr/>
        </p:nvSpPr>
        <p:spPr bwMode="auto">
          <a:xfrm>
            <a:off x="1258888" y="1447800"/>
            <a:ext cx="6818312" cy="4648200"/>
          </a:xfrm>
          <a:prstGeom prst="rect">
            <a:avLst/>
          </a:prstGeom>
          <a:solidFill>
            <a:srgbClr val="C0C0C0"/>
          </a:solidFill>
          <a:ln w="9525">
            <a:solidFill>
              <a:srgbClr val="000000"/>
            </a:solidFill>
            <a:miter lim="800000"/>
            <a:headEnd/>
            <a:tailEnd/>
          </a:ln>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sr-Latn-RS" sz="1600" b="1">
                <a:latin typeface="Arial" panose="020B0604020202020204" pitchFamily="34" charset="0"/>
              </a:rPr>
              <a:t>void</a:t>
            </a:r>
            <a:r>
              <a:rPr lang="en-US" altLang="sr-Latn-RS" sz="1600">
                <a:latin typeface="Arial" panose="020B0604020202020204" pitchFamily="34" charset="0"/>
              </a:rPr>
              <a:t> SredTocKruznica (</a:t>
            </a:r>
            <a:r>
              <a:rPr lang="en-US" altLang="sr-Latn-RS" sz="1600" b="1">
                <a:latin typeface="Arial" panose="020B0604020202020204" pitchFamily="34" charset="0"/>
              </a:rPr>
              <a:t>int</a:t>
            </a:r>
            <a:r>
              <a:rPr lang="en-US" altLang="sr-Latn-RS" sz="1600">
                <a:latin typeface="Arial" panose="020B0604020202020204" pitchFamily="34" charset="0"/>
              </a:rPr>
              <a:t> </a:t>
            </a:r>
            <a:r>
              <a:rPr lang="en-US" altLang="sr-Latn-RS" sz="1600" i="1">
                <a:latin typeface="Arial" panose="020B0604020202020204" pitchFamily="34" charset="0"/>
              </a:rPr>
              <a:t>radius</a:t>
            </a:r>
            <a:r>
              <a:rPr lang="en-US" altLang="sr-Latn-RS" sz="1600">
                <a:latin typeface="Arial" panose="020B0604020202020204" pitchFamily="34" charset="0"/>
              </a:rPr>
              <a:t>, </a:t>
            </a:r>
            <a:r>
              <a:rPr lang="en-US" altLang="sr-Latn-RS" sz="1600" b="1">
                <a:latin typeface="Arial" panose="020B0604020202020204" pitchFamily="34" charset="0"/>
              </a:rPr>
              <a:t>int</a:t>
            </a:r>
            <a:r>
              <a:rPr lang="en-US" altLang="sr-Latn-RS" sz="1600">
                <a:latin typeface="Arial" panose="020B0604020202020204" pitchFamily="34" charset="0"/>
              </a:rPr>
              <a:t> </a:t>
            </a:r>
            <a:r>
              <a:rPr lang="en-US" altLang="sr-Latn-RS" sz="1600" i="1">
                <a:latin typeface="Arial" panose="020B0604020202020204" pitchFamily="34" charset="0"/>
              </a:rPr>
              <a:t>value</a:t>
            </a:r>
            <a:r>
              <a:rPr lang="en-US" altLang="sr-Latn-RS" sz="1600">
                <a:latin typeface="Arial" panose="020B0604020202020204" pitchFamily="34" charset="0"/>
              </a:rPr>
              <a:t>)</a:t>
            </a:r>
          </a:p>
          <a:p>
            <a:pPr>
              <a:spcBef>
                <a:spcPct val="0"/>
              </a:spcBef>
              <a:buClrTx/>
              <a:buSzTx/>
              <a:buFontTx/>
              <a:buNone/>
            </a:pPr>
            <a:r>
              <a:rPr lang="en-US" altLang="sr-Latn-RS" sz="1600">
                <a:latin typeface="Arial" panose="020B0604020202020204" pitchFamily="34" charset="0"/>
              </a:rPr>
              <a:t>/* pretpostavljamo da je centar kružnice u ishodištu koord.sustava */</a:t>
            </a:r>
          </a:p>
          <a:p>
            <a:pPr>
              <a:spcBef>
                <a:spcPct val="0"/>
              </a:spcBef>
              <a:buClrTx/>
              <a:buSzTx/>
              <a:buFontTx/>
              <a:buNone/>
            </a:pPr>
            <a:r>
              <a:rPr lang="en-US" altLang="sr-Latn-RS" sz="1600">
                <a:latin typeface="Arial" panose="020B0604020202020204" pitchFamily="34" charset="0"/>
              </a:rPr>
              <a:t>{</a:t>
            </a:r>
          </a:p>
          <a:p>
            <a:pPr>
              <a:spcBef>
                <a:spcPct val="0"/>
              </a:spcBef>
              <a:buClrTx/>
              <a:buSzTx/>
              <a:buFontTx/>
              <a:buNone/>
            </a:pPr>
            <a:r>
              <a:rPr lang="en-US" altLang="sr-Latn-RS" sz="1600" b="1">
                <a:latin typeface="Arial" panose="020B0604020202020204" pitchFamily="34" charset="0"/>
              </a:rPr>
              <a:t>int</a:t>
            </a:r>
            <a:r>
              <a:rPr lang="en-US" altLang="sr-Latn-RS" sz="1600">
                <a:latin typeface="Arial" panose="020B0604020202020204" pitchFamily="34" charset="0"/>
              </a:rPr>
              <a:t> </a:t>
            </a:r>
            <a:r>
              <a:rPr lang="en-US" altLang="sr-Latn-RS" sz="1600" i="1">
                <a:latin typeface="Arial" panose="020B0604020202020204" pitchFamily="34" charset="0"/>
              </a:rPr>
              <a:t>x</a:t>
            </a:r>
            <a:r>
              <a:rPr lang="en-US" altLang="sr-Latn-RS" sz="1600">
                <a:latin typeface="Arial" panose="020B0604020202020204" pitchFamily="34" charset="0"/>
              </a:rPr>
              <a:t> = 0;</a:t>
            </a:r>
          </a:p>
          <a:p>
            <a:pPr>
              <a:spcBef>
                <a:spcPct val="0"/>
              </a:spcBef>
              <a:buClrTx/>
              <a:buSzTx/>
              <a:buFontTx/>
              <a:buNone/>
            </a:pPr>
            <a:r>
              <a:rPr lang="en-US" altLang="sr-Latn-RS" sz="1600" b="1">
                <a:latin typeface="Arial" panose="020B0604020202020204" pitchFamily="34" charset="0"/>
              </a:rPr>
              <a:t>int</a:t>
            </a:r>
            <a:r>
              <a:rPr lang="en-US" altLang="sr-Latn-RS" sz="1600">
                <a:latin typeface="Arial" panose="020B0604020202020204" pitchFamily="34" charset="0"/>
              </a:rPr>
              <a:t> </a:t>
            </a:r>
            <a:r>
              <a:rPr lang="en-US" altLang="sr-Latn-RS" sz="1600" i="1">
                <a:latin typeface="Arial" panose="020B0604020202020204" pitchFamily="34" charset="0"/>
              </a:rPr>
              <a:t>y</a:t>
            </a:r>
            <a:r>
              <a:rPr lang="en-US" altLang="sr-Latn-RS" sz="1600">
                <a:latin typeface="Arial" panose="020B0604020202020204" pitchFamily="34" charset="0"/>
              </a:rPr>
              <a:t> = radius;</a:t>
            </a:r>
          </a:p>
          <a:p>
            <a:pPr>
              <a:spcBef>
                <a:spcPct val="0"/>
              </a:spcBef>
              <a:buClrTx/>
              <a:buSzTx/>
              <a:buFontTx/>
              <a:buNone/>
            </a:pPr>
            <a:r>
              <a:rPr lang="en-US" altLang="sr-Latn-RS" sz="1600" b="1">
                <a:latin typeface="Arial" panose="020B0604020202020204" pitchFamily="34" charset="0"/>
              </a:rPr>
              <a:t>double</a:t>
            </a:r>
            <a:r>
              <a:rPr lang="en-US" altLang="sr-Latn-RS" sz="1600">
                <a:latin typeface="Arial" panose="020B0604020202020204" pitchFamily="34" charset="0"/>
              </a:rPr>
              <a:t> </a:t>
            </a:r>
            <a:r>
              <a:rPr lang="en-US" altLang="sr-Latn-RS" sz="1600" i="1">
                <a:latin typeface="Arial" panose="020B0604020202020204" pitchFamily="34" charset="0"/>
              </a:rPr>
              <a:t>d</a:t>
            </a:r>
            <a:r>
              <a:rPr lang="en-US" altLang="sr-Latn-RS" sz="1600">
                <a:latin typeface="Arial" panose="020B0604020202020204" pitchFamily="34" charset="0"/>
              </a:rPr>
              <a:t> = 5.0 / 4.0 – </a:t>
            </a:r>
            <a:r>
              <a:rPr lang="en-US" altLang="sr-Latn-RS" sz="1600" i="1">
                <a:latin typeface="Arial" panose="020B0604020202020204" pitchFamily="34" charset="0"/>
              </a:rPr>
              <a:t>radius</a:t>
            </a:r>
            <a:r>
              <a:rPr lang="en-US" altLang="sr-Latn-RS" sz="1600">
                <a:latin typeface="Arial" panose="020B0604020202020204" pitchFamily="34" charset="0"/>
              </a:rPr>
              <a:t>;</a:t>
            </a:r>
          </a:p>
          <a:p>
            <a:pPr>
              <a:spcBef>
                <a:spcPct val="0"/>
              </a:spcBef>
              <a:buClrTx/>
              <a:buSzTx/>
              <a:buFontTx/>
              <a:buNone/>
            </a:pPr>
            <a:r>
              <a:rPr lang="en-US" altLang="sr-Latn-RS" sz="1600">
                <a:latin typeface="Arial" panose="020B0604020202020204" pitchFamily="34" charset="0"/>
              </a:rPr>
              <a:t>CirclePoints (</a:t>
            </a:r>
            <a:r>
              <a:rPr lang="en-US" altLang="sr-Latn-RS" sz="1600" i="1">
                <a:latin typeface="Arial" panose="020B0604020202020204" pitchFamily="34" charset="0"/>
              </a:rPr>
              <a:t>x</a:t>
            </a:r>
            <a:r>
              <a:rPr lang="en-US" altLang="sr-Latn-RS" sz="1600">
                <a:latin typeface="Arial" panose="020B0604020202020204" pitchFamily="34" charset="0"/>
              </a:rPr>
              <a:t>, </a:t>
            </a:r>
            <a:r>
              <a:rPr lang="en-US" altLang="sr-Latn-RS" sz="1600" i="1">
                <a:latin typeface="Arial" panose="020B0604020202020204" pitchFamily="34" charset="0"/>
              </a:rPr>
              <a:t>y</a:t>
            </a:r>
            <a:r>
              <a:rPr lang="en-US" altLang="sr-Latn-RS" sz="1600">
                <a:latin typeface="Arial" panose="020B0604020202020204" pitchFamily="34" charset="0"/>
              </a:rPr>
              <a:t>, </a:t>
            </a:r>
            <a:r>
              <a:rPr lang="en-US" altLang="sr-Latn-RS" sz="1600" i="1">
                <a:latin typeface="Arial" panose="020B0604020202020204" pitchFamily="34" charset="0"/>
              </a:rPr>
              <a:t>value</a:t>
            </a:r>
            <a:r>
              <a:rPr lang="en-US" altLang="sr-Latn-RS" sz="1600">
                <a:latin typeface="Arial" panose="020B0604020202020204" pitchFamily="34" charset="0"/>
              </a:rPr>
              <a:t>);</a:t>
            </a:r>
          </a:p>
          <a:p>
            <a:pPr>
              <a:spcBef>
                <a:spcPct val="0"/>
              </a:spcBef>
              <a:buClrTx/>
              <a:buSzTx/>
              <a:buFontTx/>
              <a:buNone/>
            </a:pPr>
            <a:endParaRPr lang="en-US" altLang="sr-Latn-RS" sz="1600">
              <a:latin typeface="Arial" panose="020B0604020202020204" pitchFamily="34" charset="0"/>
            </a:endParaRPr>
          </a:p>
          <a:p>
            <a:pPr>
              <a:spcBef>
                <a:spcPct val="0"/>
              </a:spcBef>
              <a:buClrTx/>
              <a:buSzTx/>
              <a:buFontTx/>
              <a:buNone/>
            </a:pPr>
            <a:r>
              <a:rPr lang="en-US" altLang="sr-Latn-RS" sz="1600" b="1">
                <a:latin typeface="Arial" panose="020B0604020202020204" pitchFamily="34" charset="0"/>
              </a:rPr>
              <a:t>while</a:t>
            </a:r>
            <a:r>
              <a:rPr lang="en-US" altLang="sr-Latn-RS" sz="1600">
                <a:latin typeface="Arial" panose="020B0604020202020204" pitchFamily="34" charset="0"/>
              </a:rPr>
              <a:t> (</a:t>
            </a:r>
            <a:r>
              <a:rPr lang="en-US" altLang="sr-Latn-RS" sz="1600" i="1">
                <a:latin typeface="Arial" panose="020B0604020202020204" pitchFamily="34" charset="0"/>
              </a:rPr>
              <a:t>y</a:t>
            </a:r>
            <a:r>
              <a:rPr lang="en-US" altLang="sr-Latn-RS" sz="1600">
                <a:latin typeface="Arial" panose="020B0604020202020204" pitchFamily="34" charset="0"/>
              </a:rPr>
              <a:t> &gt; </a:t>
            </a:r>
            <a:r>
              <a:rPr lang="en-US" altLang="sr-Latn-RS" sz="1600" i="1">
                <a:latin typeface="Arial" panose="020B0604020202020204" pitchFamily="34" charset="0"/>
              </a:rPr>
              <a:t>x</a:t>
            </a:r>
            <a:r>
              <a:rPr lang="en-US" altLang="sr-Latn-RS" sz="1600">
                <a:latin typeface="Arial" panose="020B0604020202020204" pitchFamily="34" charset="0"/>
              </a:rPr>
              <a:t>) {</a:t>
            </a:r>
          </a:p>
          <a:p>
            <a:pPr>
              <a:spcBef>
                <a:spcPct val="0"/>
              </a:spcBef>
              <a:buClrTx/>
              <a:buSzTx/>
              <a:buFontTx/>
              <a:buNone/>
            </a:pPr>
            <a:r>
              <a:rPr lang="en-US" altLang="sr-Latn-RS" sz="1600" b="1">
                <a:latin typeface="Arial" panose="020B0604020202020204" pitchFamily="34" charset="0"/>
              </a:rPr>
              <a:t>     if</a:t>
            </a:r>
            <a:r>
              <a:rPr lang="en-US" altLang="sr-Latn-RS" sz="1600">
                <a:latin typeface="Arial" panose="020B0604020202020204" pitchFamily="34" charset="0"/>
              </a:rPr>
              <a:t> (</a:t>
            </a:r>
            <a:r>
              <a:rPr lang="en-US" altLang="sr-Latn-RS" sz="1600" i="1">
                <a:latin typeface="Arial" panose="020B0604020202020204" pitchFamily="34" charset="0"/>
              </a:rPr>
              <a:t>d</a:t>
            </a:r>
            <a:r>
              <a:rPr lang="en-US" altLang="sr-Latn-RS" sz="1600">
                <a:latin typeface="Arial" panose="020B0604020202020204" pitchFamily="34" charset="0"/>
              </a:rPr>
              <a:t> &lt; 0)/* izaberi </a:t>
            </a:r>
            <a:r>
              <a:rPr lang="hr-HR" altLang="sr-Latn-RS" sz="1600">
                <a:latin typeface="Arial" panose="020B0604020202020204" pitchFamily="34" charset="0"/>
              </a:rPr>
              <a:t>A</a:t>
            </a:r>
            <a:r>
              <a:rPr lang="en-US" altLang="sr-Latn-RS" sz="1600">
                <a:latin typeface="Arial" panose="020B0604020202020204" pitchFamily="34" charset="0"/>
              </a:rPr>
              <a:t> */</a:t>
            </a:r>
          </a:p>
          <a:p>
            <a:pPr>
              <a:spcBef>
                <a:spcPct val="0"/>
              </a:spcBef>
              <a:buClrTx/>
              <a:buSzTx/>
              <a:buFontTx/>
              <a:buNone/>
            </a:pPr>
            <a:r>
              <a:rPr lang="en-US" altLang="sr-Latn-RS" sz="1600" i="1">
                <a:latin typeface="Arial" panose="020B0604020202020204" pitchFamily="34" charset="0"/>
              </a:rPr>
              <a:t>d</a:t>
            </a:r>
            <a:r>
              <a:rPr lang="en-US" altLang="sr-Latn-RS" sz="1600">
                <a:latin typeface="Arial" panose="020B0604020202020204" pitchFamily="34" charset="0"/>
              </a:rPr>
              <a:t> += 2.0 * </a:t>
            </a:r>
            <a:r>
              <a:rPr lang="en-US" altLang="sr-Latn-RS" sz="1600" i="1">
                <a:latin typeface="Arial" panose="020B0604020202020204" pitchFamily="34" charset="0"/>
              </a:rPr>
              <a:t>x</a:t>
            </a:r>
            <a:r>
              <a:rPr lang="en-US" altLang="sr-Latn-RS" sz="1600">
                <a:latin typeface="Arial" panose="020B0604020202020204" pitchFamily="34" charset="0"/>
              </a:rPr>
              <a:t> + 3.0;</a:t>
            </a:r>
          </a:p>
          <a:p>
            <a:pPr>
              <a:spcBef>
                <a:spcPct val="0"/>
              </a:spcBef>
              <a:buClrTx/>
              <a:buSzTx/>
              <a:buFontTx/>
              <a:buNone/>
            </a:pPr>
            <a:r>
              <a:rPr lang="en-US" altLang="sr-Latn-RS" sz="1600">
                <a:latin typeface="Arial" panose="020B0604020202020204" pitchFamily="34" charset="0"/>
              </a:rPr>
              <a:t>     </a:t>
            </a:r>
            <a:r>
              <a:rPr lang="en-US" altLang="sr-Latn-RS" sz="1600" b="1">
                <a:latin typeface="Arial" panose="020B0604020202020204" pitchFamily="34" charset="0"/>
              </a:rPr>
              <a:t>else</a:t>
            </a:r>
            <a:r>
              <a:rPr lang="en-US" altLang="sr-Latn-RS" sz="1600">
                <a:latin typeface="Arial" panose="020B0604020202020204" pitchFamily="34" charset="0"/>
              </a:rPr>
              <a:t> {/* izaberi </a:t>
            </a:r>
            <a:r>
              <a:rPr lang="hr-HR" altLang="sr-Latn-RS" sz="1600">
                <a:latin typeface="Arial" panose="020B0604020202020204" pitchFamily="34" charset="0"/>
              </a:rPr>
              <a:t>B</a:t>
            </a:r>
            <a:r>
              <a:rPr lang="en-US" altLang="sr-Latn-RS" sz="1600">
                <a:latin typeface="Arial" panose="020B0604020202020204" pitchFamily="34" charset="0"/>
              </a:rPr>
              <a:t> */</a:t>
            </a:r>
          </a:p>
          <a:p>
            <a:pPr>
              <a:spcBef>
                <a:spcPct val="0"/>
              </a:spcBef>
              <a:buClrTx/>
              <a:buSzTx/>
              <a:buFontTx/>
              <a:buNone/>
            </a:pPr>
            <a:r>
              <a:rPr lang="en-US" altLang="sr-Latn-RS" sz="1600" i="1">
                <a:latin typeface="Arial" panose="020B0604020202020204" pitchFamily="34" charset="0"/>
              </a:rPr>
              <a:t>d</a:t>
            </a:r>
            <a:r>
              <a:rPr lang="en-US" altLang="sr-Latn-RS" sz="1600">
                <a:latin typeface="Arial" panose="020B0604020202020204" pitchFamily="34" charset="0"/>
              </a:rPr>
              <a:t> += 2.0 * (</a:t>
            </a:r>
            <a:r>
              <a:rPr lang="en-US" altLang="sr-Latn-RS" sz="1600" i="1">
                <a:latin typeface="Arial" panose="020B0604020202020204" pitchFamily="34" charset="0"/>
              </a:rPr>
              <a:t>x – y</a:t>
            </a:r>
            <a:r>
              <a:rPr lang="en-US" altLang="sr-Latn-RS" sz="1600">
                <a:latin typeface="Arial" panose="020B0604020202020204" pitchFamily="34" charset="0"/>
              </a:rPr>
              <a:t>) + 5.0;</a:t>
            </a:r>
          </a:p>
          <a:p>
            <a:pPr>
              <a:spcBef>
                <a:spcPct val="0"/>
              </a:spcBef>
              <a:buClrTx/>
              <a:buSzTx/>
              <a:buFontTx/>
              <a:buNone/>
            </a:pPr>
            <a:r>
              <a:rPr lang="en-US" altLang="sr-Latn-RS" sz="1600" i="1">
                <a:latin typeface="Arial" panose="020B0604020202020204" pitchFamily="34" charset="0"/>
              </a:rPr>
              <a:t>y</a:t>
            </a:r>
            <a:r>
              <a:rPr lang="en-US" altLang="sr-Latn-RS" sz="1600">
                <a:latin typeface="Arial" panose="020B0604020202020204" pitchFamily="34" charset="0"/>
              </a:rPr>
              <a:t>––;</a:t>
            </a:r>
          </a:p>
          <a:p>
            <a:pPr>
              <a:spcBef>
                <a:spcPct val="0"/>
              </a:spcBef>
              <a:buClrTx/>
              <a:buSzTx/>
              <a:buFontTx/>
              <a:buNone/>
            </a:pPr>
            <a:r>
              <a:rPr lang="en-US" altLang="sr-Latn-RS" sz="1600">
                <a:latin typeface="Arial" panose="020B0604020202020204" pitchFamily="34" charset="0"/>
              </a:rPr>
              <a:t>     }</a:t>
            </a:r>
          </a:p>
          <a:p>
            <a:pPr>
              <a:spcBef>
                <a:spcPct val="0"/>
              </a:spcBef>
              <a:buClrTx/>
              <a:buSzTx/>
              <a:buFontTx/>
              <a:buNone/>
            </a:pPr>
            <a:r>
              <a:rPr lang="en-US" altLang="sr-Latn-RS" sz="1600">
                <a:latin typeface="Arial" panose="020B0604020202020204" pitchFamily="34" charset="0"/>
              </a:rPr>
              <a:t>     </a:t>
            </a:r>
            <a:r>
              <a:rPr lang="en-US" altLang="sr-Latn-RS" sz="1600" i="1">
                <a:latin typeface="Arial" panose="020B0604020202020204" pitchFamily="34" charset="0"/>
              </a:rPr>
              <a:t>x</a:t>
            </a:r>
            <a:r>
              <a:rPr lang="en-US" altLang="sr-Latn-RS" sz="1600">
                <a:latin typeface="Arial" panose="020B0604020202020204" pitchFamily="34" charset="0"/>
              </a:rPr>
              <a:t>++;</a:t>
            </a:r>
          </a:p>
          <a:p>
            <a:pPr>
              <a:spcBef>
                <a:spcPct val="0"/>
              </a:spcBef>
              <a:buClrTx/>
              <a:buSzTx/>
              <a:buFontTx/>
              <a:buNone/>
            </a:pPr>
            <a:r>
              <a:rPr lang="en-US" altLang="sr-Latn-RS" sz="1600">
                <a:latin typeface="Arial" panose="020B0604020202020204" pitchFamily="34" charset="0"/>
              </a:rPr>
              <a:t>     TockeKruznice(</a:t>
            </a:r>
            <a:r>
              <a:rPr lang="en-US" altLang="sr-Latn-RS" sz="1600" i="1">
                <a:latin typeface="Arial" panose="020B0604020202020204" pitchFamily="34" charset="0"/>
              </a:rPr>
              <a:t>x</a:t>
            </a:r>
            <a:r>
              <a:rPr lang="en-US" altLang="sr-Latn-RS" sz="1600">
                <a:latin typeface="Arial" panose="020B0604020202020204" pitchFamily="34" charset="0"/>
              </a:rPr>
              <a:t>, </a:t>
            </a:r>
            <a:r>
              <a:rPr lang="en-US" altLang="sr-Latn-RS" sz="1600" i="1">
                <a:latin typeface="Arial" panose="020B0604020202020204" pitchFamily="34" charset="0"/>
              </a:rPr>
              <a:t>y</a:t>
            </a:r>
            <a:r>
              <a:rPr lang="en-US" altLang="sr-Latn-RS" sz="1600">
                <a:latin typeface="Arial" panose="020B0604020202020204" pitchFamily="34" charset="0"/>
              </a:rPr>
              <a:t>, </a:t>
            </a:r>
            <a:r>
              <a:rPr lang="en-US" altLang="sr-Latn-RS" sz="1600" i="1">
                <a:latin typeface="Arial" panose="020B0604020202020204" pitchFamily="34" charset="0"/>
              </a:rPr>
              <a:t>value</a:t>
            </a:r>
            <a:r>
              <a:rPr lang="en-US" altLang="sr-Latn-RS" sz="1600">
                <a:latin typeface="Arial" panose="020B0604020202020204" pitchFamily="34" charset="0"/>
              </a:rPr>
              <a:t>);</a:t>
            </a:r>
          </a:p>
          <a:p>
            <a:pPr>
              <a:spcBef>
                <a:spcPct val="0"/>
              </a:spcBef>
              <a:buClrTx/>
              <a:buSzTx/>
              <a:buFontTx/>
              <a:buNone/>
            </a:pPr>
            <a:r>
              <a:rPr lang="en-US" altLang="sr-Latn-RS" sz="1600">
                <a:latin typeface="Arial" panose="020B0604020202020204" pitchFamily="34" charset="0"/>
              </a:rPr>
              <a:t>}/* while */</a:t>
            </a:r>
          </a:p>
          <a:p>
            <a:pPr>
              <a:spcBef>
                <a:spcPct val="0"/>
              </a:spcBef>
              <a:buClrTx/>
              <a:buSzTx/>
              <a:buFontTx/>
              <a:buNone/>
            </a:pPr>
            <a:r>
              <a:rPr lang="en-US" altLang="sr-Latn-RS" sz="1600">
                <a:latin typeface="Arial" panose="020B0604020202020204" pitchFamily="34" charset="0"/>
              </a:rPr>
              <a:t>}/* SredTocKruznica  */</a:t>
            </a: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0D265FB-7BE8-41B8-A6D8-9BD71BE876C4}"/>
              </a:ext>
            </a:extLst>
          </p:cNvPr>
          <p:cNvSpPr>
            <a:spLocks noGrp="1"/>
          </p:cNvSpPr>
          <p:nvPr>
            <p:ph type="title"/>
          </p:nvPr>
        </p:nvSpPr>
        <p:spPr>
          <a:xfrm>
            <a:off x="684213" y="476250"/>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8195" name="Date Placeholder 2">
            <a:extLst>
              <a:ext uri="{FF2B5EF4-FFF2-40B4-BE49-F238E27FC236}">
                <a16:creationId xmlns:a16="http://schemas.microsoft.com/office/drawing/2014/main" id="{4DE8799E-BBF0-4975-B33D-577F95940C4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DF3764EA-E8F9-4DB5-8213-106728BEFEF4}"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8196" name="Text Box 12">
            <a:extLst>
              <a:ext uri="{FF2B5EF4-FFF2-40B4-BE49-F238E27FC236}">
                <a16:creationId xmlns:a16="http://schemas.microsoft.com/office/drawing/2014/main" id="{690D7F20-4649-4503-BCB5-B36222A1E27C}"/>
              </a:ext>
            </a:extLst>
          </p:cNvPr>
          <p:cNvSpPr txBox="1">
            <a:spLocks noChangeArrowheads="1"/>
          </p:cNvSpPr>
          <p:nvPr/>
        </p:nvSpPr>
        <p:spPr bwMode="auto">
          <a:xfrm>
            <a:off x="684213" y="1628775"/>
            <a:ext cx="685800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000" dirty="0">
                <a:latin typeface="Arial" panose="020B0604020202020204" pitchFamily="34" charset="0"/>
                <a:cs typeface="Arial" panose="020B0604020202020204" pitchFamily="34" charset="0"/>
              </a:rPr>
              <a:t>	</a:t>
            </a:r>
            <a:r>
              <a:rPr lang="hr-HR" altLang="sr-Latn-RS" sz="2000" b="1" dirty="0">
                <a:latin typeface="Arial" panose="020B0604020202020204" pitchFamily="34" charset="0"/>
                <a:cs typeface="Arial" panose="020B0604020202020204" pitchFamily="34" charset="0"/>
              </a:rPr>
              <a:t>Primitivni oblici:</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Pravokutnici </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Kružnice</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Elipse</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Mnogokuti</a:t>
            </a:r>
          </a:p>
          <a:p>
            <a:pPr algn="just" eaLnBrk="1" hangingPunct="1">
              <a:spcBef>
                <a:spcPct val="50000"/>
              </a:spcBef>
              <a:buClrTx/>
              <a:buSzTx/>
              <a:buFontTx/>
              <a:buNone/>
            </a:pPr>
            <a:r>
              <a:rPr lang="hr-HR" altLang="sr-Latn-RS" sz="2000" dirty="0">
                <a:latin typeface="Arial" panose="020B0604020202020204" pitchFamily="34" charset="0"/>
                <a:cs typeface="Arial" panose="020B0604020202020204" pitchFamily="34" charset="0"/>
              </a:rPr>
              <a:t>	</a:t>
            </a:r>
            <a:r>
              <a:rPr lang="hr-HR" altLang="sr-Latn-RS" sz="2000" b="1" dirty="0">
                <a:latin typeface="Arial" panose="020B0604020202020204" pitchFamily="34" charset="0"/>
                <a:cs typeface="Arial" panose="020B0604020202020204" pitchFamily="34" charset="0"/>
              </a:rPr>
              <a:t>Osnovni koraci:</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Izbor piksela koje treba ispuniti (ovisi o obliku primitiva)</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Izbor vrijednosti koju treba pridijeliti odabranim pikselima (ovisi o načinu ispunjavanja: bojom ili uzorkom)</a:t>
            </a:r>
          </a:p>
        </p:txBody>
      </p:sp>
      <p:pic>
        <p:nvPicPr>
          <p:cNvPr id="5" name="Picture 10">
            <a:extLst>
              <a:ext uri="{FF2B5EF4-FFF2-40B4-BE49-F238E27FC236}">
                <a16:creationId xmlns:a16="http://schemas.microsoft.com/office/drawing/2014/main" id="{13428832-4138-4D13-9660-16AD846767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7" y="2558430"/>
            <a:ext cx="5976664" cy="1015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1">
            <a:extLst>
              <a:ext uri="{FF2B5EF4-FFF2-40B4-BE49-F238E27FC236}">
                <a16:creationId xmlns:a16="http://schemas.microsoft.com/office/drawing/2014/main" id="{38BB816E-99AC-45CB-BBA9-21EBEB93275A}"/>
              </a:ext>
            </a:extLst>
          </p:cNvPr>
          <p:cNvSpPr>
            <a:spLocks noChangeArrowheads="1"/>
          </p:cNvSpPr>
          <p:nvPr/>
        </p:nvSpPr>
        <p:spPr bwMode="auto">
          <a:xfrm>
            <a:off x="5724128" y="2924945"/>
            <a:ext cx="648072" cy="504055"/>
          </a:xfrm>
          <a:prstGeom prst="rect">
            <a:avLst/>
          </a:prstGeom>
          <a:noFill/>
          <a:ln w="41275"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square">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2" name="Rezervirano mjesto broja slajda 1">
            <a:extLst>
              <a:ext uri="{FF2B5EF4-FFF2-40B4-BE49-F238E27FC236}">
                <a16:creationId xmlns:a16="http://schemas.microsoft.com/office/drawing/2014/main" id="{D7228C5A-13E8-FF2D-8A9B-94E5F3E336C5}"/>
              </a:ext>
            </a:extLst>
          </p:cNvPr>
          <p:cNvSpPr>
            <a:spLocks noGrp="1"/>
          </p:cNvSpPr>
          <p:nvPr>
            <p:ph type="sldNum" sz="quarter" idx="12"/>
          </p:nvPr>
        </p:nvSpPr>
        <p:spPr/>
        <p:txBody>
          <a:bodyPr/>
          <a:lstStyle/>
          <a:p>
            <a:fld id="{65A14E20-BA2A-43FD-BB4B-65CF80A0D6DA}" type="slidenum">
              <a:rPr lang="en-GB" altLang="sr-Latn-RS" smtClean="0"/>
              <a:pPr/>
              <a:t>38</a:t>
            </a:fld>
            <a:endParaRPr lang="en-GB" altLang="sr-Latn-R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2">
            <a:extLst>
              <a:ext uri="{FF2B5EF4-FFF2-40B4-BE49-F238E27FC236}">
                <a16:creationId xmlns:a16="http://schemas.microsoft.com/office/drawing/2014/main" id="{DECA9FDD-9056-45DD-A81E-1F93F0BDE72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F4A562B6-6DE1-4704-AEA4-ACFD54342A92}"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0243" name="Text Box 12">
            <a:extLst>
              <a:ext uri="{FF2B5EF4-FFF2-40B4-BE49-F238E27FC236}">
                <a16:creationId xmlns:a16="http://schemas.microsoft.com/office/drawing/2014/main" id="{3A6D4D0D-0A49-4555-AAFC-E9EB5C5F14A4}"/>
              </a:ext>
            </a:extLst>
          </p:cNvPr>
          <p:cNvSpPr txBox="1">
            <a:spLocks noChangeArrowheads="1"/>
          </p:cNvSpPr>
          <p:nvPr/>
        </p:nvSpPr>
        <p:spPr bwMode="auto">
          <a:xfrm>
            <a:off x="755650" y="1624013"/>
            <a:ext cx="7086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400" b="1">
                <a:latin typeface="Times New Roman" panose="02020603050405020304" pitchFamily="18" charset="0"/>
              </a:rPr>
              <a:t>	</a:t>
            </a:r>
            <a:r>
              <a:rPr lang="hr-HR" altLang="sr-Latn-RS" sz="2000" b="1">
                <a:latin typeface="Arial" panose="020B0604020202020204" pitchFamily="34" charset="0"/>
                <a:cs typeface="Arial" panose="020B0604020202020204" pitchFamily="34" charset="0"/>
              </a:rPr>
              <a:t>Pseudo-kod petlje za ispunjavanje pravokutnika:</a:t>
            </a:r>
            <a:endParaRPr lang="hr-HR" altLang="sr-Latn-RS" sz="2000">
              <a:latin typeface="Arial" panose="020B0604020202020204" pitchFamily="34" charset="0"/>
              <a:cs typeface="Arial" panose="020B0604020202020204" pitchFamily="34" charset="0"/>
            </a:endParaRPr>
          </a:p>
        </p:txBody>
      </p:sp>
      <p:sp>
        <p:nvSpPr>
          <p:cNvPr id="10244" name="Text Box 16">
            <a:extLst>
              <a:ext uri="{FF2B5EF4-FFF2-40B4-BE49-F238E27FC236}">
                <a16:creationId xmlns:a16="http://schemas.microsoft.com/office/drawing/2014/main" id="{911F9028-8F23-48DD-9202-54538CF13D58}"/>
              </a:ext>
            </a:extLst>
          </p:cNvPr>
          <p:cNvSpPr txBox="1">
            <a:spLocks noChangeArrowheads="1"/>
          </p:cNvSpPr>
          <p:nvPr/>
        </p:nvSpPr>
        <p:spPr bwMode="auto">
          <a:xfrm>
            <a:off x="900113" y="2205038"/>
            <a:ext cx="7620000" cy="792162"/>
          </a:xfrm>
          <a:prstGeom prst="rect">
            <a:avLst/>
          </a:prstGeom>
          <a:solidFill>
            <a:srgbClr val="C0C0C0"/>
          </a:solidFill>
          <a:ln w="9525">
            <a:solidFill>
              <a:srgbClr val="000000"/>
            </a:solidFill>
            <a:miter lim="800000"/>
            <a:headEnd/>
            <a:tailEnd/>
          </a:ln>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sr-Latn-RS" sz="1400" b="1">
                <a:latin typeface="Courier New" panose="02070309020205020404" pitchFamily="49" charset="0"/>
                <a:cs typeface="Courier New" panose="02070309020205020404" pitchFamily="49" charset="0"/>
              </a:rPr>
              <a:t>for</a:t>
            </a:r>
            <a:r>
              <a:rPr lang="en-US" altLang="sr-Latn-RS" sz="1400">
                <a:latin typeface="Courier New" panose="02070309020205020404" pitchFamily="49" charset="0"/>
                <a:cs typeface="Courier New" panose="02070309020205020404" pitchFamily="49" charset="0"/>
              </a:rPr>
              <a:t> (</a:t>
            </a:r>
            <a:r>
              <a:rPr lang="en-US" altLang="sr-Latn-RS" sz="1400" i="1">
                <a:latin typeface="Courier New" panose="02070309020205020404" pitchFamily="49" charset="0"/>
                <a:cs typeface="Courier New" panose="02070309020205020404" pitchFamily="49" charset="0"/>
              </a:rPr>
              <a:t>y</a:t>
            </a:r>
            <a:r>
              <a:rPr lang="en-US" altLang="sr-Latn-RS" sz="1400">
                <a:latin typeface="Courier New" panose="02070309020205020404" pitchFamily="49" charset="0"/>
                <a:cs typeface="Courier New" panose="02070309020205020404" pitchFamily="49" charset="0"/>
              </a:rPr>
              <a:t> od </a:t>
            </a:r>
            <a:r>
              <a:rPr lang="en-US" altLang="sr-Latn-RS" sz="1400" i="1">
                <a:latin typeface="Courier New" panose="02070309020205020404" pitchFamily="49" charset="0"/>
                <a:cs typeface="Courier New" panose="02070309020205020404" pitchFamily="49" charset="0"/>
              </a:rPr>
              <a:t>y</a:t>
            </a:r>
            <a:r>
              <a:rPr lang="en-US" altLang="sr-Latn-RS" sz="1400" i="1" baseline="-25000">
                <a:latin typeface="Courier New" panose="02070309020205020404" pitchFamily="49" charset="0"/>
                <a:cs typeface="Courier New" panose="02070309020205020404" pitchFamily="49" charset="0"/>
              </a:rPr>
              <a:t>min</a:t>
            </a:r>
            <a:r>
              <a:rPr lang="en-US" altLang="sr-Latn-RS" sz="1400">
                <a:latin typeface="Courier New" panose="02070309020205020404" pitchFamily="49" charset="0"/>
                <a:cs typeface="Courier New" panose="02070309020205020404" pitchFamily="49" charset="0"/>
              </a:rPr>
              <a:t> do </a:t>
            </a:r>
            <a:r>
              <a:rPr lang="en-US" altLang="sr-Latn-RS" sz="1400" i="1">
                <a:latin typeface="Courier New" panose="02070309020205020404" pitchFamily="49" charset="0"/>
                <a:cs typeface="Courier New" panose="02070309020205020404" pitchFamily="49" charset="0"/>
              </a:rPr>
              <a:t>y</a:t>
            </a:r>
            <a:r>
              <a:rPr lang="en-US" altLang="sr-Latn-RS" sz="1400" i="1" baseline="-25000">
                <a:latin typeface="Courier New" panose="02070309020205020404" pitchFamily="49" charset="0"/>
                <a:cs typeface="Courier New" panose="02070309020205020404" pitchFamily="49" charset="0"/>
              </a:rPr>
              <a:t>max</a:t>
            </a:r>
            <a:r>
              <a:rPr lang="en-US" altLang="sr-Latn-RS" sz="1400">
                <a:latin typeface="Courier New" panose="02070309020205020404" pitchFamily="49" charset="0"/>
                <a:cs typeface="Courier New" panose="02070309020205020404" pitchFamily="49" charset="0"/>
              </a:rPr>
              <a:t> </a:t>
            </a:r>
            <a:r>
              <a:rPr lang="en-US" altLang="sr-Latn-RS" sz="1400" i="1">
                <a:latin typeface="Courier New" panose="02070309020205020404" pitchFamily="49" charset="0"/>
                <a:cs typeface="Courier New" panose="02070309020205020404" pitchFamily="49" charset="0"/>
              </a:rPr>
              <a:t>pravokutnika</a:t>
            </a:r>
            <a:r>
              <a:rPr lang="en-US" altLang="sr-Latn-RS" sz="1400">
                <a:latin typeface="Courier New" panose="02070309020205020404" pitchFamily="49" charset="0"/>
                <a:cs typeface="Courier New" panose="02070309020205020404" pitchFamily="49" charset="0"/>
              </a:rPr>
              <a:t>)</a:t>
            </a:r>
            <a:r>
              <a:rPr lang="hr-HR" altLang="sr-Latn-RS" sz="1400">
                <a:latin typeface="Courier New" panose="02070309020205020404" pitchFamily="49" charset="0"/>
                <a:cs typeface="Courier New" panose="02070309020205020404" pitchFamily="49" charset="0"/>
              </a:rPr>
              <a:t>	</a:t>
            </a:r>
            <a:r>
              <a:rPr lang="en-US" altLang="sr-Latn-RS" sz="1400">
                <a:latin typeface="Courier New" panose="02070309020205020404" pitchFamily="49" charset="0"/>
                <a:cs typeface="Courier New" panose="02070309020205020404" pitchFamily="49" charset="0"/>
              </a:rPr>
              <a:t>/*  po liniji skaniranja */</a:t>
            </a:r>
          </a:p>
          <a:p>
            <a:pPr>
              <a:spcBef>
                <a:spcPct val="0"/>
              </a:spcBef>
              <a:buClrTx/>
              <a:buSzTx/>
              <a:buFontTx/>
              <a:buNone/>
            </a:pPr>
            <a:r>
              <a:rPr lang="hr-HR" altLang="sr-Latn-RS" sz="1400" b="1">
                <a:latin typeface="Courier New" panose="02070309020205020404" pitchFamily="49" charset="0"/>
                <a:cs typeface="Courier New" panose="02070309020205020404" pitchFamily="49" charset="0"/>
              </a:rPr>
              <a:t>	</a:t>
            </a:r>
            <a:r>
              <a:rPr lang="en-US" altLang="sr-Latn-RS" sz="1400" b="1">
                <a:latin typeface="Courier New" panose="02070309020205020404" pitchFamily="49" charset="0"/>
                <a:cs typeface="Courier New" panose="02070309020205020404" pitchFamily="49" charset="0"/>
              </a:rPr>
              <a:t>for</a:t>
            </a:r>
            <a:r>
              <a:rPr lang="en-US" altLang="sr-Latn-RS" sz="1400">
                <a:latin typeface="Courier New" panose="02070309020205020404" pitchFamily="49" charset="0"/>
                <a:cs typeface="Courier New" panose="02070309020205020404" pitchFamily="49" charset="0"/>
              </a:rPr>
              <a:t> (</a:t>
            </a:r>
            <a:r>
              <a:rPr lang="en-US" altLang="sr-Latn-RS" sz="1400" i="1">
                <a:latin typeface="Courier New" panose="02070309020205020404" pitchFamily="49" charset="0"/>
                <a:cs typeface="Courier New" panose="02070309020205020404" pitchFamily="49" charset="0"/>
              </a:rPr>
              <a:t>x</a:t>
            </a:r>
            <a:r>
              <a:rPr lang="en-US" altLang="sr-Latn-RS" sz="1400">
                <a:latin typeface="Courier New" panose="02070309020205020404" pitchFamily="49" charset="0"/>
                <a:cs typeface="Courier New" panose="02070309020205020404" pitchFamily="49" charset="0"/>
              </a:rPr>
              <a:t> od </a:t>
            </a:r>
            <a:r>
              <a:rPr lang="en-US" altLang="sr-Latn-RS" sz="1400" i="1">
                <a:latin typeface="Courier New" panose="02070309020205020404" pitchFamily="49" charset="0"/>
                <a:cs typeface="Courier New" panose="02070309020205020404" pitchFamily="49" charset="0"/>
              </a:rPr>
              <a:t>x</a:t>
            </a:r>
            <a:r>
              <a:rPr lang="en-US" altLang="sr-Latn-RS" sz="1400" i="1" baseline="-25000">
                <a:latin typeface="Courier New" panose="02070309020205020404" pitchFamily="49" charset="0"/>
                <a:cs typeface="Courier New" panose="02070309020205020404" pitchFamily="49" charset="0"/>
              </a:rPr>
              <a:t>min</a:t>
            </a:r>
            <a:r>
              <a:rPr lang="en-US" altLang="sr-Latn-RS" sz="1400">
                <a:latin typeface="Courier New" panose="02070309020205020404" pitchFamily="49" charset="0"/>
                <a:cs typeface="Courier New" panose="02070309020205020404" pitchFamily="49" charset="0"/>
              </a:rPr>
              <a:t> do </a:t>
            </a:r>
            <a:r>
              <a:rPr lang="en-US" altLang="sr-Latn-RS" sz="1400" i="1">
                <a:latin typeface="Courier New" panose="02070309020205020404" pitchFamily="49" charset="0"/>
                <a:cs typeface="Courier New" panose="02070309020205020404" pitchFamily="49" charset="0"/>
              </a:rPr>
              <a:t>x</a:t>
            </a:r>
            <a:r>
              <a:rPr lang="en-US" altLang="sr-Latn-RS" sz="1400" i="1" baseline="-25000">
                <a:latin typeface="Courier New" panose="02070309020205020404" pitchFamily="49" charset="0"/>
                <a:cs typeface="Courier New" panose="02070309020205020404" pitchFamily="49" charset="0"/>
              </a:rPr>
              <a:t>max</a:t>
            </a:r>
            <a:r>
              <a:rPr lang="en-US" altLang="sr-Latn-RS" sz="1400">
                <a:latin typeface="Courier New" panose="02070309020205020404" pitchFamily="49" charset="0"/>
                <a:cs typeface="Courier New" panose="02070309020205020404" pitchFamily="49" charset="0"/>
              </a:rPr>
              <a:t>)</a:t>
            </a:r>
            <a:r>
              <a:rPr lang="hr-HR" altLang="sr-Latn-RS" sz="1400">
                <a:latin typeface="Courier New" panose="02070309020205020404" pitchFamily="49" charset="0"/>
                <a:cs typeface="Courier New" panose="02070309020205020404" pitchFamily="49" charset="0"/>
              </a:rPr>
              <a:t>		</a:t>
            </a:r>
            <a:r>
              <a:rPr lang="en-US" altLang="sr-Latn-RS" sz="1400">
                <a:latin typeface="Courier New" panose="02070309020205020404" pitchFamily="49" charset="0"/>
                <a:cs typeface="Courier New" panose="02070309020205020404" pitchFamily="49" charset="0"/>
              </a:rPr>
              <a:t>/*  po pikselu odsječka */</a:t>
            </a:r>
          </a:p>
          <a:p>
            <a:pPr>
              <a:spcBef>
                <a:spcPct val="0"/>
              </a:spcBef>
              <a:buClrTx/>
              <a:buSzTx/>
              <a:buFontTx/>
              <a:buNone/>
            </a:pPr>
            <a:r>
              <a:rPr lang="hr-HR" altLang="sr-Latn-RS" sz="1400">
                <a:latin typeface="Courier New" panose="02070309020205020404" pitchFamily="49" charset="0"/>
                <a:cs typeface="Courier New" panose="02070309020205020404" pitchFamily="49" charset="0"/>
              </a:rPr>
              <a:t>		</a:t>
            </a:r>
            <a:r>
              <a:rPr lang="en-US" altLang="sr-Latn-RS" sz="1400">
                <a:latin typeface="Courier New" panose="02070309020205020404" pitchFamily="49" charset="0"/>
                <a:cs typeface="Courier New" panose="02070309020205020404" pitchFamily="49" charset="0"/>
              </a:rPr>
              <a:t>WritePixel (</a:t>
            </a:r>
            <a:r>
              <a:rPr lang="en-US" altLang="sr-Latn-RS" sz="1400" i="1">
                <a:latin typeface="Courier New" panose="02070309020205020404" pitchFamily="49" charset="0"/>
                <a:cs typeface="Courier New" panose="02070309020205020404" pitchFamily="49" charset="0"/>
              </a:rPr>
              <a:t>x</a:t>
            </a:r>
            <a:r>
              <a:rPr lang="en-US" altLang="sr-Latn-RS" sz="1400">
                <a:latin typeface="Courier New" panose="02070309020205020404" pitchFamily="49" charset="0"/>
                <a:cs typeface="Courier New" panose="02070309020205020404" pitchFamily="49" charset="0"/>
              </a:rPr>
              <a:t>, </a:t>
            </a:r>
            <a:r>
              <a:rPr lang="en-US" altLang="sr-Latn-RS" sz="1400" i="1">
                <a:latin typeface="Courier New" panose="02070309020205020404" pitchFamily="49" charset="0"/>
                <a:cs typeface="Courier New" panose="02070309020205020404" pitchFamily="49" charset="0"/>
              </a:rPr>
              <a:t>y</a:t>
            </a:r>
            <a:r>
              <a:rPr lang="en-US" altLang="sr-Latn-RS" sz="1400">
                <a:latin typeface="Courier New" panose="02070309020205020404" pitchFamily="49" charset="0"/>
                <a:cs typeface="Courier New" panose="02070309020205020404" pitchFamily="49" charset="0"/>
              </a:rPr>
              <a:t>, </a:t>
            </a:r>
            <a:r>
              <a:rPr lang="en-US" altLang="sr-Latn-RS" sz="1400" i="1">
                <a:latin typeface="Courier New" panose="02070309020205020404" pitchFamily="49" charset="0"/>
                <a:cs typeface="Courier New" panose="02070309020205020404" pitchFamily="49" charset="0"/>
              </a:rPr>
              <a:t>value</a:t>
            </a:r>
            <a:r>
              <a:rPr lang="en-US" altLang="sr-Latn-RS" sz="1400">
                <a:latin typeface="Courier New" panose="02070309020205020404" pitchFamily="49" charset="0"/>
                <a:cs typeface="Courier New" panose="02070309020205020404" pitchFamily="49" charset="0"/>
              </a:rPr>
              <a:t>);</a:t>
            </a:r>
          </a:p>
          <a:p>
            <a:pPr>
              <a:spcBef>
                <a:spcPct val="0"/>
              </a:spcBef>
              <a:buClrTx/>
              <a:buSzTx/>
              <a:buFontTx/>
              <a:buNone/>
            </a:pPr>
            <a:endParaRPr lang="en-US" altLang="sr-Latn-RS" sz="2000">
              <a:latin typeface="Arial" panose="020B0604020202020204" pitchFamily="34" charset="0"/>
            </a:endParaRPr>
          </a:p>
          <a:p>
            <a:pPr>
              <a:spcBef>
                <a:spcPct val="0"/>
              </a:spcBef>
              <a:buClrTx/>
              <a:buSzTx/>
              <a:buFontTx/>
              <a:buNone/>
            </a:pPr>
            <a:endParaRPr lang="en-US" altLang="sr-Latn-RS" sz="2000">
              <a:latin typeface="Times New Roman" panose="02020603050405020304" pitchFamily="18" charset="0"/>
            </a:endParaRPr>
          </a:p>
        </p:txBody>
      </p:sp>
      <p:sp>
        <p:nvSpPr>
          <p:cNvPr id="10245" name="Rectangle 2">
            <a:extLst>
              <a:ext uri="{FF2B5EF4-FFF2-40B4-BE49-F238E27FC236}">
                <a16:creationId xmlns:a16="http://schemas.microsoft.com/office/drawing/2014/main" id="{BFBA0F67-BECB-46EA-A211-5C5DC8B6CB6B}"/>
              </a:ext>
            </a:extLst>
          </p:cNvPr>
          <p:cNvSpPr>
            <a:spLocks noGrp="1"/>
          </p:cNvSpPr>
          <p:nvPr>
            <p:ph type="title"/>
          </p:nvPr>
        </p:nvSpPr>
        <p:spPr>
          <a:xfrm>
            <a:off x="684213" y="476250"/>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2" name="Rezervirano mjesto broja slajda 1">
            <a:extLst>
              <a:ext uri="{FF2B5EF4-FFF2-40B4-BE49-F238E27FC236}">
                <a16:creationId xmlns:a16="http://schemas.microsoft.com/office/drawing/2014/main" id="{F65B33CF-48FF-794A-A0B7-DFD660B80BBF}"/>
              </a:ext>
            </a:extLst>
          </p:cNvPr>
          <p:cNvSpPr>
            <a:spLocks noGrp="1"/>
          </p:cNvSpPr>
          <p:nvPr>
            <p:ph type="sldNum" sz="quarter" idx="12"/>
          </p:nvPr>
        </p:nvSpPr>
        <p:spPr/>
        <p:txBody>
          <a:bodyPr/>
          <a:lstStyle/>
          <a:p>
            <a:fld id="{65A14E20-BA2A-43FD-BB4B-65CF80A0D6DA}" type="slidenum">
              <a:rPr lang="en-GB" altLang="sr-Latn-RS" smtClean="0"/>
              <a:pPr/>
              <a:t>39</a:t>
            </a:fld>
            <a:endParaRPr lang="en-GB" altLang="sr-Latn-R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8" descr="Slika211">
            <a:extLst>
              <a:ext uri="{FF2B5EF4-FFF2-40B4-BE49-F238E27FC236}">
                <a16:creationId xmlns:a16="http://schemas.microsoft.com/office/drawing/2014/main" id="{F340B4BB-E48E-40D1-A1C5-626F8B472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6838" y="2017713"/>
            <a:ext cx="5160962" cy="232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Date Placeholder 2">
            <a:extLst>
              <a:ext uri="{FF2B5EF4-FFF2-40B4-BE49-F238E27FC236}">
                <a16:creationId xmlns:a16="http://schemas.microsoft.com/office/drawing/2014/main" id="{F7BFDD52-AA95-49A6-9A8C-C14AB8BFACA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C5C372E1-06B3-4123-AF9A-B3D15329D59F}"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2292" name="Text Box 12">
            <a:extLst>
              <a:ext uri="{FF2B5EF4-FFF2-40B4-BE49-F238E27FC236}">
                <a16:creationId xmlns:a16="http://schemas.microsoft.com/office/drawing/2014/main" id="{0F8F0F20-AC90-4F8D-953A-278B2EACC3A3}"/>
              </a:ext>
            </a:extLst>
          </p:cNvPr>
          <p:cNvSpPr txBox="1">
            <a:spLocks noChangeArrowheads="1"/>
          </p:cNvSpPr>
          <p:nvPr/>
        </p:nvSpPr>
        <p:spPr bwMode="auto">
          <a:xfrm>
            <a:off x="539750" y="1373188"/>
            <a:ext cx="708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400" b="1">
                <a:latin typeface="Times New Roman" panose="02020603050405020304" pitchFamily="18" charset="0"/>
              </a:rPr>
              <a:t>	</a:t>
            </a:r>
            <a:r>
              <a:rPr lang="hr-HR" altLang="sr-Latn-RS" sz="2000" b="1">
                <a:latin typeface="Arial" panose="020B0604020202020204" pitchFamily="34" charset="0"/>
                <a:cs typeface="Arial" panose="020B0604020202020204" pitchFamily="34" charset="0"/>
              </a:rPr>
              <a:t>Izbor piksela za ispunjavanje:</a:t>
            </a:r>
            <a:endParaRPr lang="hr-HR" altLang="sr-Latn-RS" sz="2000">
              <a:latin typeface="Arial" panose="020B0604020202020204" pitchFamily="34" charset="0"/>
              <a:cs typeface="Arial" panose="020B0604020202020204" pitchFamily="34" charset="0"/>
            </a:endParaRPr>
          </a:p>
        </p:txBody>
      </p:sp>
      <p:sp>
        <p:nvSpPr>
          <p:cNvPr id="12293" name="Rectangle 17">
            <a:extLst>
              <a:ext uri="{FF2B5EF4-FFF2-40B4-BE49-F238E27FC236}">
                <a16:creationId xmlns:a16="http://schemas.microsoft.com/office/drawing/2014/main" id="{29296A32-1636-44CA-B3BD-FC51FA5A054F}"/>
              </a:ext>
            </a:extLst>
          </p:cNvPr>
          <p:cNvSpPr>
            <a:spLocks noChangeArrowheads="1"/>
          </p:cNvSpPr>
          <p:nvPr/>
        </p:nvSpPr>
        <p:spPr bwMode="auto">
          <a:xfrm>
            <a:off x="163513" y="1893888"/>
            <a:ext cx="3743325" cy="392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spcAft>
                <a:spcPts val="600"/>
              </a:spcAft>
              <a:buClrTx/>
              <a:buSzTx/>
              <a:buFont typeface="Franklin Gothic Book" panose="020B0503020102020204" pitchFamily="34" charset="0"/>
              <a:buAutoNum type="arabicPeriod"/>
            </a:pPr>
            <a:r>
              <a:rPr lang="hr-HR" altLang="sr-Latn-RS" sz="1800">
                <a:latin typeface="Arial" panose="020B0604020202020204" pitchFamily="34" charset="0"/>
                <a:cs typeface="Arial" panose="020B0604020202020204" pitchFamily="34" charset="0"/>
              </a:rPr>
              <a:t>skeniranje po horizontalnim crtama (retcima piksela);</a:t>
            </a:r>
          </a:p>
          <a:p>
            <a:pPr eaLnBrk="1" hangingPunct="1">
              <a:spcBef>
                <a:spcPct val="0"/>
              </a:spcBef>
              <a:spcAft>
                <a:spcPts val="600"/>
              </a:spcAft>
              <a:buClrTx/>
              <a:buSzTx/>
              <a:buFont typeface="Franklin Gothic Book" panose="020B0503020102020204" pitchFamily="34" charset="0"/>
              <a:buAutoNum type="arabicPeriod"/>
            </a:pPr>
            <a:r>
              <a:rPr lang="hr-HR" altLang="sr-Latn-RS" sz="1800">
                <a:latin typeface="Arial" panose="020B0604020202020204" pitchFamily="34" charset="0"/>
                <a:cs typeface="Arial" panose="020B0604020202020204" pitchFamily="34" charset="0"/>
              </a:rPr>
              <a:t>proračun presjecišta horizontalne crte i primitivnog oblika inkrementalnim algoritmom (odabiru se točke koje leže unutar oblika);</a:t>
            </a:r>
          </a:p>
          <a:p>
            <a:pPr eaLnBrk="1" hangingPunct="1">
              <a:spcBef>
                <a:spcPct val="0"/>
              </a:spcBef>
              <a:spcAft>
                <a:spcPts val="600"/>
              </a:spcAft>
              <a:buClrTx/>
              <a:buSzTx/>
              <a:buFont typeface="Franklin Gothic Book" panose="020B0503020102020204" pitchFamily="34" charset="0"/>
              <a:buAutoNum type="arabicPeriod"/>
            </a:pPr>
            <a:r>
              <a:rPr lang="hr-HR" altLang="sr-Latn-RS" sz="1800">
                <a:latin typeface="Arial" panose="020B0604020202020204" pitchFamily="34" charset="0"/>
                <a:cs typeface="Arial" panose="020B0604020202020204" pitchFamily="34" charset="0"/>
              </a:rPr>
              <a:t>poredavanje presjecišta po veličini x koordinate;</a:t>
            </a:r>
          </a:p>
          <a:p>
            <a:pPr eaLnBrk="1" hangingPunct="1">
              <a:spcBef>
                <a:spcPct val="0"/>
              </a:spcBef>
              <a:spcAft>
                <a:spcPts val="600"/>
              </a:spcAft>
              <a:buClrTx/>
              <a:buSzTx/>
              <a:buFont typeface="Franklin Gothic Book" panose="020B0503020102020204" pitchFamily="34" charset="0"/>
              <a:buAutoNum type="arabicPeriod"/>
            </a:pPr>
            <a:r>
              <a:rPr lang="hr-HR" altLang="sr-Latn-RS" sz="1800">
                <a:solidFill>
                  <a:srgbClr val="0070C0"/>
                </a:solidFill>
                <a:latin typeface="Arial" panose="020B0604020202020204" pitchFamily="34" charset="0"/>
                <a:cs typeface="Arial" panose="020B0604020202020204" pitchFamily="34" charset="0"/>
              </a:rPr>
              <a:t>ispunjavanje odsječaka koji leže unutar primitivnog (između neparnih i parnih presjecišta).</a:t>
            </a:r>
            <a:endParaRPr lang="en-GB" altLang="sr-Latn-RS" sz="1800">
              <a:solidFill>
                <a:srgbClr val="0070C0"/>
              </a:solidFill>
              <a:latin typeface="Arial" panose="020B0604020202020204" pitchFamily="34" charset="0"/>
              <a:cs typeface="Arial" panose="020B0604020202020204" pitchFamily="34" charset="0"/>
            </a:endParaRPr>
          </a:p>
        </p:txBody>
      </p:sp>
      <p:sp>
        <p:nvSpPr>
          <p:cNvPr id="12294" name="Rectangle 2">
            <a:extLst>
              <a:ext uri="{FF2B5EF4-FFF2-40B4-BE49-F238E27FC236}">
                <a16:creationId xmlns:a16="http://schemas.microsoft.com/office/drawing/2014/main" id="{231ED1FE-EA35-4D00-B6AA-55E778007315}"/>
              </a:ext>
            </a:extLst>
          </p:cNvPr>
          <p:cNvSpPr>
            <a:spLocks noGrp="1"/>
          </p:cNvSpPr>
          <p:nvPr>
            <p:ph type="title"/>
          </p:nvPr>
        </p:nvSpPr>
        <p:spPr>
          <a:xfrm>
            <a:off x="658813" y="333375"/>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12295" name="Text Box 12">
            <a:extLst>
              <a:ext uri="{FF2B5EF4-FFF2-40B4-BE49-F238E27FC236}">
                <a16:creationId xmlns:a16="http://schemas.microsoft.com/office/drawing/2014/main" id="{3AC0767D-2638-4170-A2ED-3899B5A14AD4}"/>
              </a:ext>
            </a:extLst>
          </p:cNvPr>
          <p:cNvSpPr txBox="1">
            <a:spLocks noChangeArrowheads="1"/>
          </p:cNvSpPr>
          <p:nvPr/>
        </p:nvSpPr>
        <p:spPr bwMode="auto">
          <a:xfrm>
            <a:off x="3906838" y="4652963"/>
            <a:ext cx="50577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1400">
                <a:latin typeface="Arial" panose="020B0604020202020204" pitchFamily="34" charset="0"/>
                <a:cs typeface="Arial" panose="020B0604020202020204" pitchFamily="34" charset="0"/>
              </a:rPr>
              <a:t>	a)  Rubni pikseli izračunati algoritmom središnje točke    </a:t>
            </a:r>
          </a:p>
          <a:p>
            <a:pPr algn="just" eaLnBrk="1" hangingPunct="1">
              <a:spcBef>
                <a:spcPct val="50000"/>
              </a:spcBef>
              <a:buClrTx/>
              <a:buSzTx/>
              <a:buFontTx/>
              <a:buNone/>
            </a:pPr>
            <a:r>
              <a:rPr lang="hr-HR" altLang="sr-Latn-RS" sz="1400">
                <a:latin typeface="Arial" panose="020B0604020202020204" pitchFamily="34" charset="0"/>
                <a:cs typeface="Arial" panose="020B0604020202020204" pitchFamily="34" charset="0"/>
              </a:rPr>
              <a:t>	b)  Poligon sa unutrašnjim rubnim točkama</a:t>
            </a:r>
          </a:p>
        </p:txBody>
      </p:sp>
      <p:sp>
        <p:nvSpPr>
          <p:cNvPr id="2" name="Rezervirano mjesto broja slajda 1">
            <a:extLst>
              <a:ext uri="{FF2B5EF4-FFF2-40B4-BE49-F238E27FC236}">
                <a16:creationId xmlns:a16="http://schemas.microsoft.com/office/drawing/2014/main" id="{9605D19B-7F3A-3B2C-564F-B53DD7E76420}"/>
              </a:ext>
            </a:extLst>
          </p:cNvPr>
          <p:cNvSpPr>
            <a:spLocks noGrp="1"/>
          </p:cNvSpPr>
          <p:nvPr>
            <p:ph type="sldNum" sz="quarter" idx="12"/>
          </p:nvPr>
        </p:nvSpPr>
        <p:spPr/>
        <p:txBody>
          <a:bodyPr/>
          <a:lstStyle/>
          <a:p>
            <a:fld id="{65A14E20-BA2A-43FD-BB4B-65CF80A0D6DA}" type="slidenum">
              <a:rPr lang="en-GB" altLang="sr-Latn-RS" smtClean="0"/>
              <a:pPr/>
              <a:t>40</a:t>
            </a:fld>
            <a:endParaRPr lang="en-GB" altLang="sr-Latn-R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Date Placeholder 2">
            <a:extLst>
              <a:ext uri="{FF2B5EF4-FFF2-40B4-BE49-F238E27FC236}">
                <a16:creationId xmlns:a16="http://schemas.microsoft.com/office/drawing/2014/main" id="{D9CAD44B-BA75-4A18-A374-CBF7A8E1910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ECDA9D9B-7DA4-4E43-9402-BCC0B891C3AE}"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4339" name="Text Box 12">
            <a:extLst>
              <a:ext uri="{FF2B5EF4-FFF2-40B4-BE49-F238E27FC236}">
                <a16:creationId xmlns:a16="http://schemas.microsoft.com/office/drawing/2014/main" id="{2C3D4E2C-4EFC-40A9-86A4-188A9ED9BF75}"/>
              </a:ext>
            </a:extLst>
          </p:cNvPr>
          <p:cNvSpPr txBox="1">
            <a:spLocks noChangeArrowheads="1"/>
          </p:cNvSpPr>
          <p:nvPr/>
        </p:nvSpPr>
        <p:spPr bwMode="auto">
          <a:xfrm>
            <a:off x="533400" y="1905000"/>
            <a:ext cx="8431213"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4.1. Ako je zadan jedan presjek sa proizvoljnom vrijednošću x-a, kako određujemo s koje strane presjeka je unutrašnji piksel?</a:t>
            </a:r>
          </a:p>
          <a:p>
            <a:pPr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4.2. Kako se ponašamo u slučaju presjeka na cjelobrojnim  vrijednostima koordinata piksela?</a:t>
            </a:r>
          </a:p>
          <a:p>
            <a:pPr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4.3. Što radimo sa specijalnim slučajem 4.2 za zajedničke vrhove?</a:t>
            </a:r>
          </a:p>
          <a:p>
            <a:pPr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4.4. Što radimo sa specijalnim slučajem 4.2 kada vrhovi određuju horizontalni rub? </a:t>
            </a:r>
          </a:p>
        </p:txBody>
      </p:sp>
      <p:sp>
        <p:nvSpPr>
          <p:cNvPr id="14340" name="Rectangle 2">
            <a:extLst>
              <a:ext uri="{FF2B5EF4-FFF2-40B4-BE49-F238E27FC236}">
                <a16:creationId xmlns:a16="http://schemas.microsoft.com/office/drawing/2014/main" id="{65C254F6-1F2D-41BE-9F68-2CB19C6281C3}"/>
              </a:ext>
            </a:extLst>
          </p:cNvPr>
          <p:cNvSpPr>
            <a:spLocks noGrp="1"/>
          </p:cNvSpPr>
          <p:nvPr>
            <p:ph type="title"/>
          </p:nvPr>
        </p:nvSpPr>
        <p:spPr>
          <a:xfrm>
            <a:off x="684213" y="476250"/>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2" name="Rezervirano mjesto broja slajda 1">
            <a:extLst>
              <a:ext uri="{FF2B5EF4-FFF2-40B4-BE49-F238E27FC236}">
                <a16:creationId xmlns:a16="http://schemas.microsoft.com/office/drawing/2014/main" id="{F99FFB31-7265-9166-09CE-71C0FE5159E0}"/>
              </a:ext>
            </a:extLst>
          </p:cNvPr>
          <p:cNvSpPr>
            <a:spLocks noGrp="1"/>
          </p:cNvSpPr>
          <p:nvPr>
            <p:ph type="sldNum" sz="quarter" idx="12"/>
          </p:nvPr>
        </p:nvSpPr>
        <p:spPr/>
        <p:txBody>
          <a:bodyPr/>
          <a:lstStyle/>
          <a:p>
            <a:fld id="{65A14E20-BA2A-43FD-BB4B-65CF80A0D6DA}" type="slidenum">
              <a:rPr lang="en-GB" altLang="sr-Latn-RS" smtClean="0"/>
              <a:pPr/>
              <a:t>41</a:t>
            </a:fld>
            <a:endParaRPr lang="en-GB" altLang="sr-Latn-R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7" descr="Slika210">
            <a:extLst>
              <a:ext uri="{FF2B5EF4-FFF2-40B4-BE49-F238E27FC236}">
                <a16:creationId xmlns:a16="http://schemas.microsoft.com/office/drawing/2014/main" id="{657ABBA2-45F0-4B3C-A4BE-4520172BA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4292600"/>
            <a:ext cx="2903538"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Date Placeholder 2">
            <a:extLst>
              <a:ext uri="{FF2B5EF4-FFF2-40B4-BE49-F238E27FC236}">
                <a16:creationId xmlns:a16="http://schemas.microsoft.com/office/drawing/2014/main" id="{4D148A8C-34E6-4A2E-92AD-DBAD32DEFF6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13E7B1DF-8D75-4E8A-9902-DB41D803BDC3}"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6388" name="Text Box 12">
            <a:extLst>
              <a:ext uri="{FF2B5EF4-FFF2-40B4-BE49-F238E27FC236}">
                <a16:creationId xmlns:a16="http://schemas.microsoft.com/office/drawing/2014/main" id="{5FD16F19-5435-4CC2-9683-4180AE84AD33}"/>
              </a:ext>
            </a:extLst>
          </p:cNvPr>
          <p:cNvSpPr txBox="1">
            <a:spLocks noChangeArrowheads="1"/>
          </p:cNvSpPr>
          <p:nvPr/>
        </p:nvSpPr>
        <p:spPr bwMode="auto">
          <a:xfrm>
            <a:off x="1588" y="1341438"/>
            <a:ext cx="8763000"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	4.1. Ako je zadan jedan presjek sa proizvoljnom vrijednošću x-a, kako određujemo s koje strane presjeka je unutrašnji piksel?</a:t>
            </a:r>
          </a:p>
          <a:p>
            <a:pPr algn="just" eaLnBrk="1" hangingPunct="1">
              <a:spcBef>
                <a:spcPct val="50000"/>
              </a:spcBef>
              <a:buClrTx/>
              <a:buSzTx/>
              <a:buFontTx/>
              <a:buNone/>
            </a:pPr>
            <a:r>
              <a:rPr lang="hr-HR" altLang="sr-Latn-RS" sz="2000" b="1">
                <a:latin typeface="Arial" panose="020B0604020202020204" pitchFamily="34" charset="0"/>
                <a:cs typeface="Arial" panose="020B0604020202020204" pitchFamily="34" charset="0"/>
              </a:rPr>
              <a:t>	Rješenje:</a:t>
            </a:r>
          </a:p>
          <a:p>
            <a:pPr algn="just"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	Ako se približavamo </a:t>
            </a:r>
            <a:r>
              <a:rPr lang="hr-HR" altLang="sr-Latn-RS" sz="2000">
                <a:solidFill>
                  <a:srgbClr val="0070C0"/>
                </a:solidFill>
                <a:latin typeface="Arial" panose="020B0604020202020204" pitchFamily="34" charset="0"/>
                <a:cs typeface="Arial" panose="020B0604020202020204" pitchFamily="34" charset="0"/>
              </a:rPr>
              <a:t>necjelobrojnom</a:t>
            </a:r>
            <a:r>
              <a:rPr lang="hr-HR" altLang="sr-Latn-RS" sz="2000">
                <a:latin typeface="Arial" panose="020B0604020202020204" pitchFamily="34" charset="0"/>
                <a:cs typeface="Arial" panose="020B0604020202020204" pitchFamily="34" charset="0"/>
              </a:rPr>
              <a:t> presjeku koji je s desne strane i nalazimo se unutar poligona, </a:t>
            </a:r>
            <a:r>
              <a:rPr lang="hr-HR" altLang="sr-Latn-RS" sz="2000" i="1">
                <a:latin typeface="Arial" panose="020B0604020202020204" pitchFamily="34" charset="0"/>
                <a:cs typeface="Arial" panose="020B0604020202020204" pitchFamily="34" charset="0"/>
              </a:rPr>
              <a:t>x</a:t>
            </a:r>
            <a:r>
              <a:rPr lang="hr-HR" altLang="sr-Latn-RS" sz="2000">
                <a:latin typeface="Arial" panose="020B0604020202020204" pitchFamily="34" charset="0"/>
                <a:cs typeface="Arial" panose="020B0604020202020204" pitchFamily="34" charset="0"/>
              </a:rPr>
              <a:t> koordinatu presjeka ćemo zaokružiti na manju vrijednost. </a:t>
            </a:r>
          </a:p>
          <a:p>
            <a:pPr algn="just"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	Ako se nalazimo izvan poligona, zaokružit ćemo </a:t>
            </a:r>
            <a:r>
              <a:rPr lang="hr-HR" altLang="sr-Latn-RS" sz="2000" i="1">
                <a:latin typeface="Arial" panose="020B0604020202020204" pitchFamily="34" charset="0"/>
                <a:cs typeface="Arial" panose="020B0604020202020204" pitchFamily="34" charset="0"/>
              </a:rPr>
              <a:t>x</a:t>
            </a:r>
            <a:r>
              <a:rPr lang="hr-HR" altLang="sr-Latn-RS" sz="2000">
                <a:latin typeface="Arial" panose="020B0604020202020204" pitchFamily="34" charset="0"/>
                <a:cs typeface="Arial" panose="020B0604020202020204" pitchFamily="34" charset="0"/>
              </a:rPr>
              <a:t> koordinatu presjeka na veću vrijednost kako bi odabrani piksel bio unutar poligona. </a:t>
            </a:r>
          </a:p>
        </p:txBody>
      </p:sp>
      <p:sp>
        <p:nvSpPr>
          <p:cNvPr id="16389" name="Rectangle 2">
            <a:extLst>
              <a:ext uri="{FF2B5EF4-FFF2-40B4-BE49-F238E27FC236}">
                <a16:creationId xmlns:a16="http://schemas.microsoft.com/office/drawing/2014/main" id="{B168FB5E-4BBF-472D-89D0-D72F2B3AD501}"/>
              </a:ext>
            </a:extLst>
          </p:cNvPr>
          <p:cNvSpPr>
            <a:spLocks noGrp="1"/>
          </p:cNvSpPr>
          <p:nvPr>
            <p:ph type="title"/>
          </p:nvPr>
        </p:nvSpPr>
        <p:spPr>
          <a:xfrm>
            <a:off x="658813" y="333375"/>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16390" name="Text Box 19">
            <a:extLst>
              <a:ext uri="{FF2B5EF4-FFF2-40B4-BE49-F238E27FC236}">
                <a16:creationId xmlns:a16="http://schemas.microsoft.com/office/drawing/2014/main" id="{B000DC80-617B-4289-8821-F6A5BE29DB16}"/>
              </a:ext>
            </a:extLst>
          </p:cNvPr>
          <p:cNvSpPr txBox="1">
            <a:spLocks noChangeArrowheads="1"/>
          </p:cNvSpPr>
          <p:nvPr/>
        </p:nvSpPr>
        <p:spPr bwMode="auto">
          <a:xfrm>
            <a:off x="3924300" y="5229225"/>
            <a:ext cx="259080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hr-HR" altLang="sr-Latn-RS" sz="2400">
                <a:latin typeface="Times New Roman" panose="02020603050405020304" pitchFamily="18" charset="0"/>
              </a:rPr>
              <a:t>	</a:t>
            </a:r>
            <a:r>
              <a:rPr lang="hr-HR" altLang="sr-Latn-RS" sz="1800">
                <a:latin typeface="Arial" panose="020B0604020202020204" pitchFamily="34" charset="0"/>
                <a:cs typeface="Arial" panose="020B0604020202020204" pitchFamily="34" charset="0"/>
              </a:rPr>
              <a:t>a, d – cjelobrojni</a:t>
            </a:r>
          </a:p>
          <a:p>
            <a:pPr eaLnBrk="1" hangingPunct="1">
              <a:spcBef>
                <a:spcPct val="50000"/>
              </a:spcBef>
              <a:buClrTx/>
              <a:buSzTx/>
              <a:buFontTx/>
              <a:buNone/>
            </a:pPr>
            <a:r>
              <a:rPr lang="hr-HR" altLang="sr-Latn-RS" sz="1800">
                <a:latin typeface="Arial" panose="020B0604020202020204" pitchFamily="34" charset="0"/>
                <a:cs typeface="Arial" panose="020B0604020202020204" pitchFamily="34" charset="0"/>
              </a:rPr>
              <a:t>	</a:t>
            </a:r>
            <a:r>
              <a:rPr lang="hr-HR" altLang="sr-Latn-RS" sz="1800">
                <a:solidFill>
                  <a:srgbClr val="0070C0"/>
                </a:solidFill>
                <a:latin typeface="Arial" panose="020B0604020202020204" pitchFamily="34" charset="0"/>
                <a:cs typeface="Arial" panose="020B0604020202020204" pitchFamily="34" charset="0"/>
              </a:rPr>
              <a:t>b, c - necjelobrojni</a:t>
            </a:r>
          </a:p>
        </p:txBody>
      </p:sp>
      <p:sp>
        <p:nvSpPr>
          <p:cNvPr id="2" name="Rezervirano mjesto broja slajda 1">
            <a:extLst>
              <a:ext uri="{FF2B5EF4-FFF2-40B4-BE49-F238E27FC236}">
                <a16:creationId xmlns:a16="http://schemas.microsoft.com/office/drawing/2014/main" id="{B561F81F-DD75-5DE0-5335-12914359E9F1}"/>
              </a:ext>
            </a:extLst>
          </p:cNvPr>
          <p:cNvSpPr>
            <a:spLocks noGrp="1"/>
          </p:cNvSpPr>
          <p:nvPr>
            <p:ph type="sldNum" sz="quarter" idx="12"/>
          </p:nvPr>
        </p:nvSpPr>
        <p:spPr/>
        <p:txBody>
          <a:bodyPr/>
          <a:lstStyle/>
          <a:p>
            <a:fld id="{65A14E20-BA2A-43FD-BB4B-65CF80A0D6DA}" type="slidenum">
              <a:rPr lang="en-GB" altLang="sr-Latn-RS" smtClean="0"/>
              <a:pPr/>
              <a:t>42</a:t>
            </a:fld>
            <a:endParaRPr lang="en-GB" altLang="sr-Latn-R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2">
            <a:extLst>
              <a:ext uri="{FF2B5EF4-FFF2-40B4-BE49-F238E27FC236}">
                <a16:creationId xmlns:a16="http://schemas.microsoft.com/office/drawing/2014/main" id="{6C2FA497-5746-4E11-9831-8AB02345BC1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6BE4D51A-A15A-4E15-90DF-9106E91AC02C}"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18435" name="Rectangle 3">
            <a:extLst>
              <a:ext uri="{FF2B5EF4-FFF2-40B4-BE49-F238E27FC236}">
                <a16:creationId xmlns:a16="http://schemas.microsoft.com/office/drawing/2014/main" id="{0A028AA0-D95C-47E1-B035-7094ED61FF33}"/>
              </a:ext>
            </a:extLst>
          </p:cNvPr>
          <p:cNvSpPr>
            <a:spLocks noChangeArrowheads="1"/>
          </p:cNvSpPr>
          <p:nvPr/>
        </p:nvSpPr>
        <p:spPr bwMode="auto">
          <a:xfrm>
            <a:off x="1695450" y="2557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8436" name="Rectangle 4">
            <a:extLst>
              <a:ext uri="{FF2B5EF4-FFF2-40B4-BE49-F238E27FC236}">
                <a16:creationId xmlns:a16="http://schemas.microsoft.com/office/drawing/2014/main" id="{0DF628A5-C51C-493F-8ADB-21AF10CCF135}"/>
              </a:ext>
            </a:extLst>
          </p:cNvPr>
          <p:cNvSpPr>
            <a:spLocks noChangeArrowheads="1"/>
          </p:cNvSpPr>
          <p:nvPr/>
        </p:nvSpPr>
        <p:spPr bwMode="auto">
          <a:xfrm>
            <a:off x="3371850" y="2681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pSp>
        <p:nvGrpSpPr>
          <p:cNvPr id="18437" name="Group 5">
            <a:extLst>
              <a:ext uri="{FF2B5EF4-FFF2-40B4-BE49-F238E27FC236}">
                <a16:creationId xmlns:a16="http://schemas.microsoft.com/office/drawing/2014/main" id="{406EF8A5-B6C2-4586-96F4-BD56AF6F82D3}"/>
              </a:ext>
            </a:extLst>
          </p:cNvPr>
          <p:cNvGrpSpPr>
            <a:grpSpLocks/>
          </p:cNvGrpSpPr>
          <p:nvPr/>
        </p:nvGrpSpPr>
        <p:grpSpPr bwMode="auto">
          <a:xfrm>
            <a:off x="3994150" y="3148013"/>
            <a:ext cx="7097713" cy="0"/>
            <a:chOff x="43" y="0"/>
            <a:chExt cx="4471" cy="0"/>
          </a:xfrm>
        </p:grpSpPr>
        <p:sp>
          <p:nvSpPr>
            <p:cNvPr id="18450" name="Rectangle 6">
              <a:extLst>
                <a:ext uri="{FF2B5EF4-FFF2-40B4-BE49-F238E27FC236}">
                  <a16:creationId xmlns:a16="http://schemas.microsoft.com/office/drawing/2014/main" id="{4A2268FD-38DE-43CB-B37A-E0CB3A8D4B20}"/>
                </a:ext>
              </a:extLst>
            </p:cNvPr>
            <p:cNvSpPr>
              <a:spLocks noChangeArrowheads="1"/>
            </p:cNvSpPr>
            <p:nvPr/>
          </p:nvSpPr>
          <p:spPr bwMode="auto">
            <a:xfrm>
              <a:off x="43" y="0"/>
              <a:ext cx="242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8451" name="Rectangle 7">
              <a:extLst>
                <a:ext uri="{FF2B5EF4-FFF2-40B4-BE49-F238E27FC236}">
                  <a16:creationId xmlns:a16="http://schemas.microsoft.com/office/drawing/2014/main" id="{1C2B82CB-0078-4E97-96C2-7B04EE9A714D}"/>
                </a:ext>
              </a:extLst>
            </p:cNvPr>
            <p:cNvSpPr>
              <a:spLocks noChangeArrowheads="1"/>
            </p:cNvSpPr>
            <p:nvPr/>
          </p:nvSpPr>
          <p:spPr bwMode="auto">
            <a:xfrm>
              <a:off x="2471" y="0"/>
              <a:ext cx="204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pSp>
      <p:sp>
        <p:nvSpPr>
          <p:cNvPr id="18438" name="Rectangle 8">
            <a:extLst>
              <a:ext uri="{FF2B5EF4-FFF2-40B4-BE49-F238E27FC236}">
                <a16:creationId xmlns:a16="http://schemas.microsoft.com/office/drawing/2014/main" id="{433E4E86-FC13-4643-B691-8C0DD4D9E2C7}"/>
              </a:ext>
            </a:extLst>
          </p:cNvPr>
          <p:cNvSpPr>
            <a:spLocks noChangeArrowheads="1"/>
          </p:cNvSpPr>
          <p:nvPr/>
        </p:nvSpPr>
        <p:spPr bwMode="auto">
          <a:xfrm>
            <a:off x="3486150" y="2657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8439" name="Rectangle 9">
            <a:extLst>
              <a:ext uri="{FF2B5EF4-FFF2-40B4-BE49-F238E27FC236}">
                <a16:creationId xmlns:a16="http://schemas.microsoft.com/office/drawing/2014/main" id="{7A822766-65DF-4312-96E0-4085CA5578F4}"/>
              </a:ext>
            </a:extLst>
          </p:cNvPr>
          <p:cNvSpPr>
            <a:spLocks noChangeArrowheads="1"/>
          </p:cNvSpPr>
          <p:nvPr/>
        </p:nvSpPr>
        <p:spPr bwMode="auto">
          <a:xfrm>
            <a:off x="3143250" y="2695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8440" name="Rectangle 10">
            <a:extLst>
              <a:ext uri="{FF2B5EF4-FFF2-40B4-BE49-F238E27FC236}">
                <a16:creationId xmlns:a16="http://schemas.microsoft.com/office/drawing/2014/main" id="{D612C5D0-EA8C-4E63-913E-207A620C17E3}"/>
              </a:ext>
            </a:extLst>
          </p:cNvPr>
          <p:cNvSpPr>
            <a:spLocks noChangeArrowheads="1"/>
          </p:cNvSpPr>
          <p:nvPr/>
        </p:nvSpPr>
        <p:spPr bwMode="auto">
          <a:xfrm>
            <a:off x="2833688" y="251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8441" name="Rectangle 11">
            <a:extLst>
              <a:ext uri="{FF2B5EF4-FFF2-40B4-BE49-F238E27FC236}">
                <a16:creationId xmlns:a16="http://schemas.microsoft.com/office/drawing/2014/main" id="{D54E898B-CE3D-4469-8BE3-604A964C4041}"/>
              </a:ext>
            </a:extLst>
          </p:cNvPr>
          <p:cNvSpPr>
            <a:spLocks noChangeArrowheads="1"/>
          </p:cNvSpPr>
          <p:nvPr/>
        </p:nvSpPr>
        <p:spPr bwMode="auto">
          <a:xfrm>
            <a:off x="3009900" y="2252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8442" name="Text Box 12">
            <a:extLst>
              <a:ext uri="{FF2B5EF4-FFF2-40B4-BE49-F238E27FC236}">
                <a16:creationId xmlns:a16="http://schemas.microsoft.com/office/drawing/2014/main" id="{9CAA6293-F099-4E11-97A5-1DA06EC2ADF4}"/>
              </a:ext>
            </a:extLst>
          </p:cNvPr>
          <p:cNvSpPr txBox="1">
            <a:spLocks noChangeArrowheads="1"/>
          </p:cNvSpPr>
          <p:nvPr/>
        </p:nvSpPr>
        <p:spPr bwMode="auto">
          <a:xfrm>
            <a:off x="17463" y="1706563"/>
            <a:ext cx="88201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400">
                <a:latin typeface="Times New Roman" panose="02020603050405020304" pitchFamily="18" charset="0"/>
                <a:cs typeface="Times New Roman" panose="02020603050405020304" pitchFamily="18" charset="0"/>
              </a:rPr>
              <a:t>	</a:t>
            </a:r>
            <a:r>
              <a:rPr lang="hr-HR" altLang="sr-Latn-RS" sz="2000">
                <a:latin typeface="Arial" panose="020B0604020202020204" pitchFamily="34" charset="0"/>
                <a:cs typeface="Arial" panose="020B0604020202020204" pitchFamily="34" charset="0"/>
              </a:rPr>
              <a:t>4.2. Kako se ponašamo u slučaju presjeka na </a:t>
            </a:r>
            <a:r>
              <a:rPr lang="hr-HR" altLang="sr-Latn-RS" sz="2000">
                <a:solidFill>
                  <a:srgbClr val="00B050"/>
                </a:solidFill>
                <a:latin typeface="Arial" panose="020B0604020202020204" pitchFamily="34" charset="0"/>
                <a:cs typeface="Arial" panose="020B0604020202020204" pitchFamily="34" charset="0"/>
              </a:rPr>
              <a:t>cjelobrojnim</a:t>
            </a:r>
            <a:r>
              <a:rPr lang="hr-HR" altLang="sr-Latn-RS" sz="2000">
                <a:latin typeface="Arial" panose="020B0604020202020204" pitchFamily="34" charset="0"/>
                <a:cs typeface="Arial" panose="020B0604020202020204" pitchFamily="34" charset="0"/>
              </a:rPr>
              <a:t> vrijednostima koordinata piksela?</a:t>
            </a:r>
          </a:p>
        </p:txBody>
      </p:sp>
      <p:sp>
        <p:nvSpPr>
          <p:cNvPr id="18443" name="Rectangle 13">
            <a:extLst>
              <a:ext uri="{FF2B5EF4-FFF2-40B4-BE49-F238E27FC236}">
                <a16:creationId xmlns:a16="http://schemas.microsoft.com/office/drawing/2014/main" id="{FBF66623-2A94-4260-9974-A68AADCD3200}"/>
              </a:ext>
            </a:extLst>
          </p:cNvPr>
          <p:cNvSpPr>
            <a:spLocks noChangeArrowheads="1"/>
          </p:cNvSpPr>
          <p:nvPr/>
        </p:nvSpPr>
        <p:spPr bwMode="auto">
          <a:xfrm>
            <a:off x="1714500" y="2476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18444" name="Rectangle 14">
            <a:extLst>
              <a:ext uri="{FF2B5EF4-FFF2-40B4-BE49-F238E27FC236}">
                <a16:creationId xmlns:a16="http://schemas.microsoft.com/office/drawing/2014/main" id="{4EC607D5-7EAA-4905-84C6-BCBC423DB2CD}"/>
              </a:ext>
            </a:extLst>
          </p:cNvPr>
          <p:cNvSpPr>
            <a:spLocks noChangeArrowheads="1"/>
          </p:cNvSpPr>
          <p:nvPr/>
        </p:nvSpPr>
        <p:spPr bwMode="auto">
          <a:xfrm>
            <a:off x="2776538" y="1371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pic>
        <p:nvPicPr>
          <p:cNvPr id="18445" name="Picture 17" descr="Slika210">
            <a:extLst>
              <a:ext uri="{FF2B5EF4-FFF2-40B4-BE49-F238E27FC236}">
                <a16:creationId xmlns:a16="http://schemas.microsoft.com/office/drawing/2014/main" id="{DB7784DD-0073-4783-8ED4-5DEA95BF71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6450" y="2844800"/>
            <a:ext cx="2855913"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6" name="Text Box 12">
            <a:extLst>
              <a:ext uri="{FF2B5EF4-FFF2-40B4-BE49-F238E27FC236}">
                <a16:creationId xmlns:a16="http://schemas.microsoft.com/office/drawing/2014/main" id="{2CF81160-20BA-4D48-9576-1136760AC1D3}"/>
              </a:ext>
            </a:extLst>
          </p:cNvPr>
          <p:cNvSpPr txBox="1">
            <a:spLocks noChangeArrowheads="1"/>
          </p:cNvSpPr>
          <p:nvPr/>
        </p:nvSpPr>
        <p:spPr bwMode="auto">
          <a:xfrm>
            <a:off x="0" y="2708275"/>
            <a:ext cx="5076825"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400" b="1">
                <a:latin typeface="Times New Roman" panose="02020603050405020304" pitchFamily="18" charset="0"/>
              </a:rPr>
              <a:t>	</a:t>
            </a:r>
            <a:r>
              <a:rPr lang="hr-HR" altLang="sr-Latn-RS" sz="2000" b="1">
                <a:latin typeface="Arial" panose="020B0604020202020204" pitchFamily="34" charset="0"/>
                <a:cs typeface="Arial" panose="020B0604020202020204" pitchFamily="34" charset="0"/>
              </a:rPr>
              <a:t>Rješenje:</a:t>
            </a:r>
          </a:p>
          <a:p>
            <a:pPr algn="just"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	Primjenjujemo  kriterij koji se koristi kod izbjegavanja konflikata zajedničkih rubova pravokutnika: </a:t>
            </a:r>
          </a:p>
          <a:p>
            <a:pPr algn="just"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	Ako piksel koji se nalazi najviše lijevo u odsječku ima </a:t>
            </a:r>
            <a:r>
              <a:rPr lang="hr-HR" altLang="sr-Latn-RS" sz="2000">
                <a:solidFill>
                  <a:srgbClr val="00B050"/>
                </a:solidFill>
                <a:latin typeface="Arial" panose="020B0604020202020204" pitchFamily="34" charset="0"/>
                <a:cs typeface="Arial" panose="020B0604020202020204" pitchFamily="34" charset="0"/>
              </a:rPr>
              <a:t>cjelobrojnu</a:t>
            </a:r>
            <a:r>
              <a:rPr lang="hr-HR" altLang="sr-Latn-RS" sz="2000">
                <a:latin typeface="Arial" panose="020B0604020202020204" pitchFamily="34" charset="0"/>
                <a:cs typeface="Arial" panose="020B0604020202020204" pitchFamily="34" charset="0"/>
              </a:rPr>
              <a:t> </a:t>
            </a:r>
            <a:r>
              <a:rPr lang="hr-HR" altLang="sr-Latn-RS" sz="2000" i="1">
                <a:latin typeface="Arial" panose="020B0604020202020204" pitchFamily="34" charset="0"/>
                <a:cs typeface="Arial" panose="020B0604020202020204" pitchFamily="34" charset="0"/>
              </a:rPr>
              <a:t>x</a:t>
            </a:r>
            <a:r>
              <a:rPr lang="hr-HR" altLang="sr-Latn-RS" sz="2000">
                <a:latin typeface="Arial" panose="020B0604020202020204" pitchFamily="34" charset="0"/>
                <a:cs typeface="Arial" panose="020B0604020202020204" pitchFamily="34" charset="0"/>
              </a:rPr>
              <a:t> koordinatu, definiramo ga kao unutrašnjeg; </a:t>
            </a:r>
          </a:p>
        </p:txBody>
      </p:sp>
      <p:sp>
        <p:nvSpPr>
          <p:cNvPr id="18447" name="Text Box 12">
            <a:extLst>
              <a:ext uri="{FF2B5EF4-FFF2-40B4-BE49-F238E27FC236}">
                <a16:creationId xmlns:a16="http://schemas.microsoft.com/office/drawing/2014/main" id="{81DDB8A2-6C57-4624-B282-AD2D81DF70B3}"/>
              </a:ext>
            </a:extLst>
          </p:cNvPr>
          <p:cNvSpPr txBox="1">
            <a:spLocks noChangeArrowheads="1"/>
          </p:cNvSpPr>
          <p:nvPr/>
        </p:nvSpPr>
        <p:spPr bwMode="auto">
          <a:xfrm>
            <a:off x="0" y="5300663"/>
            <a:ext cx="889317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400" b="1">
                <a:latin typeface="Arial" panose="020B0604020202020204" pitchFamily="34" charset="0"/>
                <a:cs typeface="Arial" panose="020B0604020202020204" pitchFamily="34" charset="0"/>
              </a:rPr>
              <a:t>	</a:t>
            </a:r>
            <a:r>
              <a:rPr lang="hr-HR" altLang="sr-Latn-RS" sz="2000">
                <a:latin typeface="Arial" panose="020B0604020202020204" pitchFamily="34" charset="0"/>
                <a:cs typeface="Arial" panose="020B0604020202020204" pitchFamily="34" charset="0"/>
              </a:rPr>
              <a:t>Ako piksel koji se u odsječku nalazi najviše desno ima </a:t>
            </a:r>
            <a:r>
              <a:rPr lang="hr-HR" altLang="sr-Latn-RS" sz="2000">
                <a:solidFill>
                  <a:srgbClr val="00B050"/>
                </a:solidFill>
                <a:latin typeface="Arial" panose="020B0604020202020204" pitchFamily="34" charset="0"/>
                <a:cs typeface="Arial" panose="020B0604020202020204" pitchFamily="34" charset="0"/>
              </a:rPr>
              <a:t>cjelobrojnu</a:t>
            </a:r>
            <a:r>
              <a:rPr lang="hr-HR" altLang="sr-Latn-RS" sz="2000">
                <a:latin typeface="Arial" panose="020B0604020202020204" pitchFamily="34" charset="0"/>
                <a:cs typeface="Arial" panose="020B0604020202020204" pitchFamily="34" charset="0"/>
              </a:rPr>
              <a:t> </a:t>
            </a:r>
            <a:r>
              <a:rPr lang="hr-HR" altLang="sr-Latn-RS" sz="2000" i="1">
                <a:latin typeface="Arial" panose="020B0604020202020204" pitchFamily="34" charset="0"/>
                <a:cs typeface="Arial" panose="020B0604020202020204" pitchFamily="34" charset="0"/>
              </a:rPr>
              <a:t>x</a:t>
            </a:r>
            <a:r>
              <a:rPr lang="hr-HR" altLang="sr-Latn-RS" sz="2000">
                <a:latin typeface="Arial" panose="020B0604020202020204" pitchFamily="34" charset="0"/>
                <a:cs typeface="Arial" panose="020B0604020202020204" pitchFamily="34" charset="0"/>
              </a:rPr>
              <a:t> koordinatu, definiramo ga kao vanjskog. </a:t>
            </a:r>
          </a:p>
        </p:txBody>
      </p:sp>
      <p:sp>
        <p:nvSpPr>
          <p:cNvPr id="18448" name="Rectangle 2">
            <a:extLst>
              <a:ext uri="{FF2B5EF4-FFF2-40B4-BE49-F238E27FC236}">
                <a16:creationId xmlns:a16="http://schemas.microsoft.com/office/drawing/2014/main" id="{BB4A6A9E-F70E-4239-81B0-25700F8C4467}"/>
              </a:ext>
            </a:extLst>
          </p:cNvPr>
          <p:cNvSpPr>
            <a:spLocks noGrp="1"/>
          </p:cNvSpPr>
          <p:nvPr>
            <p:ph type="title"/>
          </p:nvPr>
        </p:nvSpPr>
        <p:spPr>
          <a:xfrm>
            <a:off x="658813" y="333375"/>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18449" name="Text Box 19">
            <a:extLst>
              <a:ext uri="{FF2B5EF4-FFF2-40B4-BE49-F238E27FC236}">
                <a16:creationId xmlns:a16="http://schemas.microsoft.com/office/drawing/2014/main" id="{D99397BB-16DF-4659-8F8A-0597E31B0B36}"/>
              </a:ext>
            </a:extLst>
          </p:cNvPr>
          <p:cNvSpPr txBox="1">
            <a:spLocks noChangeArrowheads="1"/>
          </p:cNvSpPr>
          <p:nvPr/>
        </p:nvSpPr>
        <p:spPr bwMode="auto">
          <a:xfrm>
            <a:off x="6302375" y="2476500"/>
            <a:ext cx="259080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hr-HR" altLang="sr-Latn-RS" sz="2400">
                <a:latin typeface="Times New Roman" panose="02020603050405020304" pitchFamily="18" charset="0"/>
              </a:rPr>
              <a:t>	</a:t>
            </a:r>
            <a:r>
              <a:rPr lang="hr-HR" altLang="sr-Latn-RS" sz="1800">
                <a:solidFill>
                  <a:srgbClr val="00B050"/>
                </a:solidFill>
                <a:latin typeface="Arial" panose="020B0604020202020204" pitchFamily="34" charset="0"/>
                <a:cs typeface="Arial" panose="020B0604020202020204" pitchFamily="34" charset="0"/>
              </a:rPr>
              <a:t>a, d – cjelobrojni</a:t>
            </a:r>
          </a:p>
          <a:p>
            <a:pPr eaLnBrk="1" hangingPunct="1">
              <a:spcBef>
                <a:spcPct val="50000"/>
              </a:spcBef>
              <a:buClrTx/>
              <a:buSzTx/>
              <a:buFontTx/>
              <a:buNone/>
            </a:pPr>
            <a:r>
              <a:rPr lang="hr-HR" altLang="sr-Latn-RS" sz="1800">
                <a:latin typeface="Arial" panose="020B0604020202020204" pitchFamily="34" charset="0"/>
                <a:cs typeface="Arial" panose="020B0604020202020204" pitchFamily="34" charset="0"/>
              </a:rPr>
              <a:t>	b, c - necjelobrojni</a:t>
            </a:r>
          </a:p>
        </p:txBody>
      </p:sp>
      <p:sp>
        <p:nvSpPr>
          <p:cNvPr id="2" name="Rezervirano mjesto broja slajda 1">
            <a:extLst>
              <a:ext uri="{FF2B5EF4-FFF2-40B4-BE49-F238E27FC236}">
                <a16:creationId xmlns:a16="http://schemas.microsoft.com/office/drawing/2014/main" id="{ADF18B4E-E4F0-E842-F013-F698289D4973}"/>
              </a:ext>
            </a:extLst>
          </p:cNvPr>
          <p:cNvSpPr>
            <a:spLocks noGrp="1"/>
          </p:cNvSpPr>
          <p:nvPr>
            <p:ph type="sldNum" sz="quarter" idx="12"/>
          </p:nvPr>
        </p:nvSpPr>
        <p:spPr/>
        <p:txBody>
          <a:bodyPr/>
          <a:lstStyle/>
          <a:p>
            <a:fld id="{65A14E20-BA2A-43FD-BB4B-65CF80A0D6DA}" type="slidenum">
              <a:rPr lang="en-GB" altLang="sr-Latn-RS" smtClean="0"/>
              <a:pPr/>
              <a:t>43</a:t>
            </a:fld>
            <a:endParaRPr lang="en-GB" altLang="sr-Latn-R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e Placeholder 2">
            <a:extLst>
              <a:ext uri="{FF2B5EF4-FFF2-40B4-BE49-F238E27FC236}">
                <a16:creationId xmlns:a16="http://schemas.microsoft.com/office/drawing/2014/main" id="{CBDBA443-F7B4-4772-8B57-7055791AA8F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EFAE8C11-E634-4EB2-BBA1-B897ADD5F7C3}"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20483" name="Text Box 12">
            <a:extLst>
              <a:ext uri="{FF2B5EF4-FFF2-40B4-BE49-F238E27FC236}">
                <a16:creationId xmlns:a16="http://schemas.microsoft.com/office/drawing/2014/main" id="{84848C42-DD00-4EE3-81A9-DCCD18FBC72F}"/>
              </a:ext>
            </a:extLst>
          </p:cNvPr>
          <p:cNvSpPr txBox="1">
            <a:spLocks noChangeArrowheads="1"/>
          </p:cNvSpPr>
          <p:nvPr/>
        </p:nvSpPr>
        <p:spPr bwMode="auto">
          <a:xfrm>
            <a:off x="0" y="1458913"/>
            <a:ext cx="8763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400">
                <a:latin typeface="Times New Roman" panose="02020603050405020304" pitchFamily="18" charset="0"/>
                <a:cs typeface="Times New Roman" panose="02020603050405020304" pitchFamily="18" charset="0"/>
              </a:rPr>
              <a:t>	</a:t>
            </a:r>
            <a:r>
              <a:rPr lang="hr-HR" altLang="sr-Latn-RS" sz="2000">
                <a:latin typeface="Arial" panose="020B0604020202020204" pitchFamily="34" charset="0"/>
                <a:cs typeface="Arial" panose="020B0604020202020204" pitchFamily="34" charset="0"/>
              </a:rPr>
              <a:t>4.3. Što radimo sa specijalnim slučajem 4.2 za zajedničke vrhove?</a:t>
            </a:r>
          </a:p>
        </p:txBody>
      </p:sp>
      <p:sp>
        <p:nvSpPr>
          <p:cNvPr id="20484" name="Text Box 16">
            <a:extLst>
              <a:ext uri="{FF2B5EF4-FFF2-40B4-BE49-F238E27FC236}">
                <a16:creationId xmlns:a16="http://schemas.microsoft.com/office/drawing/2014/main" id="{CEE76DB0-CC8F-47C2-8B35-A5F78804C87E}"/>
              </a:ext>
            </a:extLst>
          </p:cNvPr>
          <p:cNvSpPr txBox="1">
            <a:spLocks noChangeArrowheads="1"/>
          </p:cNvSpPr>
          <p:nvPr/>
        </p:nvSpPr>
        <p:spPr bwMode="auto">
          <a:xfrm>
            <a:off x="0" y="2060575"/>
            <a:ext cx="5111750"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400">
                <a:latin typeface="Times New Roman" panose="02020603050405020304" pitchFamily="18" charset="0"/>
                <a:cs typeface="Times New Roman" panose="02020603050405020304" pitchFamily="18" charset="0"/>
              </a:rPr>
              <a:t>	</a:t>
            </a:r>
            <a:r>
              <a:rPr lang="hr-HR" altLang="sr-Latn-RS" sz="2000" b="1">
                <a:latin typeface="Arial" panose="020B0604020202020204" pitchFamily="34" charset="0"/>
                <a:cs typeface="Arial" panose="020B0604020202020204" pitchFamily="34" charset="0"/>
              </a:rPr>
              <a:t>Rješenje:</a:t>
            </a:r>
          </a:p>
          <a:p>
            <a:pPr algn="just"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	Ubrajamo </a:t>
            </a:r>
            <a:r>
              <a:rPr lang="hr-HR" altLang="sr-Latn-RS" sz="2000" i="1">
                <a:latin typeface="Arial" panose="020B0604020202020204" pitchFamily="34" charset="0"/>
                <a:cs typeface="Arial" panose="020B0604020202020204" pitchFamily="34" charset="0"/>
              </a:rPr>
              <a:t>y</a:t>
            </a:r>
            <a:r>
              <a:rPr lang="hr-HR" altLang="sr-Latn-RS" sz="2000" i="1" baseline="-30000">
                <a:latin typeface="Arial" panose="020B0604020202020204" pitchFamily="34" charset="0"/>
                <a:cs typeface="Arial" panose="020B0604020202020204" pitchFamily="34" charset="0"/>
              </a:rPr>
              <a:t>min</a:t>
            </a:r>
            <a:r>
              <a:rPr lang="hr-HR" altLang="sr-Latn-RS" sz="2000">
                <a:latin typeface="Arial" panose="020B0604020202020204" pitchFamily="34" charset="0"/>
                <a:cs typeface="Arial" panose="020B0604020202020204" pitchFamily="34" charset="0"/>
              </a:rPr>
              <a:t> vrh ruba pri računanju parnosti, ali ne i vrh </a:t>
            </a:r>
            <a:r>
              <a:rPr lang="hr-HR" altLang="sr-Latn-RS" sz="2000" i="1">
                <a:latin typeface="Arial" panose="020B0604020202020204" pitchFamily="34" charset="0"/>
                <a:cs typeface="Arial" panose="020B0604020202020204" pitchFamily="34" charset="0"/>
              </a:rPr>
              <a:t>y</a:t>
            </a:r>
            <a:r>
              <a:rPr lang="hr-HR" altLang="sr-Latn-RS" sz="2000" i="1" baseline="-30000">
                <a:latin typeface="Arial" panose="020B0604020202020204" pitchFamily="34" charset="0"/>
                <a:cs typeface="Arial" panose="020B0604020202020204" pitchFamily="34" charset="0"/>
              </a:rPr>
              <a:t>max</a:t>
            </a:r>
            <a:r>
              <a:rPr lang="hr-HR" altLang="sr-Latn-RS" sz="2000">
                <a:latin typeface="Arial" panose="020B0604020202020204" pitchFamily="34" charset="0"/>
                <a:cs typeface="Arial" panose="020B0604020202020204" pitchFamily="34" charset="0"/>
              </a:rPr>
              <a:t>. Stoga, </a:t>
            </a:r>
            <a:r>
              <a:rPr lang="hr-HR" altLang="sr-Latn-RS" sz="2000" i="1">
                <a:latin typeface="Arial" panose="020B0604020202020204" pitchFamily="34" charset="0"/>
                <a:cs typeface="Arial" panose="020B0604020202020204" pitchFamily="34" charset="0"/>
              </a:rPr>
              <a:t>y</a:t>
            </a:r>
            <a:r>
              <a:rPr lang="hr-HR" altLang="sr-Latn-RS" sz="2000" i="1" baseline="-30000">
                <a:latin typeface="Arial" panose="020B0604020202020204" pitchFamily="34" charset="0"/>
                <a:cs typeface="Arial" panose="020B0604020202020204" pitchFamily="34" charset="0"/>
              </a:rPr>
              <a:t>max</a:t>
            </a:r>
            <a:r>
              <a:rPr lang="hr-HR" altLang="sr-Latn-RS" sz="2000">
                <a:latin typeface="Arial" panose="020B0604020202020204" pitchFamily="34" charset="0"/>
                <a:cs typeface="Arial" panose="020B0604020202020204" pitchFamily="34" charset="0"/>
              </a:rPr>
              <a:t> vrh iscrtavamo samo ako je to </a:t>
            </a:r>
            <a:r>
              <a:rPr lang="hr-HR" altLang="sr-Latn-RS" sz="2000" i="1">
                <a:latin typeface="Arial" panose="020B0604020202020204" pitchFamily="34" charset="0"/>
                <a:cs typeface="Arial" panose="020B0604020202020204" pitchFamily="34" charset="0"/>
              </a:rPr>
              <a:t>y</a:t>
            </a:r>
            <a:r>
              <a:rPr lang="hr-HR" altLang="sr-Latn-RS" sz="2000" i="1" baseline="-30000">
                <a:latin typeface="Arial" panose="020B0604020202020204" pitchFamily="34" charset="0"/>
                <a:cs typeface="Arial" panose="020B0604020202020204" pitchFamily="34" charset="0"/>
              </a:rPr>
              <a:t>min</a:t>
            </a:r>
            <a:r>
              <a:rPr lang="hr-HR" altLang="sr-Latn-RS" sz="2000">
                <a:latin typeface="Arial" panose="020B0604020202020204" pitchFamily="34" charset="0"/>
                <a:cs typeface="Arial" panose="020B0604020202020204" pitchFamily="34" charset="0"/>
              </a:rPr>
              <a:t> vrh susjednog ruba.</a:t>
            </a:r>
            <a:r>
              <a:rPr lang="en-GB" altLang="sr-Latn-RS" sz="2000">
                <a:latin typeface="Arial" panose="020B0604020202020204" pitchFamily="34" charset="0"/>
                <a:cs typeface="Arial" panose="020B0604020202020204" pitchFamily="34" charset="0"/>
              </a:rPr>
              <a:t> </a:t>
            </a:r>
            <a:endParaRPr lang="hr-HR" altLang="sr-Latn-RS" sz="2000">
              <a:latin typeface="Arial" panose="020B0604020202020204" pitchFamily="34" charset="0"/>
              <a:cs typeface="Arial" panose="020B0604020202020204" pitchFamily="34" charset="0"/>
            </a:endParaRPr>
          </a:p>
          <a:p>
            <a:pPr algn="just" eaLnBrk="1" hangingPunct="1">
              <a:spcBef>
                <a:spcPct val="50000"/>
              </a:spcBef>
              <a:buClrTx/>
              <a:buSzTx/>
              <a:buFontTx/>
              <a:buNone/>
            </a:pPr>
            <a:r>
              <a:rPr lang="hr-HR" altLang="sr-Latn-RS" sz="2000" i="1">
                <a:latin typeface="Arial" panose="020B0604020202020204" pitchFamily="34" charset="0"/>
                <a:cs typeface="Arial" panose="020B0604020202020204" pitchFamily="34" charset="0"/>
              </a:rPr>
              <a:t>	Primjer:</a:t>
            </a:r>
          </a:p>
          <a:p>
            <a:pPr algn="just"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	vrh </a:t>
            </a:r>
            <a:r>
              <a:rPr lang="hr-HR" altLang="sr-Latn-RS" sz="2000">
                <a:solidFill>
                  <a:srgbClr val="C00000"/>
                </a:solidFill>
                <a:latin typeface="Arial" panose="020B0604020202020204" pitchFamily="34" charset="0"/>
                <a:cs typeface="Arial" panose="020B0604020202020204" pitchFamily="34" charset="0"/>
              </a:rPr>
              <a:t>A</a:t>
            </a:r>
            <a:r>
              <a:rPr lang="hr-HR" altLang="sr-Latn-RS" sz="2000">
                <a:latin typeface="Arial" panose="020B0604020202020204" pitchFamily="34" charset="0"/>
                <a:cs typeface="Arial" panose="020B0604020202020204" pitchFamily="34" charset="0"/>
              </a:rPr>
              <a:t> ubraja se jedan put u računanju parnosti jer je to </a:t>
            </a:r>
            <a:r>
              <a:rPr lang="hr-HR" altLang="sr-Latn-RS" sz="2000" i="1">
                <a:latin typeface="Arial" panose="020B0604020202020204" pitchFamily="34" charset="0"/>
                <a:cs typeface="Arial" panose="020B0604020202020204" pitchFamily="34" charset="0"/>
              </a:rPr>
              <a:t>y</a:t>
            </a:r>
            <a:r>
              <a:rPr lang="hr-HR" altLang="sr-Latn-RS" sz="2000" i="1" baseline="-25000">
                <a:latin typeface="Arial" panose="020B0604020202020204" pitchFamily="34" charset="0"/>
                <a:cs typeface="Arial" panose="020B0604020202020204" pitchFamily="34" charset="0"/>
              </a:rPr>
              <a:t>min</a:t>
            </a:r>
            <a:r>
              <a:rPr lang="hr-HR" altLang="sr-Latn-RS" sz="2000" baseline="-25000">
                <a:latin typeface="Arial" panose="020B0604020202020204" pitchFamily="34" charset="0"/>
                <a:cs typeface="Arial" panose="020B0604020202020204" pitchFamily="34" charset="0"/>
              </a:rPr>
              <a:t> </a:t>
            </a:r>
            <a:r>
              <a:rPr lang="hr-HR" altLang="sr-Latn-RS" sz="2000">
                <a:latin typeface="Arial" panose="020B0604020202020204" pitchFamily="34" charset="0"/>
                <a:cs typeface="Arial" panose="020B0604020202020204" pitchFamily="34" charset="0"/>
              </a:rPr>
              <a:t>vrh ruba FA ali </a:t>
            </a:r>
            <a:r>
              <a:rPr lang="hr-HR" altLang="sr-Latn-RS" sz="2000" i="1">
                <a:latin typeface="Arial" panose="020B0604020202020204" pitchFamily="34" charset="0"/>
                <a:cs typeface="Arial" panose="020B0604020202020204" pitchFamily="34" charset="0"/>
              </a:rPr>
              <a:t>y</a:t>
            </a:r>
            <a:r>
              <a:rPr lang="hr-HR" altLang="sr-Latn-RS" sz="2000" i="1" baseline="-25000">
                <a:latin typeface="Arial" panose="020B0604020202020204" pitchFamily="34" charset="0"/>
                <a:cs typeface="Arial" panose="020B0604020202020204" pitchFamily="34" charset="0"/>
              </a:rPr>
              <a:t>max</a:t>
            </a:r>
            <a:r>
              <a:rPr lang="hr-HR" altLang="sr-Latn-RS" sz="2000">
                <a:latin typeface="Arial" panose="020B0604020202020204" pitchFamily="34" charset="0"/>
                <a:cs typeface="Arial" panose="020B0604020202020204" pitchFamily="34" charset="0"/>
              </a:rPr>
              <a:t> vrh ruba AB. </a:t>
            </a:r>
          </a:p>
          <a:p>
            <a:pPr algn="just" eaLnBrk="1" hangingPunct="1">
              <a:spcBef>
                <a:spcPct val="50000"/>
              </a:spcBef>
              <a:buClrTx/>
              <a:buSzTx/>
              <a:buFontTx/>
              <a:buNone/>
            </a:pPr>
            <a:endParaRPr lang="hr-HR" altLang="sr-Latn-RS" sz="2000">
              <a:latin typeface="Arial" panose="020B0604020202020204" pitchFamily="34" charset="0"/>
              <a:cs typeface="Arial" panose="020B0604020202020204" pitchFamily="34" charset="0"/>
            </a:endParaRPr>
          </a:p>
        </p:txBody>
      </p:sp>
      <p:sp>
        <p:nvSpPr>
          <p:cNvPr id="20485" name="Rectangle 2">
            <a:extLst>
              <a:ext uri="{FF2B5EF4-FFF2-40B4-BE49-F238E27FC236}">
                <a16:creationId xmlns:a16="http://schemas.microsoft.com/office/drawing/2014/main" id="{FC79B970-9442-4012-A976-EF18720FEE9F}"/>
              </a:ext>
            </a:extLst>
          </p:cNvPr>
          <p:cNvSpPr>
            <a:spLocks noGrp="1"/>
          </p:cNvSpPr>
          <p:nvPr>
            <p:ph type="title"/>
          </p:nvPr>
        </p:nvSpPr>
        <p:spPr>
          <a:xfrm>
            <a:off x="658813" y="333375"/>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pic>
        <p:nvPicPr>
          <p:cNvPr id="20486" name="Picture 15" descr="Slika210">
            <a:extLst>
              <a:ext uri="{FF2B5EF4-FFF2-40B4-BE49-F238E27FC236}">
                <a16:creationId xmlns:a16="http://schemas.microsoft.com/office/drawing/2014/main" id="{A159EC59-A70E-48FC-AF78-45F3FB9953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2565400"/>
            <a:ext cx="3240088"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Oval 19">
            <a:extLst>
              <a:ext uri="{FF2B5EF4-FFF2-40B4-BE49-F238E27FC236}">
                <a16:creationId xmlns:a16="http://schemas.microsoft.com/office/drawing/2014/main" id="{B177C8C0-9542-4DE4-A403-D680E0153FA3}"/>
              </a:ext>
            </a:extLst>
          </p:cNvPr>
          <p:cNvSpPr>
            <a:spLocks noChangeArrowheads="1"/>
          </p:cNvSpPr>
          <p:nvPr/>
        </p:nvSpPr>
        <p:spPr bwMode="auto">
          <a:xfrm>
            <a:off x="5940425" y="4437063"/>
            <a:ext cx="144463" cy="139700"/>
          </a:xfrm>
          <a:prstGeom prst="ellipse">
            <a:avLst/>
          </a:pr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2" name="Rezervirano mjesto broja slajda 1">
            <a:extLst>
              <a:ext uri="{FF2B5EF4-FFF2-40B4-BE49-F238E27FC236}">
                <a16:creationId xmlns:a16="http://schemas.microsoft.com/office/drawing/2014/main" id="{49D13F37-71F5-F98C-81AD-E65C710B6E79}"/>
              </a:ext>
            </a:extLst>
          </p:cNvPr>
          <p:cNvSpPr>
            <a:spLocks noGrp="1"/>
          </p:cNvSpPr>
          <p:nvPr>
            <p:ph type="sldNum" sz="quarter" idx="12"/>
          </p:nvPr>
        </p:nvSpPr>
        <p:spPr/>
        <p:txBody>
          <a:bodyPr/>
          <a:lstStyle/>
          <a:p>
            <a:fld id="{65A14E20-BA2A-43FD-BB4B-65CF80A0D6DA}" type="slidenum">
              <a:rPr lang="en-GB" altLang="sr-Latn-RS" smtClean="0"/>
              <a:pPr/>
              <a:t>44</a:t>
            </a:fld>
            <a:endParaRPr lang="en-GB" altLang="sr-Latn-R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Date Placeholder 2">
            <a:extLst>
              <a:ext uri="{FF2B5EF4-FFF2-40B4-BE49-F238E27FC236}">
                <a16:creationId xmlns:a16="http://schemas.microsoft.com/office/drawing/2014/main" id="{D507DEB3-DBE3-4BD8-BC67-4C32C2F5CAF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347B7A91-E7F6-4167-8AC1-14882AD9D69D}"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22531" name="Rectangle 3">
            <a:extLst>
              <a:ext uri="{FF2B5EF4-FFF2-40B4-BE49-F238E27FC236}">
                <a16:creationId xmlns:a16="http://schemas.microsoft.com/office/drawing/2014/main" id="{4DCD3CA4-2625-46DC-ABB3-0935E40A4DF2}"/>
              </a:ext>
            </a:extLst>
          </p:cNvPr>
          <p:cNvSpPr>
            <a:spLocks noChangeArrowheads="1"/>
          </p:cNvSpPr>
          <p:nvPr/>
        </p:nvSpPr>
        <p:spPr bwMode="auto">
          <a:xfrm>
            <a:off x="1695450" y="2557463"/>
            <a:ext cx="9144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22532" name="Rectangle 4">
            <a:extLst>
              <a:ext uri="{FF2B5EF4-FFF2-40B4-BE49-F238E27FC236}">
                <a16:creationId xmlns:a16="http://schemas.microsoft.com/office/drawing/2014/main" id="{49A0A92B-69E1-48E7-88B6-0B3B9AEE27DD}"/>
              </a:ext>
            </a:extLst>
          </p:cNvPr>
          <p:cNvSpPr>
            <a:spLocks noChangeArrowheads="1"/>
          </p:cNvSpPr>
          <p:nvPr/>
        </p:nvSpPr>
        <p:spPr bwMode="auto">
          <a:xfrm>
            <a:off x="3371850" y="2681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pSp>
        <p:nvGrpSpPr>
          <p:cNvPr id="22533" name="Group 5">
            <a:extLst>
              <a:ext uri="{FF2B5EF4-FFF2-40B4-BE49-F238E27FC236}">
                <a16:creationId xmlns:a16="http://schemas.microsoft.com/office/drawing/2014/main" id="{3C090204-9DB6-4220-826A-0C63C73D3512}"/>
              </a:ext>
            </a:extLst>
          </p:cNvPr>
          <p:cNvGrpSpPr>
            <a:grpSpLocks/>
          </p:cNvGrpSpPr>
          <p:nvPr/>
        </p:nvGrpSpPr>
        <p:grpSpPr bwMode="auto">
          <a:xfrm>
            <a:off x="3994150" y="3148013"/>
            <a:ext cx="7097713" cy="0"/>
            <a:chOff x="43" y="0"/>
            <a:chExt cx="4471" cy="0"/>
          </a:xfrm>
        </p:grpSpPr>
        <p:sp>
          <p:nvSpPr>
            <p:cNvPr id="22542" name="Rectangle 6">
              <a:extLst>
                <a:ext uri="{FF2B5EF4-FFF2-40B4-BE49-F238E27FC236}">
                  <a16:creationId xmlns:a16="http://schemas.microsoft.com/office/drawing/2014/main" id="{D4148012-C195-4568-959E-95383694D18D}"/>
                </a:ext>
              </a:extLst>
            </p:cNvPr>
            <p:cNvSpPr>
              <a:spLocks noChangeArrowheads="1"/>
            </p:cNvSpPr>
            <p:nvPr/>
          </p:nvSpPr>
          <p:spPr bwMode="auto">
            <a:xfrm>
              <a:off x="43" y="0"/>
              <a:ext cx="2428"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22543" name="Rectangle 7">
              <a:extLst>
                <a:ext uri="{FF2B5EF4-FFF2-40B4-BE49-F238E27FC236}">
                  <a16:creationId xmlns:a16="http://schemas.microsoft.com/office/drawing/2014/main" id="{4D2FC8D3-402A-46F8-B1C4-4483323CB54D}"/>
                </a:ext>
              </a:extLst>
            </p:cNvPr>
            <p:cNvSpPr>
              <a:spLocks noChangeArrowheads="1"/>
            </p:cNvSpPr>
            <p:nvPr/>
          </p:nvSpPr>
          <p:spPr bwMode="auto">
            <a:xfrm>
              <a:off x="2471" y="0"/>
              <a:ext cx="2043"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grpSp>
      <p:sp>
        <p:nvSpPr>
          <p:cNvPr id="22534" name="Rectangle 8">
            <a:extLst>
              <a:ext uri="{FF2B5EF4-FFF2-40B4-BE49-F238E27FC236}">
                <a16:creationId xmlns:a16="http://schemas.microsoft.com/office/drawing/2014/main" id="{B0C7005A-7DB6-458D-B537-0CD45396E9AD}"/>
              </a:ext>
            </a:extLst>
          </p:cNvPr>
          <p:cNvSpPr>
            <a:spLocks noChangeArrowheads="1"/>
          </p:cNvSpPr>
          <p:nvPr/>
        </p:nvSpPr>
        <p:spPr bwMode="auto">
          <a:xfrm>
            <a:off x="3486150" y="2657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22535" name="Rectangle 9">
            <a:extLst>
              <a:ext uri="{FF2B5EF4-FFF2-40B4-BE49-F238E27FC236}">
                <a16:creationId xmlns:a16="http://schemas.microsoft.com/office/drawing/2014/main" id="{4F9B6E63-4B9C-465B-B400-D4E30CCF20A4}"/>
              </a:ext>
            </a:extLst>
          </p:cNvPr>
          <p:cNvSpPr>
            <a:spLocks noChangeArrowheads="1"/>
          </p:cNvSpPr>
          <p:nvPr/>
        </p:nvSpPr>
        <p:spPr bwMode="auto">
          <a:xfrm>
            <a:off x="3143250" y="2695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22536" name="Rectangle 10">
            <a:extLst>
              <a:ext uri="{FF2B5EF4-FFF2-40B4-BE49-F238E27FC236}">
                <a16:creationId xmlns:a16="http://schemas.microsoft.com/office/drawing/2014/main" id="{29260DD8-7888-4887-9E47-4696A81CF3C7}"/>
              </a:ext>
            </a:extLst>
          </p:cNvPr>
          <p:cNvSpPr>
            <a:spLocks noChangeArrowheads="1"/>
          </p:cNvSpPr>
          <p:nvPr/>
        </p:nvSpPr>
        <p:spPr bwMode="auto">
          <a:xfrm>
            <a:off x="2833688" y="2519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22537" name="Rectangle 11">
            <a:extLst>
              <a:ext uri="{FF2B5EF4-FFF2-40B4-BE49-F238E27FC236}">
                <a16:creationId xmlns:a16="http://schemas.microsoft.com/office/drawing/2014/main" id="{FF94ECF3-C9D1-41C9-866E-8DCD13AA5BFA}"/>
              </a:ext>
            </a:extLst>
          </p:cNvPr>
          <p:cNvSpPr>
            <a:spLocks noChangeArrowheads="1"/>
          </p:cNvSpPr>
          <p:nvPr/>
        </p:nvSpPr>
        <p:spPr bwMode="auto">
          <a:xfrm>
            <a:off x="3009900" y="2252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22538" name="Text Box 12">
            <a:extLst>
              <a:ext uri="{FF2B5EF4-FFF2-40B4-BE49-F238E27FC236}">
                <a16:creationId xmlns:a16="http://schemas.microsoft.com/office/drawing/2014/main" id="{7EA5E6EE-8D5A-45B6-99B4-E0D02709998A}"/>
              </a:ext>
            </a:extLst>
          </p:cNvPr>
          <p:cNvSpPr txBox="1">
            <a:spLocks noChangeArrowheads="1"/>
          </p:cNvSpPr>
          <p:nvPr/>
        </p:nvSpPr>
        <p:spPr bwMode="auto">
          <a:xfrm>
            <a:off x="0" y="1501775"/>
            <a:ext cx="8763000" cy="27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400">
                <a:latin typeface="Times New Roman" panose="02020603050405020304" pitchFamily="18" charset="0"/>
                <a:cs typeface="Times New Roman" panose="02020603050405020304" pitchFamily="18" charset="0"/>
              </a:rPr>
              <a:t>	</a:t>
            </a:r>
            <a:r>
              <a:rPr lang="hr-HR" altLang="sr-Latn-RS" sz="2000">
                <a:latin typeface="Arial" panose="020B0604020202020204" pitchFamily="34" charset="0"/>
                <a:cs typeface="Arial" panose="020B0604020202020204" pitchFamily="34" charset="0"/>
              </a:rPr>
              <a:t>4.4. Što radimo sa specijalnim slučajem 4.2 kada vrhovi određuju horizontalni rub?</a:t>
            </a:r>
          </a:p>
          <a:p>
            <a:pPr algn="just" eaLnBrk="1" hangingPunct="1">
              <a:spcBef>
                <a:spcPct val="50000"/>
              </a:spcBef>
              <a:buClrTx/>
              <a:buSzTx/>
              <a:buFontTx/>
              <a:buNone/>
            </a:pPr>
            <a:r>
              <a:rPr lang="hr-HR" altLang="sr-Latn-RS" sz="2000" b="1">
                <a:latin typeface="Arial" panose="020B0604020202020204" pitchFamily="34" charset="0"/>
                <a:cs typeface="Arial" panose="020B0604020202020204" pitchFamily="34" charset="0"/>
              </a:rPr>
              <a:t>	Rješenje:</a:t>
            </a:r>
          </a:p>
          <a:p>
            <a:pPr algn="just"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	Za horizontalne rubove, željeni efekt je da, kao i kod pravokutnika, donji rubovi budu nacrtani, a gornji ne. </a:t>
            </a:r>
          </a:p>
          <a:p>
            <a:pPr algn="just"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	Ovo će biti automatski zadovoljeno ako ne ubrajamo vrhove rubova s obzirom da oni nisu ni </a:t>
            </a:r>
            <a:r>
              <a:rPr lang="hr-HR" altLang="sr-Latn-RS" sz="2000" i="1">
                <a:latin typeface="Arial" panose="020B0604020202020204" pitchFamily="34" charset="0"/>
                <a:cs typeface="Arial" panose="020B0604020202020204" pitchFamily="34" charset="0"/>
              </a:rPr>
              <a:t>y</a:t>
            </a:r>
            <a:r>
              <a:rPr lang="hr-HR" altLang="sr-Latn-RS" sz="2000" i="1" baseline="-30000">
                <a:latin typeface="Arial" panose="020B0604020202020204" pitchFamily="34" charset="0"/>
                <a:cs typeface="Arial" panose="020B0604020202020204" pitchFamily="34" charset="0"/>
              </a:rPr>
              <a:t>min</a:t>
            </a:r>
            <a:r>
              <a:rPr lang="hr-HR" altLang="sr-Latn-RS" sz="2000">
                <a:latin typeface="Arial" panose="020B0604020202020204" pitchFamily="34" charset="0"/>
                <a:cs typeface="Arial" panose="020B0604020202020204" pitchFamily="34" charset="0"/>
              </a:rPr>
              <a:t> ni </a:t>
            </a:r>
            <a:r>
              <a:rPr lang="hr-HR" altLang="sr-Latn-RS" sz="2000" i="1">
                <a:latin typeface="Arial" panose="020B0604020202020204" pitchFamily="34" charset="0"/>
                <a:cs typeface="Arial" panose="020B0604020202020204" pitchFamily="34" charset="0"/>
              </a:rPr>
              <a:t>y</a:t>
            </a:r>
            <a:r>
              <a:rPr lang="hr-HR" altLang="sr-Latn-RS" sz="2000" i="1" baseline="-30000">
                <a:latin typeface="Arial" panose="020B0604020202020204" pitchFamily="34" charset="0"/>
                <a:cs typeface="Arial" panose="020B0604020202020204" pitchFamily="34" charset="0"/>
              </a:rPr>
              <a:t>max</a:t>
            </a:r>
            <a:r>
              <a:rPr lang="hr-HR" altLang="sr-Latn-RS" sz="2000">
                <a:latin typeface="Arial" panose="020B0604020202020204" pitchFamily="34" charset="0"/>
                <a:cs typeface="Arial" panose="020B0604020202020204" pitchFamily="34" charset="0"/>
              </a:rPr>
              <a:t> vrhovi.</a:t>
            </a:r>
            <a:r>
              <a:rPr lang="en-GB" altLang="sr-Latn-RS" sz="2000">
                <a:latin typeface="Arial" panose="020B0604020202020204" pitchFamily="34" charset="0"/>
                <a:cs typeface="Arial" panose="020B0604020202020204" pitchFamily="34" charset="0"/>
              </a:rPr>
              <a:t> </a:t>
            </a:r>
            <a:endParaRPr lang="hr-HR" altLang="sr-Latn-RS" sz="2000">
              <a:latin typeface="Arial" panose="020B0604020202020204" pitchFamily="34" charset="0"/>
              <a:cs typeface="Arial" panose="020B0604020202020204" pitchFamily="34" charset="0"/>
            </a:endParaRPr>
          </a:p>
        </p:txBody>
      </p:sp>
      <p:sp>
        <p:nvSpPr>
          <p:cNvPr id="22539" name="Rectangle 13">
            <a:extLst>
              <a:ext uri="{FF2B5EF4-FFF2-40B4-BE49-F238E27FC236}">
                <a16:creationId xmlns:a16="http://schemas.microsoft.com/office/drawing/2014/main" id="{652B33F8-3FDD-4C91-B0A4-C99E17BCB2E5}"/>
              </a:ext>
            </a:extLst>
          </p:cNvPr>
          <p:cNvSpPr>
            <a:spLocks noChangeArrowheads="1"/>
          </p:cNvSpPr>
          <p:nvPr/>
        </p:nvSpPr>
        <p:spPr bwMode="auto">
          <a:xfrm>
            <a:off x="1714500" y="2476500"/>
            <a:ext cx="9144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22540" name="Rectangle 14">
            <a:extLst>
              <a:ext uri="{FF2B5EF4-FFF2-40B4-BE49-F238E27FC236}">
                <a16:creationId xmlns:a16="http://schemas.microsoft.com/office/drawing/2014/main" id="{A54E03C4-6062-4EC3-B958-6E622844711B}"/>
              </a:ext>
            </a:extLst>
          </p:cNvPr>
          <p:cNvSpPr>
            <a:spLocks noChangeArrowheads="1"/>
          </p:cNvSpPr>
          <p:nvPr/>
        </p:nvSpPr>
        <p:spPr bwMode="auto">
          <a:xfrm>
            <a:off x="2776538" y="1371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solidFill>
                <a:srgbClr val="FFFFFF"/>
              </a:solidFill>
              <a:latin typeface="Times New Roman" panose="02020603050405020304" pitchFamily="18" charset="0"/>
            </a:endParaRPr>
          </a:p>
        </p:txBody>
      </p:sp>
      <p:sp>
        <p:nvSpPr>
          <p:cNvPr id="22541" name="Rectangle 2">
            <a:extLst>
              <a:ext uri="{FF2B5EF4-FFF2-40B4-BE49-F238E27FC236}">
                <a16:creationId xmlns:a16="http://schemas.microsoft.com/office/drawing/2014/main" id="{F51A05E6-EB95-4D7E-ABC8-5E11DA768F35}"/>
              </a:ext>
            </a:extLst>
          </p:cNvPr>
          <p:cNvSpPr>
            <a:spLocks noGrp="1"/>
          </p:cNvSpPr>
          <p:nvPr>
            <p:ph type="title"/>
          </p:nvPr>
        </p:nvSpPr>
        <p:spPr>
          <a:xfrm>
            <a:off x="658813" y="333375"/>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2" name="Rezervirano mjesto broja slajda 1">
            <a:extLst>
              <a:ext uri="{FF2B5EF4-FFF2-40B4-BE49-F238E27FC236}">
                <a16:creationId xmlns:a16="http://schemas.microsoft.com/office/drawing/2014/main" id="{B64CA035-538B-4111-264D-7AC46B21885B}"/>
              </a:ext>
            </a:extLst>
          </p:cNvPr>
          <p:cNvSpPr>
            <a:spLocks noGrp="1"/>
          </p:cNvSpPr>
          <p:nvPr>
            <p:ph type="sldNum" sz="quarter" idx="12"/>
          </p:nvPr>
        </p:nvSpPr>
        <p:spPr/>
        <p:txBody>
          <a:bodyPr/>
          <a:lstStyle/>
          <a:p>
            <a:fld id="{65A14E20-BA2A-43FD-BB4B-65CF80A0D6DA}" type="slidenum">
              <a:rPr lang="en-GB" altLang="sr-Latn-RS" smtClean="0"/>
              <a:pPr/>
              <a:t>45</a:t>
            </a:fld>
            <a:endParaRPr lang="en-GB" altLang="sr-Latn-R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15" descr="Slika210">
            <a:extLst>
              <a:ext uri="{FF2B5EF4-FFF2-40B4-BE49-F238E27FC236}">
                <a16:creationId xmlns:a16="http://schemas.microsoft.com/office/drawing/2014/main" id="{74B8B34A-DDBE-4213-A8CA-1BDCF808C9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2349500"/>
            <a:ext cx="3048000"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Date Placeholder 2">
            <a:extLst>
              <a:ext uri="{FF2B5EF4-FFF2-40B4-BE49-F238E27FC236}">
                <a16:creationId xmlns:a16="http://schemas.microsoft.com/office/drawing/2014/main" id="{D8FD9247-A85F-4D2A-A90B-D2B506C686B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D9A1C75F-620F-4630-B655-0E5DE741CBAC}"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24580" name="Text Box 12">
            <a:extLst>
              <a:ext uri="{FF2B5EF4-FFF2-40B4-BE49-F238E27FC236}">
                <a16:creationId xmlns:a16="http://schemas.microsoft.com/office/drawing/2014/main" id="{C81A8D47-8C3D-4E96-BA48-E5E5F0F152EF}"/>
              </a:ext>
            </a:extLst>
          </p:cNvPr>
          <p:cNvSpPr txBox="1">
            <a:spLocks noChangeArrowheads="1"/>
          </p:cNvSpPr>
          <p:nvPr/>
        </p:nvSpPr>
        <p:spPr bwMode="auto">
          <a:xfrm>
            <a:off x="0" y="1341438"/>
            <a:ext cx="4932363"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400">
                <a:latin typeface="Times New Roman" panose="02020603050405020304" pitchFamily="18" charset="0"/>
              </a:rPr>
              <a:t>	</a:t>
            </a:r>
            <a:r>
              <a:rPr lang="hr-HR" altLang="sr-Latn-RS" sz="2000" i="1">
                <a:latin typeface="Arial" panose="020B0604020202020204" pitchFamily="34" charset="0"/>
                <a:cs typeface="Arial" panose="020B0604020202020204" pitchFamily="34" charset="0"/>
              </a:rPr>
              <a:t>Linija skeniranja 8: </a:t>
            </a:r>
          </a:p>
          <a:p>
            <a:pPr algn="just" eaLnBrk="1" hangingPunct="1">
              <a:spcBef>
                <a:spcPct val="50000"/>
              </a:spcBef>
              <a:buClrTx/>
              <a:buSzTx/>
              <a:buFontTx/>
              <a:buNone/>
            </a:pPr>
            <a:r>
              <a:rPr lang="hr-HR" altLang="sr-Latn-RS" sz="2000">
                <a:latin typeface="Arial" panose="020B0604020202020204" pitchFamily="34" charset="0"/>
                <a:cs typeface="Arial" panose="020B0604020202020204" pitchFamily="34" charset="0"/>
              </a:rPr>
              <a:t>	</a:t>
            </a:r>
            <a:r>
              <a:rPr lang="hr-HR" altLang="sr-Latn-RS" sz="1800">
                <a:latin typeface="Arial" panose="020B0604020202020204" pitchFamily="34" charset="0"/>
                <a:cs typeface="Arial" panose="020B0604020202020204" pitchFamily="34" charset="0"/>
              </a:rPr>
              <a:t>Popunjavamo piksele od točke a, piksela (2,8), do prvog piksela koji se nalazi lijevo od točke b, piksela (4,8) i od prvog piksela desno od točke c, piksela (9,8), do 1 piksela lijevo od točke d, piksela (12,8).</a:t>
            </a:r>
          </a:p>
        </p:txBody>
      </p:sp>
      <p:cxnSp>
        <p:nvCxnSpPr>
          <p:cNvPr id="16401" name="Straight Connector 19">
            <a:extLst>
              <a:ext uri="{FF2B5EF4-FFF2-40B4-BE49-F238E27FC236}">
                <a16:creationId xmlns:a16="http://schemas.microsoft.com/office/drawing/2014/main" id="{782CA63E-DE5E-4FA9-9E7E-6385C635A0F6}"/>
              </a:ext>
            </a:extLst>
          </p:cNvPr>
          <p:cNvCxnSpPr>
            <a:cxnSpLocks noChangeShapeType="1"/>
          </p:cNvCxnSpPr>
          <p:nvPr/>
        </p:nvCxnSpPr>
        <p:spPr bwMode="auto">
          <a:xfrm>
            <a:off x="6434138" y="6237288"/>
            <a:ext cx="22860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cxnSp>
        <p:nvCxnSpPr>
          <p:cNvPr id="24582" name="Straight Connector 21">
            <a:extLst>
              <a:ext uri="{FF2B5EF4-FFF2-40B4-BE49-F238E27FC236}">
                <a16:creationId xmlns:a16="http://schemas.microsoft.com/office/drawing/2014/main" id="{BA59767F-FB61-458F-931B-0F61751D8D71}"/>
              </a:ext>
            </a:extLst>
          </p:cNvPr>
          <p:cNvCxnSpPr>
            <a:cxnSpLocks noChangeShapeType="1"/>
          </p:cNvCxnSpPr>
          <p:nvPr/>
        </p:nvCxnSpPr>
        <p:spPr bwMode="auto">
          <a:xfrm rot="10800000">
            <a:off x="5795963" y="3429000"/>
            <a:ext cx="2286000" cy="0"/>
          </a:xfrm>
          <a:prstGeom prst="line">
            <a:avLst/>
          </a:prstGeom>
          <a:noFill/>
          <a:ln w="15875" algn="ctr">
            <a:solidFill>
              <a:srgbClr val="C00000"/>
            </a:solidFill>
            <a:round/>
            <a:headEnd/>
            <a:tailEnd/>
          </a:ln>
          <a:extLst>
            <a:ext uri="{909E8E84-426E-40DD-AFC4-6F175D3DCCD1}">
              <a14:hiddenFill xmlns:a14="http://schemas.microsoft.com/office/drawing/2010/main">
                <a:noFill/>
              </a14:hiddenFill>
            </a:ext>
          </a:extLst>
        </p:spPr>
      </p:cxnSp>
      <p:sp>
        <p:nvSpPr>
          <p:cNvPr id="24583" name="Text Box 12">
            <a:extLst>
              <a:ext uri="{FF2B5EF4-FFF2-40B4-BE49-F238E27FC236}">
                <a16:creationId xmlns:a16="http://schemas.microsoft.com/office/drawing/2014/main" id="{372B77AC-A082-433D-9230-C587BAAF734E}"/>
              </a:ext>
            </a:extLst>
          </p:cNvPr>
          <p:cNvSpPr txBox="1">
            <a:spLocks noChangeArrowheads="1"/>
          </p:cNvSpPr>
          <p:nvPr/>
        </p:nvSpPr>
        <p:spPr bwMode="auto">
          <a:xfrm>
            <a:off x="0" y="3573463"/>
            <a:ext cx="529272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400">
                <a:latin typeface="Times New Roman" panose="02020603050405020304" pitchFamily="18" charset="0"/>
              </a:rPr>
              <a:t>	</a:t>
            </a:r>
            <a:r>
              <a:rPr lang="hr-HR" altLang="sr-Latn-RS" sz="2000" i="1">
                <a:latin typeface="Arial" panose="020B0604020202020204" pitchFamily="34" charset="0"/>
                <a:cs typeface="Arial" panose="020B0604020202020204" pitchFamily="34" charset="0"/>
              </a:rPr>
              <a:t>Linija skeniranja 3:</a:t>
            </a:r>
          </a:p>
          <a:p>
            <a:pPr algn="just" eaLnBrk="1" hangingPunct="1">
              <a:spcBef>
                <a:spcPct val="50000"/>
              </a:spcBef>
              <a:buClrTx/>
              <a:buSzTx/>
              <a:buFontTx/>
              <a:buNone/>
            </a:pPr>
            <a:r>
              <a:rPr lang="hr-HR" altLang="sr-Latn-RS" sz="1800">
                <a:latin typeface="Arial" panose="020B0604020202020204" pitchFamily="34" charset="0"/>
                <a:cs typeface="Arial" panose="020B0604020202020204" pitchFamily="34" charset="0"/>
              </a:rPr>
              <a:t>	Vrh A ubrajamo jednom jer je to </a:t>
            </a:r>
            <a:r>
              <a:rPr lang="hr-HR" altLang="sr-Latn-RS" sz="1800" i="1">
                <a:latin typeface="Arial" panose="020B0604020202020204" pitchFamily="34" charset="0"/>
                <a:cs typeface="Arial" panose="020B0604020202020204" pitchFamily="34" charset="0"/>
              </a:rPr>
              <a:t>y</a:t>
            </a:r>
            <a:r>
              <a:rPr lang="hr-HR" altLang="sr-Latn-RS" sz="1800" i="1" baseline="-30000">
                <a:latin typeface="Arial" panose="020B0604020202020204" pitchFamily="34" charset="0"/>
                <a:cs typeface="Arial" panose="020B0604020202020204" pitchFamily="34" charset="0"/>
              </a:rPr>
              <a:t>min</a:t>
            </a:r>
            <a:r>
              <a:rPr lang="hr-HR" altLang="sr-Latn-RS" sz="1800">
                <a:latin typeface="Arial" panose="020B0604020202020204" pitchFamily="34" charset="0"/>
                <a:cs typeface="Arial" panose="020B0604020202020204" pitchFamily="34" charset="0"/>
              </a:rPr>
              <a:t> vrh ruba FA ali i </a:t>
            </a:r>
            <a:r>
              <a:rPr lang="hr-HR" altLang="sr-Latn-RS" sz="1800" i="1">
                <a:latin typeface="Arial" panose="020B0604020202020204" pitchFamily="34" charset="0"/>
                <a:cs typeface="Arial" panose="020B0604020202020204" pitchFamily="34" charset="0"/>
              </a:rPr>
              <a:t>y</a:t>
            </a:r>
            <a:r>
              <a:rPr lang="hr-HR" altLang="sr-Latn-RS" sz="1800" i="1" baseline="-30000">
                <a:latin typeface="Arial" panose="020B0604020202020204" pitchFamily="34" charset="0"/>
                <a:cs typeface="Arial" panose="020B0604020202020204" pitchFamily="34" charset="0"/>
              </a:rPr>
              <a:t>max</a:t>
            </a:r>
            <a:r>
              <a:rPr lang="hr-HR" altLang="sr-Latn-RS" sz="1800">
                <a:latin typeface="Arial" panose="020B0604020202020204" pitchFamily="34" charset="0"/>
                <a:cs typeface="Arial" panose="020B0604020202020204" pitchFamily="34" charset="0"/>
              </a:rPr>
              <a:t> vrh ruba AB. </a:t>
            </a:r>
          </a:p>
          <a:p>
            <a:pPr algn="just" eaLnBrk="1" hangingPunct="1">
              <a:spcBef>
                <a:spcPct val="50000"/>
              </a:spcBef>
              <a:buClrTx/>
              <a:buSzTx/>
              <a:buFontTx/>
              <a:buNone/>
            </a:pPr>
            <a:r>
              <a:rPr lang="hr-HR" altLang="sr-Latn-RS" sz="1800">
                <a:latin typeface="Arial" panose="020B0604020202020204" pitchFamily="34" charset="0"/>
                <a:cs typeface="Arial" panose="020B0604020202020204" pitchFamily="34" charset="0"/>
              </a:rPr>
              <a:t>	Ovo uzrokuje neparnost pa iscrtavamo odsječak do 1 piksela lijevo od presjeka s rubom CB, gdje brojač parnosti postaje paran i odsječak završava.</a:t>
            </a:r>
          </a:p>
        </p:txBody>
      </p:sp>
      <p:cxnSp>
        <p:nvCxnSpPr>
          <p:cNvPr id="24584" name="Straight Connector 21">
            <a:extLst>
              <a:ext uri="{FF2B5EF4-FFF2-40B4-BE49-F238E27FC236}">
                <a16:creationId xmlns:a16="http://schemas.microsoft.com/office/drawing/2014/main" id="{1547DBC3-706A-426E-A734-E4FF66CE8900}"/>
              </a:ext>
            </a:extLst>
          </p:cNvPr>
          <p:cNvCxnSpPr>
            <a:cxnSpLocks noChangeShapeType="1"/>
          </p:cNvCxnSpPr>
          <p:nvPr/>
        </p:nvCxnSpPr>
        <p:spPr bwMode="auto">
          <a:xfrm>
            <a:off x="5795963" y="4221163"/>
            <a:ext cx="2286000" cy="0"/>
          </a:xfrm>
          <a:prstGeom prst="line">
            <a:avLst/>
          </a:prstGeom>
          <a:noFill/>
          <a:ln w="15875" algn="ctr">
            <a:solidFill>
              <a:srgbClr val="C00000"/>
            </a:solidFill>
            <a:round/>
            <a:headEnd/>
            <a:tailEnd/>
          </a:ln>
          <a:extLst>
            <a:ext uri="{909E8E84-426E-40DD-AFC4-6F175D3DCCD1}">
              <a14:hiddenFill xmlns:a14="http://schemas.microsoft.com/office/drawing/2010/main">
                <a:noFill/>
              </a14:hiddenFill>
            </a:ext>
          </a:extLst>
        </p:spPr>
      </p:cxnSp>
      <p:cxnSp>
        <p:nvCxnSpPr>
          <p:cNvPr id="24585" name="Straight Connector 23">
            <a:extLst>
              <a:ext uri="{FF2B5EF4-FFF2-40B4-BE49-F238E27FC236}">
                <a16:creationId xmlns:a16="http://schemas.microsoft.com/office/drawing/2014/main" id="{AEA32407-B449-496F-9839-F57DC919754A}"/>
              </a:ext>
            </a:extLst>
          </p:cNvPr>
          <p:cNvCxnSpPr>
            <a:cxnSpLocks noChangeShapeType="1"/>
          </p:cNvCxnSpPr>
          <p:nvPr/>
        </p:nvCxnSpPr>
        <p:spPr bwMode="auto">
          <a:xfrm rot="10800000">
            <a:off x="6011863" y="5595938"/>
            <a:ext cx="235743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sp>
        <p:nvSpPr>
          <p:cNvPr id="24586" name="Rectangle 2">
            <a:extLst>
              <a:ext uri="{FF2B5EF4-FFF2-40B4-BE49-F238E27FC236}">
                <a16:creationId xmlns:a16="http://schemas.microsoft.com/office/drawing/2014/main" id="{FDCD64F0-9BBB-40E0-80FF-CC626F583F87}"/>
              </a:ext>
            </a:extLst>
          </p:cNvPr>
          <p:cNvSpPr>
            <a:spLocks noGrp="1"/>
          </p:cNvSpPr>
          <p:nvPr>
            <p:ph type="title"/>
          </p:nvPr>
        </p:nvSpPr>
        <p:spPr>
          <a:xfrm>
            <a:off x="658813" y="333375"/>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42" name="Oval 41">
            <a:extLst>
              <a:ext uri="{FF2B5EF4-FFF2-40B4-BE49-F238E27FC236}">
                <a16:creationId xmlns:a16="http://schemas.microsoft.com/office/drawing/2014/main" id="{5EAAC52A-2EE6-4B39-A904-1B0E5B67C58E}"/>
              </a:ext>
            </a:extLst>
          </p:cNvPr>
          <p:cNvSpPr>
            <a:spLocks noChangeArrowheads="1"/>
          </p:cNvSpPr>
          <p:nvPr/>
        </p:nvSpPr>
        <p:spPr bwMode="auto">
          <a:xfrm>
            <a:off x="7091363" y="4140200"/>
            <a:ext cx="161925" cy="161925"/>
          </a:xfrm>
          <a:prstGeom prst="ellipse">
            <a:avLst/>
          </a:prstGeom>
          <a:solidFill>
            <a:srgbClr val="C00000">
              <a:alpha val="61960"/>
            </a:srgbClr>
          </a:solidFill>
          <a:ln>
            <a:noFill/>
          </a:ln>
          <a:extLst>
            <a:ext uri="{91240B29-F687-4F45-9708-019B960494DF}">
              <a14:hiddenLine xmlns:a14="http://schemas.microsoft.com/office/drawing/2010/main" w="9525">
                <a:solidFill>
                  <a:srgbClr val="000000"/>
                </a:solidFill>
                <a:round/>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43" name="Oval 42">
            <a:extLst>
              <a:ext uri="{FF2B5EF4-FFF2-40B4-BE49-F238E27FC236}">
                <a16:creationId xmlns:a16="http://schemas.microsoft.com/office/drawing/2014/main" id="{9C7FF09A-8360-4590-9CBA-E4FFDA6DA4FD}"/>
              </a:ext>
            </a:extLst>
          </p:cNvPr>
          <p:cNvSpPr>
            <a:spLocks noChangeArrowheads="1"/>
          </p:cNvSpPr>
          <p:nvPr/>
        </p:nvSpPr>
        <p:spPr bwMode="auto">
          <a:xfrm>
            <a:off x="6924675" y="4140200"/>
            <a:ext cx="161925" cy="161925"/>
          </a:xfrm>
          <a:prstGeom prst="ellipse">
            <a:avLst/>
          </a:prstGeom>
          <a:solidFill>
            <a:srgbClr val="C00000">
              <a:alpha val="61960"/>
            </a:srgbClr>
          </a:solidFill>
          <a:ln>
            <a:noFill/>
          </a:ln>
          <a:extLst>
            <a:ext uri="{91240B29-F687-4F45-9708-019B960494DF}">
              <a14:hiddenLine xmlns:a14="http://schemas.microsoft.com/office/drawing/2010/main" w="9525">
                <a:solidFill>
                  <a:srgbClr val="000000"/>
                </a:solidFill>
                <a:round/>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44" name="Oval 43">
            <a:extLst>
              <a:ext uri="{FF2B5EF4-FFF2-40B4-BE49-F238E27FC236}">
                <a16:creationId xmlns:a16="http://schemas.microsoft.com/office/drawing/2014/main" id="{DA2D7BC9-73D9-43B7-9720-9AA88BB48541}"/>
              </a:ext>
            </a:extLst>
          </p:cNvPr>
          <p:cNvSpPr>
            <a:spLocks noChangeArrowheads="1"/>
          </p:cNvSpPr>
          <p:nvPr/>
        </p:nvSpPr>
        <p:spPr bwMode="auto">
          <a:xfrm>
            <a:off x="6762750" y="4137025"/>
            <a:ext cx="161925" cy="161925"/>
          </a:xfrm>
          <a:prstGeom prst="ellipse">
            <a:avLst/>
          </a:prstGeom>
          <a:solidFill>
            <a:srgbClr val="C00000">
              <a:alpha val="61960"/>
            </a:srgbClr>
          </a:solidFill>
          <a:ln>
            <a:noFill/>
          </a:ln>
          <a:extLst>
            <a:ext uri="{91240B29-F687-4F45-9708-019B960494DF}">
              <a14:hiddenLine xmlns:a14="http://schemas.microsoft.com/office/drawing/2010/main" w="9525">
                <a:solidFill>
                  <a:srgbClr val="000000"/>
                </a:solidFill>
                <a:round/>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45" name="Oval 44">
            <a:extLst>
              <a:ext uri="{FF2B5EF4-FFF2-40B4-BE49-F238E27FC236}">
                <a16:creationId xmlns:a16="http://schemas.microsoft.com/office/drawing/2014/main" id="{7CEB0CC6-B41F-49E0-8B5A-DD0FD7D42732}"/>
              </a:ext>
            </a:extLst>
          </p:cNvPr>
          <p:cNvSpPr>
            <a:spLocks noChangeArrowheads="1"/>
          </p:cNvSpPr>
          <p:nvPr/>
        </p:nvSpPr>
        <p:spPr bwMode="auto">
          <a:xfrm>
            <a:off x="6596063" y="4141788"/>
            <a:ext cx="161925" cy="161925"/>
          </a:xfrm>
          <a:prstGeom prst="ellipse">
            <a:avLst/>
          </a:prstGeom>
          <a:solidFill>
            <a:srgbClr val="C00000">
              <a:alpha val="61960"/>
            </a:srgbClr>
          </a:solidFill>
          <a:ln>
            <a:noFill/>
          </a:ln>
          <a:extLst>
            <a:ext uri="{91240B29-F687-4F45-9708-019B960494DF}">
              <a14:hiddenLine xmlns:a14="http://schemas.microsoft.com/office/drawing/2010/main" w="9525">
                <a:solidFill>
                  <a:srgbClr val="000000"/>
                </a:solidFill>
                <a:round/>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46" name="Oval 45">
            <a:extLst>
              <a:ext uri="{FF2B5EF4-FFF2-40B4-BE49-F238E27FC236}">
                <a16:creationId xmlns:a16="http://schemas.microsoft.com/office/drawing/2014/main" id="{AD762CB8-7AF0-4CE7-BB3A-C17DD2CE6656}"/>
              </a:ext>
            </a:extLst>
          </p:cNvPr>
          <p:cNvSpPr>
            <a:spLocks noChangeArrowheads="1"/>
          </p:cNvSpPr>
          <p:nvPr/>
        </p:nvSpPr>
        <p:spPr bwMode="auto">
          <a:xfrm>
            <a:off x="6434138" y="4141788"/>
            <a:ext cx="161925" cy="161925"/>
          </a:xfrm>
          <a:prstGeom prst="ellipse">
            <a:avLst/>
          </a:prstGeom>
          <a:solidFill>
            <a:srgbClr val="C00000">
              <a:alpha val="61960"/>
            </a:srgbClr>
          </a:solidFill>
          <a:ln>
            <a:noFill/>
          </a:ln>
          <a:extLst>
            <a:ext uri="{91240B29-F687-4F45-9708-019B960494DF}">
              <a14:hiddenLine xmlns:a14="http://schemas.microsoft.com/office/drawing/2010/main" w="9525">
                <a:solidFill>
                  <a:srgbClr val="000000"/>
                </a:solidFill>
                <a:round/>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47" name="Oval 46">
            <a:extLst>
              <a:ext uri="{FF2B5EF4-FFF2-40B4-BE49-F238E27FC236}">
                <a16:creationId xmlns:a16="http://schemas.microsoft.com/office/drawing/2014/main" id="{929638AC-AE19-496C-A696-C3B3D90947C0}"/>
              </a:ext>
            </a:extLst>
          </p:cNvPr>
          <p:cNvSpPr>
            <a:spLocks noChangeArrowheads="1"/>
          </p:cNvSpPr>
          <p:nvPr/>
        </p:nvSpPr>
        <p:spPr bwMode="auto">
          <a:xfrm>
            <a:off x="6272213" y="4140200"/>
            <a:ext cx="161925" cy="161925"/>
          </a:xfrm>
          <a:prstGeom prst="ellipse">
            <a:avLst/>
          </a:prstGeom>
          <a:solidFill>
            <a:srgbClr val="C00000">
              <a:alpha val="61960"/>
            </a:srgbClr>
          </a:solidFill>
          <a:ln>
            <a:noFill/>
          </a:ln>
          <a:extLst>
            <a:ext uri="{91240B29-F687-4F45-9708-019B960494DF}">
              <a14:hiddenLine xmlns:a14="http://schemas.microsoft.com/office/drawing/2010/main" w="9525">
                <a:solidFill>
                  <a:srgbClr val="000000"/>
                </a:solidFill>
                <a:round/>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48" name="Oval 47">
            <a:extLst>
              <a:ext uri="{FF2B5EF4-FFF2-40B4-BE49-F238E27FC236}">
                <a16:creationId xmlns:a16="http://schemas.microsoft.com/office/drawing/2014/main" id="{48B583ED-2B94-4250-ADD3-B6E90112A9CC}"/>
              </a:ext>
            </a:extLst>
          </p:cNvPr>
          <p:cNvSpPr>
            <a:spLocks noChangeArrowheads="1"/>
          </p:cNvSpPr>
          <p:nvPr/>
        </p:nvSpPr>
        <p:spPr bwMode="auto">
          <a:xfrm>
            <a:off x="6113463" y="4137025"/>
            <a:ext cx="161925" cy="161925"/>
          </a:xfrm>
          <a:prstGeom prst="ellipse">
            <a:avLst/>
          </a:prstGeom>
          <a:solidFill>
            <a:srgbClr val="C00000">
              <a:alpha val="61960"/>
            </a:srgbClr>
          </a:solidFill>
          <a:ln>
            <a:noFill/>
          </a:ln>
          <a:extLst>
            <a:ext uri="{91240B29-F687-4F45-9708-019B960494DF}">
              <a14:hiddenLine xmlns:a14="http://schemas.microsoft.com/office/drawing/2010/main" w="9525">
                <a:solidFill>
                  <a:srgbClr val="000000"/>
                </a:solidFill>
                <a:round/>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49" name="Oval 48">
            <a:extLst>
              <a:ext uri="{FF2B5EF4-FFF2-40B4-BE49-F238E27FC236}">
                <a16:creationId xmlns:a16="http://schemas.microsoft.com/office/drawing/2014/main" id="{EA98F76F-8606-4E61-88C9-68B960D672C8}"/>
              </a:ext>
            </a:extLst>
          </p:cNvPr>
          <p:cNvSpPr>
            <a:spLocks noChangeArrowheads="1"/>
          </p:cNvSpPr>
          <p:nvPr/>
        </p:nvSpPr>
        <p:spPr bwMode="auto">
          <a:xfrm>
            <a:off x="5969000" y="4141788"/>
            <a:ext cx="161925" cy="161925"/>
          </a:xfrm>
          <a:prstGeom prst="ellipse">
            <a:avLst/>
          </a:prstGeom>
          <a:solidFill>
            <a:srgbClr val="C00000">
              <a:alpha val="61960"/>
            </a:srgbClr>
          </a:solidFill>
          <a:ln>
            <a:noFill/>
          </a:ln>
          <a:extLst>
            <a:ext uri="{91240B29-F687-4F45-9708-019B960494DF}">
              <a14:hiddenLine xmlns:a14="http://schemas.microsoft.com/office/drawing/2010/main" w="9525">
                <a:solidFill>
                  <a:srgbClr val="000000"/>
                </a:solidFill>
                <a:round/>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2" name="Rezervirano mjesto broja slajda 1">
            <a:extLst>
              <a:ext uri="{FF2B5EF4-FFF2-40B4-BE49-F238E27FC236}">
                <a16:creationId xmlns:a16="http://schemas.microsoft.com/office/drawing/2014/main" id="{DFEC8C73-1544-F8B4-EE8A-B0CEBC8EB06A}"/>
              </a:ext>
            </a:extLst>
          </p:cNvPr>
          <p:cNvSpPr>
            <a:spLocks noGrp="1"/>
          </p:cNvSpPr>
          <p:nvPr>
            <p:ph type="sldNum" sz="quarter" idx="12"/>
          </p:nvPr>
        </p:nvSpPr>
        <p:spPr/>
        <p:txBody>
          <a:bodyPr/>
          <a:lstStyle/>
          <a:p>
            <a:fld id="{65A14E20-BA2A-43FD-BB4B-65CF80A0D6DA}" type="slidenum">
              <a:rPr lang="en-GB" altLang="sr-Latn-RS" smtClean="0"/>
              <a:pPr/>
              <a:t>46</a:t>
            </a:fld>
            <a:endParaRPr lang="en-GB" altLang="sr-Latn-R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401"/>
                                        </p:tgtEl>
                                        <p:attrNameLst>
                                          <p:attrName>style.visibility</p:attrName>
                                        </p:attrNameLst>
                                      </p:cBhvr>
                                      <p:to>
                                        <p:strVal val="visible"/>
                                      </p:to>
                                    </p:set>
                                    <p:animEffect transition="in" filter="fade">
                                      <p:cBhvr>
                                        <p:cTn id="7" dur="2000"/>
                                        <p:tgtEl>
                                          <p:spTgt spid="1640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2000"/>
                                        <p:tgtEl>
                                          <p:spTgt spid="4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2000"/>
                                        <p:tgtEl>
                                          <p:spTgt spid="4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2000"/>
                                        <p:tgtEl>
                                          <p:spTgt spid="4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2000"/>
                                        <p:tgtEl>
                                          <p:spTgt spid="4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2000"/>
                                        <p:tgtEl>
                                          <p:spTgt spid="4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2000"/>
                                        <p:tgtEl>
                                          <p:spTgt spid="4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2000"/>
                                        <p:tgtEl>
                                          <p:spTgt spid="4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P spid="46" grpId="0" animBg="1"/>
      <p:bldP spid="47" grpId="0" animBg="1"/>
      <p:bldP spid="48" grpId="0" animBg="1"/>
      <p:bldP spid="4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Date Placeholder 2">
            <a:extLst>
              <a:ext uri="{FF2B5EF4-FFF2-40B4-BE49-F238E27FC236}">
                <a16:creationId xmlns:a16="http://schemas.microsoft.com/office/drawing/2014/main" id="{8A6A0D53-42AA-4842-8FA4-FE8DC5D6C88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23EF4F66-BF54-4DE4-A224-364F01224C75}"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26627" name="Text Box 12">
            <a:extLst>
              <a:ext uri="{FF2B5EF4-FFF2-40B4-BE49-F238E27FC236}">
                <a16:creationId xmlns:a16="http://schemas.microsoft.com/office/drawing/2014/main" id="{944D1CEF-7ED8-4E13-A7CE-30E1BCE24B4A}"/>
              </a:ext>
            </a:extLst>
          </p:cNvPr>
          <p:cNvSpPr txBox="1">
            <a:spLocks noChangeArrowheads="1"/>
          </p:cNvSpPr>
          <p:nvPr/>
        </p:nvSpPr>
        <p:spPr bwMode="auto">
          <a:xfrm>
            <a:off x="0" y="1341438"/>
            <a:ext cx="5181600" cy="30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400">
                <a:latin typeface="Times New Roman" panose="02020603050405020304" pitchFamily="18" charset="0"/>
                <a:cs typeface="Times New Roman" panose="02020603050405020304" pitchFamily="18" charset="0"/>
              </a:rPr>
              <a:t>	</a:t>
            </a:r>
            <a:r>
              <a:rPr lang="hr-HR" altLang="sr-Latn-RS" sz="2000" i="1">
                <a:latin typeface="Arial" panose="020B0604020202020204" pitchFamily="34" charset="0"/>
                <a:cs typeface="Arial" panose="020B0604020202020204" pitchFamily="34" charset="0"/>
              </a:rPr>
              <a:t>Linija skeniranja 1:</a:t>
            </a:r>
          </a:p>
          <a:p>
            <a:pPr algn="just" eaLnBrk="1" hangingPunct="1">
              <a:spcBef>
                <a:spcPct val="50000"/>
              </a:spcBef>
              <a:buClrTx/>
              <a:buSzTx/>
              <a:buFontTx/>
              <a:buNone/>
            </a:pPr>
            <a:r>
              <a:rPr lang="hr-HR" altLang="sr-Latn-RS" sz="1800">
                <a:latin typeface="Arial" panose="020B0604020202020204" pitchFamily="34" charset="0"/>
                <a:cs typeface="Arial" panose="020B0604020202020204" pitchFamily="34" charset="0"/>
              </a:rPr>
              <a:t>	Oba ruba AB i BC imaju </a:t>
            </a:r>
            <a:r>
              <a:rPr lang="hr-HR" altLang="sr-Latn-RS" sz="1800" i="1">
                <a:latin typeface="Arial" panose="020B0604020202020204" pitchFamily="34" charset="0"/>
                <a:cs typeface="Arial" panose="020B0604020202020204" pitchFamily="34" charset="0"/>
              </a:rPr>
              <a:t>y</a:t>
            </a:r>
            <a:r>
              <a:rPr lang="hr-HR" altLang="sr-Latn-RS" sz="1800" i="1" baseline="-30000">
                <a:latin typeface="Arial" panose="020B0604020202020204" pitchFamily="34" charset="0"/>
                <a:cs typeface="Arial" panose="020B0604020202020204" pitchFamily="34" charset="0"/>
              </a:rPr>
              <a:t>min</a:t>
            </a:r>
            <a:r>
              <a:rPr lang="hr-HR" altLang="sr-Latn-RS" sz="1800">
                <a:latin typeface="Arial" panose="020B0604020202020204" pitchFamily="34" charset="0"/>
                <a:cs typeface="Arial" panose="020B0604020202020204" pitchFamily="34" charset="0"/>
              </a:rPr>
              <a:t> vrh u točci B, pa se ona stoga dva puta ubraja u brojaču parnosti te daje paran rezultat. </a:t>
            </a:r>
          </a:p>
          <a:p>
            <a:pPr algn="just" eaLnBrk="1" hangingPunct="1">
              <a:spcBef>
                <a:spcPct val="50000"/>
              </a:spcBef>
              <a:buClrTx/>
              <a:buSzTx/>
              <a:buFontTx/>
              <a:buNone/>
            </a:pPr>
            <a:r>
              <a:rPr lang="hr-HR" altLang="sr-Latn-RS" sz="1800">
                <a:latin typeface="Arial" panose="020B0604020202020204" pitchFamily="34" charset="0"/>
                <a:cs typeface="Arial" panose="020B0604020202020204" pitchFamily="34" charset="0"/>
              </a:rPr>
              <a:t>	Ovaj vrh se ponaša kao nulti odsječak – ulaz u vrh, crtanje piksela, izlaz iz vrha. </a:t>
            </a:r>
          </a:p>
          <a:p>
            <a:pPr algn="just" eaLnBrk="1" hangingPunct="1">
              <a:spcBef>
                <a:spcPct val="50000"/>
              </a:spcBef>
              <a:buClrTx/>
              <a:buSzTx/>
              <a:buFontTx/>
              <a:buNone/>
            </a:pPr>
            <a:r>
              <a:rPr lang="hr-HR" altLang="sr-Latn-RS" sz="1800">
                <a:latin typeface="Arial" panose="020B0604020202020204" pitchFamily="34" charset="0"/>
                <a:cs typeface="Arial" panose="020B0604020202020204" pitchFamily="34" charset="0"/>
              </a:rPr>
              <a:t>	Lokalni minimum iscrtava jedan piksel (u slučaju lokalnog max. ne iscrtavamo niti jedan piksel)</a:t>
            </a:r>
          </a:p>
        </p:txBody>
      </p:sp>
      <p:pic>
        <p:nvPicPr>
          <p:cNvPr id="26628" name="Picture 15" descr="Slika210">
            <a:extLst>
              <a:ext uri="{FF2B5EF4-FFF2-40B4-BE49-F238E27FC236}">
                <a16:creationId xmlns:a16="http://schemas.microsoft.com/office/drawing/2014/main" id="{C1620049-DF72-41CE-BE3B-8F9D583B59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7813" y="1628775"/>
            <a:ext cx="3429000" cy="281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6629" name="Straight Connector 22">
            <a:extLst>
              <a:ext uri="{FF2B5EF4-FFF2-40B4-BE49-F238E27FC236}">
                <a16:creationId xmlns:a16="http://schemas.microsoft.com/office/drawing/2014/main" id="{8D8C349C-5ECA-431F-96E2-AE2FF957786B}"/>
              </a:ext>
            </a:extLst>
          </p:cNvPr>
          <p:cNvCxnSpPr>
            <a:cxnSpLocks noChangeShapeType="1"/>
          </p:cNvCxnSpPr>
          <p:nvPr/>
        </p:nvCxnSpPr>
        <p:spPr bwMode="auto">
          <a:xfrm>
            <a:off x="5572125" y="4057650"/>
            <a:ext cx="2786063" cy="0"/>
          </a:xfrm>
          <a:prstGeom prst="line">
            <a:avLst/>
          </a:prstGeom>
          <a:noFill/>
          <a:ln w="19050" algn="ctr">
            <a:solidFill>
              <a:srgbClr val="C00000"/>
            </a:solidFill>
            <a:round/>
            <a:headEnd/>
            <a:tailEnd/>
          </a:ln>
          <a:extLst>
            <a:ext uri="{909E8E84-426E-40DD-AFC4-6F175D3DCCD1}">
              <a14:hiddenFill xmlns:a14="http://schemas.microsoft.com/office/drawing/2010/main">
                <a:noFill/>
              </a14:hiddenFill>
            </a:ext>
          </a:extLst>
        </p:spPr>
      </p:cxnSp>
      <p:sp>
        <p:nvSpPr>
          <p:cNvPr id="20" name="Oval 19">
            <a:extLst>
              <a:ext uri="{FF2B5EF4-FFF2-40B4-BE49-F238E27FC236}">
                <a16:creationId xmlns:a16="http://schemas.microsoft.com/office/drawing/2014/main" id="{8998AAD2-859E-47D3-ADA7-760BC0929C2C}"/>
              </a:ext>
            </a:extLst>
          </p:cNvPr>
          <p:cNvSpPr>
            <a:spLocks noChangeArrowheads="1"/>
          </p:cNvSpPr>
          <p:nvPr/>
        </p:nvSpPr>
        <p:spPr bwMode="auto">
          <a:xfrm>
            <a:off x="6659563" y="3933825"/>
            <a:ext cx="215900" cy="206375"/>
          </a:xfrm>
          <a:prstGeom prst="ellipse">
            <a:avLst/>
          </a:prstGeom>
          <a:solidFill>
            <a:schemeClr val="tx1"/>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26631" name="Text Box 12">
            <a:extLst>
              <a:ext uri="{FF2B5EF4-FFF2-40B4-BE49-F238E27FC236}">
                <a16:creationId xmlns:a16="http://schemas.microsoft.com/office/drawing/2014/main" id="{343C6187-213F-4D12-A531-941B61EED0BF}"/>
              </a:ext>
            </a:extLst>
          </p:cNvPr>
          <p:cNvSpPr txBox="1">
            <a:spLocks noChangeArrowheads="1"/>
          </p:cNvSpPr>
          <p:nvPr/>
        </p:nvSpPr>
        <p:spPr bwMode="auto">
          <a:xfrm>
            <a:off x="0" y="4581525"/>
            <a:ext cx="8763000" cy="115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r>
              <a:rPr lang="hr-HR" altLang="sr-Latn-RS" sz="2400">
                <a:latin typeface="Times New Roman" panose="02020603050405020304" pitchFamily="18" charset="0"/>
              </a:rPr>
              <a:t>	</a:t>
            </a:r>
            <a:r>
              <a:rPr lang="hr-HR" altLang="sr-Latn-RS" sz="2000" i="1">
                <a:latin typeface="Arial" panose="020B0604020202020204" pitchFamily="34" charset="0"/>
                <a:cs typeface="Arial" panose="020B0604020202020204" pitchFamily="34" charset="0"/>
              </a:rPr>
              <a:t>Linija skeniranja 9:</a:t>
            </a:r>
          </a:p>
          <a:p>
            <a:pPr algn="just" eaLnBrk="1" hangingPunct="1">
              <a:spcBef>
                <a:spcPct val="50000"/>
              </a:spcBef>
              <a:buClrTx/>
              <a:buSzTx/>
              <a:buFontTx/>
              <a:buNone/>
            </a:pPr>
            <a:r>
              <a:rPr lang="hr-HR" altLang="sr-Latn-RS" sz="1800">
                <a:latin typeface="Arial" panose="020B0604020202020204" pitchFamily="34" charset="0"/>
                <a:cs typeface="Arial" panose="020B0604020202020204" pitchFamily="34" charset="0"/>
              </a:rPr>
              <a:t>	Vrh F dijele rubovi FA i EF. Oba vrha su </a:t>
            </a:r>
            <a:r>
              <a:rPr lang="hr-HR" altLang="sr-Latn-RS" sz="1800" i="1">
                <a:latin typeface="Arial" panose="020B0604020202020204" pitchFamily="34" charset="0"/>
                <a:cs typeface="Arial" panose="020B0604020202020204" pitchFamily="34" charset="0"/>
              </a:rPr>
              <a:t>y</a:t>
            </a:r>
            <a:r>
              <a:rPr lang="hr-HR" altLang="sr-Latn-RS" sz="1800" i="1" baseline="-30000">
                <a:latin typeface="Arial" panose="020B0604020202020204" pitchFamily="34" charset="0"/>
                <a:cs typeface="Arial" panose="020B0604020202020204" pitchFamily="34" charset="0"/>
              </a:rPr>
              <a:t>max</a:t>
            </a:r>
            <a:r>
              <a:rPr lang="hr-HR" altLang="sr-Latn-RS" sz="1800">
                <a:latin typeface="Arial" panose="020B0604020202020204" pitchFamily="34" charset="0"/>
                <a:cs typeface="Arial" panose="020B0604020202020204" pitchFamily="34" charset="0"/>
              </a:rPr>
              <a:t> vrhovi i stoga ne utječu na brojač parnosti, pa rezultat ostaje neparan.</a:t>
            </a:r>
          </a:p>
        </p:txBody>
      </p:sp>
      <p:cxnSp>
        <p:nvCxnSpPr>
          <p:cNvPr id="26632" name="Straight Connector 18">
            <a:extLst>
              <a:ext uri="{FF2B5EF4-FFF2-40B4-BE49-F238E27FC236}">
                <a16:creationId xmlns:a16="http://schemas.microsoft.com/office/drawing/2014/main" id="{E3CE38C7-F918-4469-A3DC-8CDD75C7BED9}"/>
              </a:ext>
            </a:extLst>
          </p:cNvPr>
          <p:cNvCxnSpPr>
            <a:cxnSpLocks noChangeShapeType="1"/>
          </p:cNvCxnSpPr>
          <p:nvPr/>
        </p:nvCxnSpPr>
        <p:spPr bwMode="auto">
          <a:xfrm>
            <a:off x="5580063" y="2636838"/>
            <a:ext cx="2500312" cy="0"/>
          </a:xfrm>
          <a:prstGeom prst="line">
            <a:avLst/>
          </a:prstGeom>
          <a:noFill/>
          <a:ln w="15875" algn="ctr">
            <a:solidFill>
              <a:srgbClr val="C00000"/>
            </a:solidFill>
            <a:round/>
            <a:headEnd/>
            <a:tailEnd/>
          </a:ln>
          <a:extLst>
            <a:ext uri="{909E8E84-426E-40DD-AFC4-6F175D3DCCD1}">
              <a14:hiddenFill xmlns:a14="http://schemas.microsoft.com/office/drawing/2010/main">
                <a:noFill/>
              </a14:hiddenFill>
            </a:ext>
          </a:extLst>
        </p:spPr>
      </p:cxnSp>
      <p:sp>
        <p:nvSpPr>
          <p:cNvPr id="23" name="Oval 22">
            <a:extLst>
              <a:ext uri="{FF2B5EF4-FFF2-40B4-BE49-F238E27FC236}">
                <a16:creationId xmlns:a16="http://schemas.microsoft.com/office/drawing/2014/main" id="{EEE701D7-5D6B-4DD7-8DE3-E3DEC52BEE37}"/>
              </a:ext>
            </a:extLst>
          </p:cNvPr>
          <p:cNvSpPr>
            <a:spLocks noChangeArrowheads="1"/>
          </p:cNvSpPr>
          <p:nvPr/>
        </p:nvSpPr>
        <p:spPr bwMode="auto">
          <a:xfrm>
            <a:off x="5795963" y="2528888"/>
            <a:ext cx="184150" cy="215900"/>
          </a:xfrm>
          <a:prstGeom prst="ellipse">
            <a:avLst/>
          </a:prstGeom>
          <a:solidFill>
            <a:schemeClr val="bg1"/>
          </a:solidFill>
          <a:ln w="9525" algn="ctr">
            <a:solidFill>
              <a:schemeClr val="tx1"/>
            </a:solidFill>
            <a:round/>
            <a:headEnd/>
            <a:tailEnd/>
          </a:ln>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None/>
            </a:pPr>
            <a:endParaRPr lang="hr-HR" altLang="sr-Latn-RS" sz="2400">
              <a:latin typeface="Times New Roman" panose="02020603050405020304" pitchFamily="18" charset="0"/>
            </a:endParaRPr>
          </a:p>
        </p:txBody>
      </p:sp>
      <p:sp>
        <p:nvSpPr>
          <p:cNvPr id="26634" name="Rectangle 2">
            <a:extLst>
              <a:ext uri="{FF2B5EF4-FFF2-40B4-BE49-F238E27FC236}">
                <a16:creationId xmlns:a16="http://schemas.microsoft.com/office/drawing/2014/main" id="{6E259758-AC81-4769-A7AA-3D213FA25A99}"/>
              </a:ext>
            </a:extLst>
          </p:cNvPr>
          <p:cNvSpPr>
            <a:spLocks noGrp="1"/>
          </p:cNvSpPr>
          <p:nvPr>
            <p:ph type="title"/>
          </p:nvPr>
        </p:nvSpPr>
        <p:spPr>
          <a:xfrm>
            <a:off x="658813" y="333375"/>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2" name="Rezervirano mjesto broja slajda 1">
            <a:extLst>
              <a:ext uri="{FF2B5EF4-FFF2-40B4-BE49-F238E27FC236}">
                <a16:creationId xmlns:a16="http://schemas.microsoft.com/office/drawing/2014/main" id="{F69E23EB-8CEA-0AE8-5064-777F0AF19CB2}"/>
              </a:ext>
            </a:extLst>
          </p:cNvPr>
          <p:cNvSpPr>
            <a:spLocks noGrp="1"/>
          </p:cNvSpPr>
          <p:nvPr>
            <p:ph type="sldNum" sz="quarter" idx="12"/>
          </p:nvPr>
        </p:nvSpPr>
        <p:spPr/>
        <p:txBody>
          <a:bodyPr/>
          <a:lstStyle/>
          <a:p>
            <a:fld id="{65A14E20-BA2A-43FD-BB4B-65CF80A0D6DA}" type="slidenum">
              <a:rPr lang="en-GB" altLang="sr-Latn-RS" smtClean="0"/>
              <a:pPr/>
              <a:t>47</a:t>
            </a:fld>
            <a:endParaRPr lang="en-GB" altLang="sr-Latn-R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2">
            <a:extLst>
              <a:ext uri="{FF2B5EF4-FFF2-40B4-BE49-F238E27FC236}">
                <a16:creationId xmlns:a16="http://schemas.microsoft.com/office/drawing/2014/main" id="{1F8CAA11-5BA0-4621-AF7A-1DB7059F4D9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725FADBD-40EE-4F2E-A0DB-9D844BAE5B2A}"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28675" name="Text Box 12">
            <a:extLst>
              <a:ext uri="{FF2B5EF4-FFF2-40B4-BE49-F238E27FC236}">
                <a16:creationId xmlns:a16="http://schemas.microsoft.com/office/drawing/2014/main" id="{1352C7A4-2A38-400B-AF32-D54932B36789}"/>
              </a:ext>
            </a:extLst>
          </p:cNvPr>
          <p:cNvSpPr txBox="1">
            <a:spLocks noChangeArrowheads="1"/>
          </p:cNvSpPr>
          <p:nvPr/>
        </p:nvSpPr>
        <p:spPr bwMode="auto">
          <a:xfrm>
            <a:off x="539750" y="1484313"/>
            <a:ext cx="792003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marL="0" indent="0" algn="just" eaLnBrk="1" hangingPunct="1">
              <a:spcBef>
                <a:spcPct val="50000"/>
              </a:spcBef>
              <a:buClrTx/>
              <a:buSzTx/>
              <a:buNone/>
            </a:pPr>
            <a:r>
              <a:rPr lang="hr-HR" altLang="sr-Latn-RS" sz="2000" dirty="0">
                <a:latin typeface="Arial" panose="020B0604020202020204" pitchFamily="34" charset="0"/>
                <a:cs typeface="Arial" panose="020B0604020202020204" pitchFamily="34" charset="0"/>
              </a:rPr>
              <a:t>Ispunjavanje trokuta?</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Za svaki piksel provode se testovi sa 3 jednadžbe rubova</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Ako su sva tri testa prošla -&gt; crtaj piksel</a:t>
            </a:r>
          </a:p>
        </p:txBody>
      </p:sp>
      <p:sp>
        <p:nvSpPr>
          <p:cNvPr id="28676" name="Rectangle 2">
            <a:extLst>
              <a:ext uri="{FF2B5EF4-FFF2-40B4-BE49-F238E27FC236}">
                <a16:creationId xmlns:a16="http://schemas.microsoft.com/office/drawing/2014/main" id="{3F39BEAE-25DB-4CE1-8A6A-E1F5FB1C0942}"/>
              </a:ext>
            </a:extLst>
          </p:cNvPr>
          <p:cNvSpPr>
            <a:spLocks noGrp="1"/>
          </p:cNvSpPr>
          <p:nvPr>
            <p:ph type="title"/>
          </p:nvPr>
        </p:nvSpPr>
        <p:spPr>
          <a:xfrm>
            <a:off x="658813" y="333375"/>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6BF190A9-92CC-4E5F-8492-79DC8B4CCD9F}"/>
              </a:ext>
            </a:extLst>
          </p:cNvPr>
          <p:cNvPicPr>
            <a:picLocks noChangeAspect="1"/>
          </p:cNvPicPr>
          <p:nvPr/>
        </p:nvPicPr>
        <p:blipFill>
          <a:blip r:embed="rId3"/>
          <a:stretch>
            <a:fillRect/>
          </a:stretch>
        </p:blipFill>
        <p:spPr>
          <a:xfrm>
            <a:off x="4662487" y="4829176"/>
            <a:ext cx="2762508" cy="1838324"/>
          </a:xfrm>
          <a:prstGeom prst="rect">
            <a:avLst/>
          </a:prstGeom>
        </p:spPr>
      </p:pic>
      <p:sp>
        <p:nvSpPr>
          <p:cNvPr id="12" name="TextBox 11">
            <a:extLst>
              <a:ext uri="{FF2B5EF4-FFF2-40B4-BE49-F238E27FC236}">
                <a16:creationId xmlns:a16="http://schemas.microsoft.com/office/drawing/2014/main" id="{B3E604FF-0D54-473F-8D39-98692A1D53F1}"/>
              </a:ext>
            </a:extLst>
          </p:cNvPr>
          <p:cNvSpPr txBox="1"/>
          <p:nvPr/>
        </p:nvSpPr>
        <p:spPr>
          <a:xfrm>
            <a:off x="539833" y="3008926"/>
            <a:ext cx="3625155" cy="2246769"/>
          </a:xfrm>
          <a:prstGeom prst="rect">
            <a:avLst/>
          </a:prstGeom>
          <a:noFill/>
        </p:spPr>
        <p:txBody>
          <a:bodyPr wrap="square" rtlCol="0">
            <a:spAutoFit/>
          </a:bodyPr>
          <a:lstStyle/>
          <a:p>
            <a:r>
              <a:rPr lang="hr-HR" sz="1400" b="0" i="0" u="none" strike="noStrike" baseline="0" dirty="0">
                <a:solidFill>
                  <a:srgbClr val="00B050"/>
                </a:solidFill>
                <a:latin typeface="Arial" panose="020B0604020202020204" pitchFamily="34" charset="0"/>
              </a:rPr>
              <a:t>For svaki trokut </a:t>
            </a:r>
          </a:p>
          <a:p>
            <a:r>
              <a:rPr lang="hr-HR" sz="1400" b="0" i="0" u="none" strike="noStrike" baseline="0" dirty="0">
                <a:solidFill>
                  <a:schemeClr val="tx1"/>
                </a:solidFill>
                <a:latin typeface="Arial" panose="020B0604020202020204" pitchFamily="34" charset="0"/>
              </a:rPr>
              <a:t>  </a:t>
            </a:r>
            <a:r>
              <a:rPr lang="hr-HR" sz="1400" b="0" i="0" u="none" strike="noStrike" baseline="0" dirty="0">
                <a:solidFill>
                  <a:schemeClr val="accent2">
                    <a:lumMod val="60000"/>
                    <a:lumOff val="40000"/>
                  </a:schemeClr>
                </a:solidFill>
                <a:latin typeface="Arial" panose="020B0604020202020204" pitchFamily="34" charset="0"/>
              </a:rPr>
              <a:t>provedi projekcijsku transformaciju </a:t>
            </a:r>
          </a:p>
          <a:p>
            <a:r>
              <a:rPr lang="hr-HR" sz="1400" dirty="0">
                <a:solidFill>
                  <a:schemeClr val="accent2">
                    <a:lumMod val="60000"/>
                    <a:lumOff val="40000"/>
                  </a:schemeClr>
                </a:solidFill>
                <a:latin typeface="Arial" panose="020B0604020202020204" pitchFamily="34" charset="0"/>
              </a:rPr>
              <a:t>  (</a:t>
            </a:r>
            <a:r>
              <a:rPr lang="hr-HR" sz="1400" b="0" i="0" u="none" strike="noStrike" baseline="0" dirty="0">
                <a:solidFill>
                  <a:schemeClr val="accent2">
                    <a:lumMod val="60000"/>
                    <a:lumOff val="40000"/>
                  </a:schemeClr>
                </a:solidFill>
                <a:latin typeface="Arial" panose="020B0604020202020204" pitchFamily="34" charset="0"/>
              </a:rPr>
              <a:t>vrhovi iz 3D u 2D)</a:t>
            </a:r>
          </a:p>
          <a:p>
            <a:r>
              <a:rPr lang="hr-HR" sz="1400" b="0" i="0" u="none" strike="noStrike" baseline="0" dirty="0">
                <a:solidFill>
                  <a:schemeClr val="tx1"/>
                </a:solidFill>
                <a:latin typeface="Arial" panose="020B0604020202020204" pitchFamily="34" charset="0"/>
              </a:rPr>
              <a:t>  </a:t>
            </a:r>
            <a:r>
              <a:rPr lang="hr-HR" sz="1400" b="0" i="0" u="none" strike="noStrike" baseline="0" dirty="0">
                <a:solidFill>
                  <a:srgbClr val="00B050"/>
                </a:solidFill>
                <a:latin typeface="Arial" panose="020B0604020202020204" pitchFamily="34" charset="0"/>
              </a:rPr>
              <a:t>postavi 3 jednadžbe rubova (pravaca)</a:t>
            </a:r>
          </a:p>
          <a:p>
            <a:r>
              <a:rPr lang="hr-HR" sz="1400" dirty="0">
                <a:solidFill>
                  <a:srgbClr val="00B050"/>
                </a:solidFill>
                <a:latin typeface="Arial" panose="020B0604020202020204" pitchFamily="34" charset="0"/>
              </a:rPr>
              <a:t>  for svaki piksel x, y,</a:t>
            </a:r>
          </a:p>
          <a:p>
            <a:r>
              <a:rPr lang="hr-HR" sz="1400" b="0" i="0" u="none" strike="noStrike" baseline="0" dirty="0">
                <a:solidFill>
                  <a:srgbClr val="00B050"/>
                </a:solidFill>
                <a:latin typeface="Arial" panose="020B0604020202020204" pitchFamily="34" charset="0"/>
              </a:rPr>
              <a:t>     if zadovoljava sve jednadžbe </a:t>
            </a:r>
            <a:r>
              <a:rPr lang="hr-HR" sz="1400" dirty="0">
                <a:solidFill>
                  <a:srgbClr val="00B050"/>
                </a:solidFill>
                <a:latin typeface="Arial" panose="020B0604020202020204" pitchFamily="34" charset="0"/>
              </a:rPr>
              <a:t>rubova</a:t>
            </a:r>
            <a:r>
              <a:rPr lang="hr-HR" sz="1400" b="0" i="0" u="none" strike="noStrike" baseline="0" dirty="0">
                <a:solidFill>
                  <a:srgbClr val="00B050"/>
                </a:solidFill>
                <a:latin typeface="Arial" panose="020B0604020202020204" pitchFamily="34" charset="0"/>
              </a:rPr>
              <a:t> </a:t>
            </a:r>
          </a:p>
          <a:p>
            <a:r>
              <a:rPr lang="hr-HR" sz="1400" b="0" i="0" u="none" strike="noStrike" baseline="0" dirty="0">
                <a:solidFill>
                  <a:srgbClr val="C00000"/>
                </a:solidFill>
                <a:latin typeface="Arial" panose="020B0604020202020204" pitchFamily="34" charset="0"/>
              </a:rPr>
              <a:t>       računaj z </a:t>
            </a:r>
          </a:p>
          <a:p>
            <a:r>
              <a:rPr lang="hr-HR" sz="1400" b="0" i="0" u="none" strike="noStrike" baseline="0" dirty="0">
                <a:solidFill>
                  <a:srgbClr val="C00000"/>
                </a:solidFill>
                <a:latin typeface="Arial" panose="020B0604020202020204" pitchFamily="34" charset="0"/>
              </a:rPr>
              <a:t>       </a:t>
            </a:r>
            <a:r>
              <a:rPr lang="en-US" sz="1400" b="0" i="0" u="none" strike="noStrike" baseline="0" dirty="0">
                <a:solidFill>
                  <a:srgbClr val="C00000"/>
                </a:solidFill>
                <a:latin typeface="Arial" panose="020B0604020202020204" pitchFamily="34" charset="0"/>
              </a:rPr>
              <a:t>if z&lt;</a:t>
            </a:r>
            <a:r>
              <a:rPr lang="en-US" sz="1400" b="0" i="0" u="none" strike="noStrike" baseline="0" dirty="0" err="1">
                <a:solidFill>
                  <a:srgbClr val="C00000"/>
                </a:solidFill>
                <a:latin typeface="Arial" panose="020B0604020202020204" pitchFamily="34" charset="0"/>
              </a:rPr>
              <a:t>zbuffer</a:t>
            </a:r>
            <a:r>
              <a:rPr lang="en-US" sz="1400" b="0" i="0" u="none" strike="noStrike" baseline="0" dirty="0">
                <a:solidFill>
                  <a:srgbClr val="C00000"/>
                </a:solidFill>
                <a:latin typeface="Arial" panose="020B0604020202020204" pitchFamily="34" charset="0"/>
              </a:rPr>
              <a:t>[</a:t>
            </a:r>
            <a:r>
              <a:rPr lang="en-US" sz="1400" b="0" i="0" u="none" strike="noStrike" baseline="0" dirty="0" err="1">
                <a:solidFill>
                  <a:srgbClr val="C00000"/>
                </a:solidFill>
                <a:latin typeface="Arial" panose="020B0604020202020204" pitchFamily="34" charset="0"/>
              </a:rPr>
              <a:t>x,y</a:t>
            </a:r>
            <a:r>
              <a:rPr lang="en-US" sz="1400" b="0" i="0" u="none" strike="noStrike" baseline="0" dirty="0">
                <a:solidFill>
                  <a:srgbClr val="C00000"/>
                </a:solidFill>
                <a:latin typeface="Arial" panose="020B0604020202020204" pitchFamily="34" charset="0"/>
              </a:rPr>
              <a:t>] </a:t>
            </a:r>
          </a:p>
          <a:p>
            <a:r>
              <a:rPr lang="hr-HR" sz="1400" b="0" i="0" u="none" strike="noStrike" baseline="0" dirty="0">
                <a:solidFill>
                  <a:srgbClr val="C00000"/>
                </a:solidFill>
                <a:latin typeface="Arial" panose="020B0604020202020204" pitchFamily="34" charset="0"/>
              </a:rPr>
              <a:t>          zbuffer[x,y]=z </a:t>
            </a:r>
          </a:p>
          <a:p>
            <a:r>
              <a:rPr lang="hr-HR" sz="1400" b="0" i="0" u="none" strike="noStrike" baseline="0" dirty="0">
                <a:solidFill>
                  <a:srgbClr val="C00000"/>
                </a:solidFill>
                <a:latin typeface="Arial" panose="020B0604020202020204" pitchFamily="34" charset="0"/>
              </a:rPr>
              <a:t>          </a:t>
            </a:r>
            <a:r>
              <a:rPr lang="en-US" sz="1400" b="0" i="0" u="none" strike="noStrike" baseline="0" dirty="0">
                <a:solidFill>
                  <a:srgbClr val="C00000"/>
                </a:solidFill>
                <a:latin typeface="Arial" panose="020B0604020202020204" pitchFamily="34" charset="0"/>
              </a:rPr>
              <a:t>framebuffer[</a:t>
            </a:r>
            <a:r>
              <a:rPr lang="en-US" sz="1400" b="0" i="0" u="none" strike="noStrike" baseline="0" dirty="0" err="1">
                <a:solidFill>
                  <a:srgbClr val="C00000"/>
                </a:solidFill>
                <a:latin typeface="Arial" panose="020B0604020202020204" pitchFamily="34" charset="0"/>
              </a:rPr>
              <a:t>x,y</a:t>
            </a:r>
            <a:r>
              <a:rPr lang="en-US" sz="1400" b="0" i="0" u="none" strike="noStrike" baseline="0" dirty="0">
                <a:solidFill>
                  <a:srgbClr val="C00000"/>
                </a:solidFill>
                <a:latin typeface="Arial" panose="020B0604020202020204" pitchFamily="34" charset="0"/>
              </a:rPr>
              <a:t>]=shade() </a:t>
            </a:r>
            <a:endParaRPr lang="hr-HR" sz="1400" dirty="0">
              <a:solidFill>
                <a:srgbClr val="C00000"/>
              </a:solidFill>
            </a:endParaRPr>
          </a:p>
        </p:txBody>
      </p:sp>
      <p:pic>
        <p:nvPicPr>
          <p:cNvPr id="14" name="Picture 13">
            <a:extLst>
              <a:ext uri="{FF2B5EF4-FFF2-40B4-BE49-F238E27FC236}">
                <a16:creationId xmlns:a16="http://schemas.microsoft.com/office/drawing/2014/main" id="{D6C38788-1856-49A9-B26D-235047027585}"/>
              </a:ext>
            </a:extLst>
          </p:cNvPr>
          <p:cNvPicPr>
            <a:picLocks noChangeAspect="1"/>
          </p:cNvPicPr>
          <p:nvPr/>
        </p:nvPicPr>
        <p:blipFill>
          <a:blip r:embed="rId4"/>
          <a:stretch>
            <a:fillRect/>
          </a:stretch>
        </p:blipFill>
        <p:spPr>
          <a:xfrm>
            <a:off x="4662487" y="2825758"/>
            <a:ext cx="2747963" cy="1838325"/>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5F1A30F-6DCF-4CE2-902E-4BC924698FF4}"/>
                  </a:ext>
                </a:extLst>
              </p:cNvPr>
              <p:cNvSpPr txBox="1"/>
              <p:nvPr/>
            </p:nvSpPr>
            <p:spPr>
              <a:xfrm>
                <a:off x="300182" y="5307832"/>
                <a:ext cx="4362305" cy="1200329"/>
              </a:xfrm>
              <a:prstGeom prst="rect">
                <a:avLst/>
              </a:prstGeom>
              <a:noFill/>
            </p:spPr>
            <p:txBody>
              <a:bodyPr wrap="square" rtlCol="0">
                <a:spAutoFit/>
              </a:bodyPr>
              <a:lstStyle/>
              <a:p>
                <a14:m>
                  <m:oMath xmlns:m="http://schemas.openxmlformats.org/officeDocument/2006/math">
                    <m:sSub>
                      <m:sSubPr>
                        <m:ctrlPr>
                          <a:rPr lang="hr-HR" b="0" i="1" smtClean="0">
                            <a:solidFill>
                              <a:schemeClr val="tx1"/>
                            </a:solidFill>
                            <a:latin typeface="Cambria Math" panose="02040503050406030204" pitchFamily="18" charset="0"/>
                          </a:rPr>
                        </m:ctrlPr>
                      </m:sSubPr>
                      <m:e>
                        <m:r>
                          <a:rPr lang="hr-HR" b="0" i="1" smtClean="0">
                            <a:solidFill>
                              <a:schemeClr val="tx1"/>
                            </a:solidFill>
                            <a:latin typeface="Cambria Math" panose="02040503050406030204" pitchFamily="18" charset="0"/>
                          </a:rPr>
                          <m:t>𝐸</m:t>
                        </m:r>
                      </m:e>
                      <m:sub>
                        <m:r>
                          <a:rPr lang="hr-HR" b="0" i="1" smtClean="0">
                            <a:solidFill>
                              <a:schemeClr val="tx1"/>
                            </a:solidFill>
                            <a:latin typeface="Cambria Math" panose="02040503050406030204" pitchFamily="18" charset="0"/>
                          </a:rPr>
                          <m:t>𝑖</m:t>
                        </m:r>
                      </m:sub>
                    </m:sSub>
                    <m:d>
                      <m:dPr>
                        <m:ctrlPr>
                          <a:rPr lang="hr-HR" b="0" i="1" smtClean="0">
                            <a:solidFill>
                              <a:schemeClr val="tx1"/>
                            </a:solidFill>
                            <a:latin typeface="Cambria Math" panose="02040503050406030204" pitchFamily="18" charset="0"/>
                          </a:rPr>
                        </m:ctrlPr>
                      </m:dPr>
                      <m:e>
                        <m:r>
                          <a:rPr lang="hr-HR" b="0" i="1" smtClean="0">
                            <a:solidFill>
                              <a:schemeClr val="tx1"/>
                            </a:solidFill>
                            <a:latin typeface="Cambria Math" panose="02040503050406030204" pitchFamily="18" charset="0"/>
                          </a:rPr>
                          <m:t>𝑥</m:t>
                        </m:r>
                        <m:r>
                          <a:rPr lang="hr-HR" b="0" i="1" smtClean="0">
                            <a:solidFill>
                              <a:schemeClr val="tx1"/>
                            </a:solidFill>
                            <a:latin typeface="Cambria Math" panose="02040503050406030204" pitchFamily="18" charset="0"/>
                          </a:rPr>
                          <m:t>,</m:t>
                        </m:r>
                        <m:r>
                          <a:rPr lang="hr-HR" b="0" i="1" smtClean="0">
                            <a:solidFill>
                              <a:schemeClr val="tx1"/>
                            </a:solidFill>
                            <a:latin typeface="Cambria Math" panose="02040503050406030204" pitchFamily="18" charset="0"/>
                          </a:rPr>
                          <m:t>𝑦</m:t>
                        </m:r>
                      </m:e>
                    </m:d>
                    <m:r>
                      <a:rPr lang="hr-HR" b="0" i="1" smtClean="0">
                        <a:solidFill>
                          <a:schemeClr val="tx1"/>
                        </a:solidFill>
                        <a:latin typeface="Cambria Math" panose="02040503050406030204" pitchFamily="18" charset="0"/>
                      </a:rPr>
                      <m:t>=</m:t>
                    </m:r>
                    <m:sSub>
                      <m:sSubPr>
                        <m:ctrlPr>
                          <a:rPr lang="hr-HR" b="0" i="1" smtClean="0">
                            <a:solidFill>
                              <a:schemeClr val="tx1"/>
                            </a:solidFill>
                            <a:latin typeface="Cambria Math" panose="02040503050406030204" pitchFamily="18" charset="0"/>
                          </a:rPr>
                        </m:ctrlPr>
                      </m:sSubPr>
                      <m:e>
                        <m:r>
                          <a:rPr lang="hr-HR" b="0" i="1" smtClean="0">
                            <a:solidFill>
                              <a:schemeClr val="tx1"/>
                            </a:solidFill>
                            <a:latin typeface="Cambria Math" panose="02040503050406030204" pitchFamily="18" charset="0"/>
                          </a:rPr>
                          <m:t>𝑎</m:t>
                        </m:r>
                      </m:e>
                      <m:sub>
                        <m:r>
                          <a:rPr lang="hr-HR" b="0" i="1" smtClean="0">
                            <a:solidFill>
                              <a:schemeClr val="tx1"/>
                            </a:solidFill>
                            <a:latin typeface="Cambria Math" panose="02040503050406030204" pitchFamily="18" charset="0"/>
                          </a:rPr>
                          <m:t>𝑖</m:t>
                        </m:r>
                      </m:sub>
                    </m:sSub>
                    <m:r>
                      <a:rPr lang="hr-HR" b="0" i="1" smtClean="0">
                        <a:solidFill>
                          <a:schemeClr val="tx1"/>
                        </a:solidFill>
                        <a:latin typeface="Cambria Math" panose="02040503050406030204" pitchFamily="18" charset="0"/>
                      </a:rPr>
                      <m:t>𝑥</m:t>
                    </m:r>
                    <m:r>
                      <a:rPr lang="hr-HR" b="0" i="1" smtClean="0">
                        <a:solidFill>
                          <a:schemeClr val="tx1"/>
                        </a:solidFill>
                        <a:latin typeface="Cambria Math" panose="02040503050406030204" pitchFamily="18" charset="0"/>
                      </a:rPr>
                      <m:t>+</m:t>
                    </m:r>
                  </m:oMath>
                </a14:m>
                <a:r>
                  <a:rPr lang="hr-HR" b="0" dirty="0">
                    <a:solidFill>
                      <a:schemeClr val="tx1"/>
                    </a:solidFill>
                  </a:rPr>
                  <a:t> </a:t>
                </a:r>
                <a14:m>
                  <m:oMath xmlns:m="http://schemas.openxmlformats.org/officeDocument/2006/math">
                    <m:sSub>
                      <m:sSubPr>
                        <m:ctrlPr>
                          <a:rPr lang="hr-HR" b="0" i="1" smtClean="0">
                            <a:solidFill>
                              <a:schemeClr val="tx1"/>
                            </a:solidFill>
                            <a:latin typeface="Cambria Math" panose="02040503050406030204" pitchFamily="18" charset="0"/>
                          </a:rPr>
                        </m:ctrlPr>
                      </m:sSubPr>
                      <m:e>
                        <m:r>
                          <a:rPr lang="hr-HR" b="0" i="1" smtClean="0">
                            <a:solidFill>
                              <a:schemeClr val="tx1"/>
                            </a:solidFill>
                            <a:latin typeface="Cambria Math" panose="02040503050406030204" pitchFamily="18" charset="0"/>
                          </a:rPr>
                          <m:t>𝑏</m:t>
                        </m:r>
                      </m:e>
                      <m:sub>
                        <m:r>
                          <a:rPr lang="hr-HR" b="0" i="1" smtClean="0">
                            <a:solidFill>
                              <a:schemeClr val="tx1"/>
                            </a:solidFill>
                            <a:latin typeface="Cambria Math" panose="02040503050406030204" pitchFamily="18" charset="0"/>
                          </a:rPr>
                          <m:t>𝑖</m:t>
                        </m:r>
                      </m:sub>
                    </m:sSub>
                    <m:r>
                      <a:rPr lang="hr-HR" b="0" i="1" smtClean="0">
                        <a:solidFill>
                          <a:schemeClr val="tx1"/>
                        </a:solidFill>
                        <a:latin typeface="Cambria Math" panose="02040503050406030204" pitchFamily="18" charset="0"/>
                      </a:rPr>
                      <m:t>𝑦</m:t>
                    </m:r>
                  </m:oMath>
                </a14:m>
                <a:r>
                  <a:rPr lang="hr-HR" dirty="0">
                    <a:solidFill>
                      <a:schemeClr val="tx1"/>
                    </a:solidFill>
                  </a:rPr>
                  <a:t>+</a:t>
                </a:r>
                <a:r>
                  <a:rPr lang="hr-HR" b="0" dirty="0">
                    <a:solidFill>
                      <a:schemeClr val="tx1"/>
                    </a:solidFill>
                  </a:rPr>
                  <a:t> </a:t>
                </a:r>
                <a14:m>
                  <m:oMath xmlns:m="http://schemas.openxmlformats.org/officeDocument/2006/math">
                    <m:sSub>
                      <m:sSubPr>
                        <m:ctrlPr>
                          <a:rPr lang="hr-HR" b="0" i="1" smtClean="0">
                            <a:solidFill>
                              <a:schemeClr val="tx1"/>
                            </a:solidFill>
                            <a:latin typeface="Cambria Math" panose="02040503050406030204" pitchFamily="18" charset="0"/>
                          </a:rPr>
                        </m:ctrlPr>
                      </m:sSubPr>
                      <m:e>
                        <m:r>
                          <a:rPr lang="hr-HR" b="0" i="1" smtClean="0">
                            <a:solidFill>
                              <a:schemeClr val="tx1"/>
                            </a:solidFill>
                            <a:latin typeface="Cambria Math" panose="02040503050406030204" pitchFamily="18" charset="0"/>
                          </a:rPr>
                          <m:t>𝑐</m:t>
                        </m:r>
                      </m:e>
                      <m:sub>
                        <m:r>
                          <a:rPr lang="hr-HR" b="0" i="1" smtClean="0">
                            <a:solidFill>
                              <a:schemeClr val="tx1"/>
                            </a:solidFill>
                            <a:latin typeface="Cambria Math" panose="02040503050406030204" pitchFamily="18" charset="0"/>
                          </a:rPr>
                          <m:t>𝑖</m:t>
                        </m:r>
                      </m:sub>
                    </m:sSub>
                  </m:oMath>
                </a14:m>
                <a:endParaRPr lang="hr-HR" dirty="0">
                  <a:solidFill>
                    <a:schemeClr val="tx1"/>
                  </a:solidFill>
                </a:endParaRPr>
              </a:p>
              <a:p>
                <a:r>
                  <a:rPr lang="hr-HR" dirty="0">
                    <a:solidFill>
                      <a:schemeClr val="tx1"/>
                    </a:solidFill>
                  </a:rPr>
                  <a:t>(x,y) unutar trokuta </a:t>
                </a:r>
                <a:r>
                  <a:rPr lang="hr-HR" dirty="0">
                    <a:solidFill>
                      <a:schemeClr val="tx1"/>
                    </a:solidFill>
                    <a:sym typeface="Symbol" panose="05050102010706020507" pitchFamily="18" charset="2"/>
                  </a:rPr>
                  <a:t></a:t>
                </a:r>
              </a:p>
              <a:p>
                <a14:m>
                  <m:oMath xmlns:m="http://schemas.openxmlformats.org/officeDocument/2006/math">
                    <m:sSub>
                      <m:sSubPr>
                        <m:ctrlPr>
                          <a:rPr lang="hr-HR" b="0" i="1" smtClean="0">
                            <a:solidFill>
                              <a:schemeClr val="tx1"/>
                            </a:solidFill>
                            <a:latin typeface="Cambria Math" panose="02040503050406030204" pitchFamily="18" charset="0"/>
                          </a:rPr>
                        </m:ctrlPr>
                      </m:sSubPr>
                      <m:e>
                        <m:r>
                          <a:rPr lang="hr-HR" b="0" i="1" smtClean="0">
                            <a:solidFill>
                              <a:schemeClr val="tx1"/>
                            </a:solidFill>
                            <a:latin typeface="Cambria Math" panose="02040503050406030204" pitchFamily="18" charset="0"/>
                          </a:rPr>
                          <m:t>𝐸</m:t>
                        </m:r>
                      </m:e>
                      <m:sub>
                        <m:r>
                          <a:rPr lang="hr-HR" b="0" i="1" smtClean="0">
                            <a:solidFill>
                              <a:schemeClr val="tx1"/>
                            </a:solidFill>
                            <a:latin typeface="Cambria Math" panose="02040503050406030204" pitchFamily="18" charset="0"/>
                          </a:rPr>
                          <m:t>𝑖</m:t>
                        </m:r>
                      </m:sub>
                    </m:sSub>
                    <m:d>
                      <m:dPr>
                        <m:ctrlPr>
                          <a:rPr lang="hr-HR" b="0" i="1" smtClean="0">
                            <a:solidFill>
                              <a:schemeClr val="tx1"/>
                            </a:solidFill>
                            <a:latin typeface="Cambria Math" panose="02040503050406030204" pitchFamily="18" charset="0"/>
                          </a:rPr>
                        </m:ctrlPr>
                      </m:dPr>
                      <m:e>
                        <m:r>
                          <a:rPr lang="hr-HR" b="0" i="1" smtClean="0">
                            <a:solidFill>
                              <a:schemeClr val="tx1"/>
                            </a:solidFill>
                            <a:latin typeface="Cambria Math" panose="02040503050406030204" pitchFamily="18" charset="0"/>
                          </a:rPr>
                          <m:t>𝑥</m:t>
                        </m:r>
                        <m:r>
                          <a:rPr lang="hr-HR" b="0" i="1" smtClean="0">
                            <a:solidFill>
                              <a:schemeClr val="tx1"/>
                            </a:solidFill>
                            <a:latin typeface="Cambria Math" panose="02040503050406030204" pitchFamily="18" charset="0"/>
                          </a:rPr>
                          <m:t>,</m:t>
                        </m:r>
                        <m:r>
                          <a:rPr lang="hr-HR" b="0" i="1" smtClean="0">
                            <a:solidFill>
                              <a:schemeClr val="tx1"/>
                            </a:solidFill>
                            <a:latin typeface="Cambria Math" panose="02040503050406030204" pitchFamily="18" charset="0"/>
                          </a:rPr>
                          <m:t>𝑦</m:t>
                        </m:r>
                      </m:e>
                    </m:d>
                    <m:r>
                      <a:rPr lang="hr-HR" i="1">
                        <a:solidFill>
                          <a:schemeClr val="tx1"/>
                        </a:solidFill>
                        <a:latin typeface="Cambria Math" panose="02040503050406030204" pitchFamily="18" charset="0"/>
                        <a:ea typeface="Cambria Math" panose="02040503050406030204" pitchFamily="18" charset="0"/>
                      </a:rPr>
                      <m:t>≥</m:t>
                    </m:r>
                    <m:r>
                      <a:rPr lang="hr-HR" b="0" i="1" smtClean="0">
                        <a:solidFill>
                          <a:schemeClr val="tx1"/>
                        </a:solidFill>
                        <a:latin typeface="Cambria Math" panose="02040503050406030204" pitchFamily="18" charset="0"/>
                        <a:ea typeface="Cambria Math" panose="02040503050406030204" pitchFamily="18" charset="0"/>
                      </a:rPr>
                      <m:t>0,</m:t>
                    </m:r>
                  </m:oMath>
                </a14:m>
                <a:r>
                  <a:rPr lang="hr-HR" dirty="0">
                    <a:solidFill>
                      <a:schemeClr val="tx1"/>
                    </a:solidFill>
                  </a:rPr>
                  <a:t> </a:t>
                </a:r>
                <a:r>
                  <a:rPr lang="hr-HR" dirty="0">
                    <a:solidFill>
                      <a:schemeClr val="tx1"/>
                    </a:solidFill>
                    <a:sym typeface="Symbol" panose="05050102010706020507" pitchFamily="18" charset="2"/>
                  </a:rPr>
                  <a:t>i=1,2,3</a:t>
                </a:r>
                <a:endParaRPr lang="hr-HR" dirty="0">
                  <a:solidFill>
                    <a:schemeClr val="tx1"/>
                  </a:solidFill>
                </a:endParaRPr>
              </a:p>
            </p:txBody>
          </p:sp>
        </mc:Choice>
        <mc:Fallback xmlns="">
          <p:sp>
            <p:nvSpPr>
              <p:cNvPr id="15" name="TextBox 14">
                <a:extLst>
                  <a:ext uri="{FF2B5EF4-FFF2-40B4-BE49-F238E27FC236}">
                    <a16:creationId xmlns:a16="http://schemas.microsoft.com/office/drawing/2014/main" id="{A5F1A30F-6DCF-4CE2-902E-4BC924698FF4}"/>
                  </a:ext>
                </a:extLst>
              </p:cNvPr>
              <p:cNvSpPr txBox="1">
                <a:spLocks noRot="1" noChangeAspect="1" noMove="1" noResize="1" noEditPoints="1" noAdjustHandles="1" noChangeArrowheads="1" noChangeShapeType="1" noTextEdit="1"/>
              </p:cNvSpPr>
              <p:nvPr/>
            </p:nvSpPr>
            <p:spPr>
              <a:xfrm>
                <a:off x="300182" y="5307832"/>
                <a:ext cx="4362305" cy="1200329"/>
              </a:xfrm>
              <a:prstGeom prst="rect">
                <a:avLst/>
              </a:prstGeom>
              <a:blipFill>
                <a:blip r:embed="rId5"/>
                <a:stretch>
                  <a:fillRect l="-2095" t="-4061" b="-10660"/>
                </a:stretch>
              </a:blipFill>
            </p:spPr>
            <p:txBody>
              <a:bodyPr/>
              <a:lstStyle/>
              <a:p>
                <a:r>
                  <a:rPr lang="hr-HR">
                    <a:noFill/>
                  </a:rPr>
                  <a:t> </a:t>
                </a:r>
              </a:p>
            </p:txBody>
          </p:sp>
        </mc:Fallback>
      </mc:AlternateContent>
      <p:sp>
        <p:nvSpPr>
          <p:cNvPr id="2" name="Rezervirano mjesto broja slajda 1">
            <a:extLst>
              <a:ext uri="{FF2B5EF4-FFF2-40B4-BE49-F238E27FC236}">
                <a16:creationId xmlns:a16="http://schemas.microsoft.com/office/drawing/2014/main" id="{F0446904-06D9-07B9-399D-2BFF8C146624}"/>
              </a:ext>
            </a:extLst>
          </p:cNvPr>
          <p:cNvSpPr>
            <a:spLocks noGrp="1"/>
          </p:cNvSpPr>
          <p:nvPr>
            <p:ph type="sldNum" sz="quarter" idx="12"/>
          </p:nvPr>
        </p:nvSpPr>
        <p:spPr/>
        <p:txBody>
          <a:bodyPr/>
          <a:lstStyle/>
          <a:p>
            <a:fld id="{65A14E20-BA2A-43FD-BB4B-65CF80A0D6DA}" type="slidenum">
              <a:rPr lang="en-GB" altLang="sr-Latn-RS" smtClean="0"/>
              <a:pPr/>
              <a:t>48</a:t>
            </a:fld>
            <a:endParaRPr lang="en-GB" altLang="sr-Latn-R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2">
            <a:extLst>
              <a:ext uri="{FF2B5EF4-FFF2-40B4-BE49-F238E27FC236}">
                <a16:creationId xmlns:a16="http://schemas.microsoft.com/office/drawing/2014/main" id="{1F8CAA11-5BA0-4621-AF7A-1DB7059F4D9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74BAB110-2D1A-413A-81EF-5113F1DA66AB}"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28675" name="Text Box 12">
            <a:extLst>
              <a:ext uri="{FF2B5EF4-FFF2-40B4-BE49-F238E27FC236}">
                <a16:creationId xmlns:a16="http://schemas.microsoft.com/office/drawing/2014/main" id="{1352C7A4-2A38-400B-AF32-D54932B36789}"/>
              </a:ext>
            </a:extLst>
          </p:cNvPr>
          <p:cNvSpPr txBox="1">
            <a:spLocks noChangeArrowheads="1"/>
          </p:cNvSpPr>
          <p:nvPr/>
        </p:nvSpPr>
        <p:spPr bwMode="auto">
          <a:xfrm>
            <a:off x="539750" y="1484313"/>
            <a:ext cx="792003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marL="0" indent="0" algn="just" eaLnBrk="1" hangingPunct="1">
              <a:spcBef>
                <a:spcPct val="50000"/>
              </a:spcBef>
              <a:buClrTx/>
              <a:buSzTx/>
              <a:buNone/>
            </a:pPr>
            <a:r>
              <a:rPr lang="hr-HR" altLang="sr-Latn-RS" sz="2000" dirty="0">
                <a:latin typeface="Arial" panose="020B0604020202020204" pitchFamily="34" charset="0"/>
                <a:cs typeface="Arial" panose="020B0604020202020204" pitchFamily="34" charset="0"/>
              </a:rPr>
              <a:t>Ispunjavanje trokuta?</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Za svaki piksel provode se testovi sa 3 jednadžbe rubova</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Ako su sva tri testa prošla -&gt; crtaj piksel</a:t>
            </a:r>
          </a:p>
        </p:txBody>
      </p:sp>
      <p:sp>
        <p:nvSpPr>
          <p:cNvPr id="28676" name="Rectangle 2">
            <a:extLst>
              <a:ext uri="{FF2B5EF4-FFF2-40B4-BE49-F238E27FC236}">
                <a16:creationId xmlns:a16="http://schemas.microsoft.com/office/drawing/2014/main" id="{3F39BEAE-25DB-4CE1-8A6A-E1F5FB1C0942}"/>
              </a:ext>
            </a:extLst>
          </p:cNvPr>
          <p:cNvSpPr>
            <a:spLocks noGrp="1"/>
          </p:cNvSpPr>
          <p:nvPr>
            <p:ph type="title"/>
          </p:nvPr>
        </p:nvSpPr>
        <p:spPr>
          <a:xfrm>
            <a:off x="658813" y="333375"/>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A5F1A30F-6DCF-4CE2-902E-4BC924698FF4}"/>
              </a:ext>
            </a:extLst>
          </p:cNvPr>
          <p:cNvSpPr txBox="1"/>
          <p:nvPr/>
        </p:nvSpPr>
        <p:spPr>
          <a:xfrm>
            <a:off x="395536" y="3144755"/>
            <a:ext cx="4608511" cy="3416320"/>
          </a:xfrm>
          <a:prstGeom prst="rect">
            <a:avLst/>
          </a:prstGeom>
          <a:noFill/>
        </p:spPr>
        <p:txBody>
          <a:bodyPr wrap="square" rtlCol="0">
            <a:spAutoFit/>
          </a:bodyPr>
          <a:lstStyle/>
          <a:p>
            <a:pPr marL="342900" indent="-342900">
              <a:buFont typeface="Arial" panose="020B0604020202020204" pitchFamily="34" charset="0"/>
              <a:buChar char="•"/>
            </a:pPr>
            <a:r>
              <a:rPr lang="hr-HR" dirty="0">
                <a:solidFill>
                  <a:schemeClr val="tx1"/>
                </a:solidFill>
              </a:rPr>
              <a:t>Izračunaj E</a:t>
            </a:r>
            <a:r>
              <a:rPr lang="hr-HR" baseline="-25000" dirty="0">
                <a:solidFill>
                  <a:schemeClr val="tx1"/>
                </a:solidFill>
              </a:rPr>
              <a:t>1</a:t>
            </a:r>
            <a:r>
              <a:rPr lang="hr-HR" dirty="0">
                <a:solidFill>
                  <a:schemeClr val="tx1"/>
                </a:solidFill>
              </a:rPr>
              <a:t>, E</a:t>
            </a:r>
            <a:r>
              <a:rPr lang="hr-HR" baseline="-25000" dirty="0">
                <a:solidFill>
                  <a:schemeClr val="tx1"/>
                </a:solidFill>
              </a:rPr>
              <a:t>2</a:t>
            </a:r>
            <a:r>
              <a:rPr lang="hr-HR" dirty="0">
                <a:solidFill>
                  <a:schemeClr val="tx1"/>
                </a:solidFill>
              </a:rPr>
              <a:t>, E</a:t>
            </a:r>
            <a:r>
              <a:rPr lang="hr-HR" baseline="-25000" dirty="0">
                <a:solidFill>
                  <a:schemeClr val="tx1"/>
                </a:solidFill>
              </a:rPr>
              <a:t>3</a:t>
            </a:r>
            <a:r>
              <a:rPr lang="hr-HR" dirty="0">
                <a:solidFill>
                  <a:schemeClr val="tx1"/>
                </a:solidFill>
              </a:rPr>
              <a:t> koeficijente (a</a:t>
            </a:r>
            <a:r>
              <a:rPr lang="hr-HR" baseline="-25000" dirty="0">
                <a:solidFill>
                  <a:schemeClr val="tx1"/>
                </a:solidFill>
              </a:rPr>
              <a:t>i</a:t>
            </a:r>
            <a:r>
              <a:rPr lang="hr-HR" dirty="0">
                <a:solidFill>
                  <a:schemeClr val="tx1"/>
                </a:solidFill>
              </a:rPr>
              <a:t>, b</a:t>
            </a:r>
            <a:r>
              <a:rPr lang="hr-HR" baseline="-25000" dirty="0">
                <a:solidFill>
                  <a:schemeClr val="tx1"/>
                </a:solidFill>
              </a:rPr>
              <a:t>i</a:t>
            </a:r>
            <a:r>
              <a:rPr lang="hr-HR" dirty="0">
                <a:solidFill>
                  <a:schemeClr val="tx1"/>
                </a:solidFill>
              </a:rPr>
              <a:t>, c</a:t>
            </a:r>
            <a:r>
              <a:rPr lang="hr-HR" baseline="-25000" dirty="0">
                <a:solidFill>
                  <a:schemeClr val="tx1"/>
                </a:solidFill>
              </a:rPr>
              <a:t>i</a:t>
            </a:r>
            <a:r>
              <a:rPr lang="hr-HR" dirty="0">
                <a:solidFill>
                  <a:schemeClr val="tx1"/>
                </a:solidFill>
              </a:rPr>
              <a:t>) iz projekcija vrhova trokuta</a:t>
            </a:r>
          </a:p>
          <a:p>
            <a:pPr marL="342900" indent="-342900">
              <a:buFont typeface="Arial" panose="020B0604020202020204" pitchFamily="34" charset="0"/>
              <a:buChar char="•"/>
            </a:pPr>
            <a:r>
              <a:rPr lang="hr-HR" dirty="0">
                <a:solidFill>
                  <a:schemeClr val="tx1"/>
                </a:solidFill>
                <a:sym typeface="Symbol" panose="05050102010706020507" pitchFamily="18" charset="2"/>
              </a:rPr>
              <a:t>Za svaki piksel (x,y)</a:t>
            </a:r>
          </a:p>
          <a:p>
            <a:pPr marL="800100" lvl="1" indent="-342900">
              <a:buFont typeface="Arial" panose="020B0604020202020204" pitchFamily="34" charset="0"/>
              <a:buChar char="•"/>
            </a:pPr>
            <a:r>
              <a:rPr lang="hr-HR" dirty="0">
                <a:solidFill>
                  <a:schemeClr val="tx1"/>
                </a:solidFill>
                <a:sym typeface="Symbol" panose="05050102010706020507" pitchFamily="18" charset="2"/>
              </a:rPr>
              <a:t>Evaluiraj funkcije rubova za središte piksela</a:t>
            </a:r>
          </a:p>
          <a:p>
            <a:pPr marL="800100" lvl="1" indent="-342900">
              <a:buFont typeface="Arial" panose="020B0604020202020204" pitchFamily="34" charset="0"/>
              <a:buChar char="•"/>
            </a:pPr>
            <a:r>
              <a:rPr lang="hr-HR" dirty="0">
                <a:solidFill>
                  <a:schemeClr val="tx1"/>
                </a:solidFill>
                <a:sym typeface="Symbol" panose="05050102010706020507" pitchFamily="18" charset="2"/>
              </a:rPr>
              <a:t>Ako su sve ne-negativne, piksel je unutra!</a:t>
            </a:r>
          </a:p>
          <a:p>
            <a:endParaRPr lang="hr-HR" dirty="0">
              <a:solidFill>
                <a:schemeClr val="tx1"/>
              </a:solidFill>
            </a:endParaRPr>
          </a:p>
        </p:txBody>
      </p:sp>
      <p:pic>
        <p:nvPicPr>
          <p:cNvPr id="3" name="Picture 2">
            <a:extLst>
              <a:ext uri="{FF2B5EF4-FFF2-40B4-BE49-F238E27FC236}">
                <a16:creationId xmlns:a16="http://schemas.microsoft.com/office/drawing/2014/main" id="{AE43E96C-B6FB-4F9D-9FBC-A2FFB8E52AAF}"/>
              </a:ext>
            </a:extLst>
          </p:cNvPr>
          <p:cNvPicPr>
            <a:picLocks noChangeAspect="1"/>
          </p:cNvPicPr>
          <p:nvPr/>
        </p:nvPicPr>
        <p:blipFill>
          <a:blip r:embed="rId3"/>
          <a:stretch>
            <a:fillRect/>
          </a:stretch>
        </p:blipFill>
        <p:spPr>
          <a:xfrm>
            <a:off x="5292080" y="2734398"/>
            <a:ext cx="3456383" cy="2631702"/>
          </a:xfrm>
          <a:prstGeom prst="rect">
            <a:avLst/>
          </a:prstGeom>
        </p:spPr>
      </p:pic>
      <p:sp>
        <p:nvSpPr>
          <p:cNvPr id="4" name="TextBox 3">
            <a:extLst>
              <a:ext uri="{FF2B5EF4-FFF2-40B4-BE49-F238E27FC236}">
                <a16:creationId xmlns:a16="http://schemas.microsoft.com/office/drawing/2014/main" id="{48D48556-8113-4E1B-8A44-7F88FF3BD8C5}"/>
              </a:ext>
            </a:extLst>
          </p:cNvPr>
          <p:cNvSpPr txBox="1"/>
          <p:nvPr/>
        </p:nvSpPr>
        <p:spPr>
          <a:xfrm>
            <a:off x="5148064" y="5733256"/>
            <a:ext cx="2016224" cy="461665"/>
          </a:xfrm>
          <a:prstGeom prst="rect">
            <a:avLst/>
          </a:prstGeom>
          <a:noFill/>
        </p:spPr>
        <p:txBody>
          <a:bodyPr wrap="square" rtlCol="0">
            <a:spAutoFit/>
          </a:bodyPr>
          <a:lstStyle/>
          <a:p>
            <a:r>
              <a:rPr lang="hr-HR" dirty="0">
                <a:solidFill>
                  <a:srgbClr val="C00000"/>
                </a:solidFill>
              </a:rPr>
              <a:t>Problem?</a:t>
            </a:r>
          </a:p>
        </p:txBody>
      </p:sp>
      <p:sp>
        <p:nvSpPr>
          <p:cNvPr id="2" name="Rezervirano mjesto broja slajda 1">
            <a:extLst>
              <a:ext uri="{FF2B5EF4-FFF2-40B4-BE49-F238E27FC236}">
                <a16:creationId xmlns:a16="http://schemas.microsoft.com/office/drawing/2014/main" id="{285DC117-B98B-14E0-E5BE-AACBE2CDA271}"/>
              </a:ext>
            </a:extLst>
          </p:cNvPr>
          <p:cNvSpPr>
            <a:spLocks noGrp="1"/>
          </p:cNvSpPr>
          <p:nvPr>
            <p:ph type="sldNum" sz="quarter" idx="12"/>
          </p:nvPr>
        </p:nvSpPr>
        <p:spPr/>
        <p:txBody>
          <a:bodyPr/>
          <a:lstStyle/>
          <a:p>
            <a:fld id="{65A14E20-BA2A-43FD-BB4B-65CF80A0D6DA}" type="slidenum">
              <a:rPr lang="en-GB" altLang="sr-Latn-RS" smtClean="0"/>
              <a:pPr/>
              <a:t>49</a:t>
            </a:fld>
            <a:endParaRPr lang="en-GB" altLang="sr-Latn-RS"/>
          </a:p>
        </p:txBody>
      </p:sp>
    </p:spTree>
    <p:extLst>
      <p:ext uri="{BB962C8B-B14F-4D97-AF65-F5344CB8AC3E}">
        <p14:creationId xmlns:p14="http://schemas.microsoft.com/office/powerpoint/2010/main" val="2566674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2">
            <a:extLst>
              <a:ext uri="{FF2B5EF4-FFF2-40B4-BE49-F238E27FC236}">
                <a16:creationId xmlns:a16="http://schemas.microsoft.com/office/drawing/2014/main" id="{1F8CAA11-5BA0-4621-AF7A-1DB7059F4D9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58E84AFA-9769-4F59-BF36-A2AD60A7A50A}"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28675" name="Text Box 12">
            <a:extLst>
              <a:ext uri="{FF2B5EF4-FFF2-40B4-BE49-F238E27FC236}">
                <a16:creationId xmlns:a16="http://schemas.microsoft.com/office/drawing/2014/main" id="{1352C7A4-2A38-400B-AF32-D54932B36789}"/>
              </a:ext>
            </a:extLst>
          </p:cNvPr>
          <p:cNvSpPr txBox="1">
            <a:spLocks noChangeArrowheads="1"/>
          </p:cNvSpPr>
          <p:nvPr/>
        </p:nvSpPr>
        <p:spPr bwMode="auto">
          <a:xfrm>
            <a:off x="539750" y="1484313"/>
            <a:ext cx="792003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marL="0" indent="0" algn="just" eaLnBrk="1" hangingPunct="1">
              <a:spcBef>
                <a:spcPct val="50000"/>
              </a:spcBef>
              <a:buClrTx/>
              <a:buSzTx/>
              <a:buNone/>
            </a:pPr>
            <a:r>
              <a:rPr lang="hr-HR" altLang="sr-Latn-RS" sz="2000" dirty="0">
                <a:latin typeface="Arial" panose="020B0604020202020204" pitchFamily="34" charset="0"/>
                <a:cs typeface="Arial" panose="020B0604020202020204" pitchFamily="34" charset="0"/>
              </a:rPr>
              <a:t>Ispunjavanje trokuta?</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Za svaki piksel provode se testovi sa 3 jednadžbe rubova</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Ako su sva tri testa prošla -&gt; crtaj piksel</a:t>
            </a:r>
          </a:p>
        </p:txBody>
      </p:sp>
      <p:sp>
        <p:nvSpPr>
          <p:cNvPr id="28676" name="Rectangle 2">
            <a:extLst>
              <a:ext uri="{FF2B5EF4-FFF2-40B4-BE49-F238E27FC236}">
                <a16:creationId xmlns:a16="http://schemas.microsoft.com/office/drawing/2014/main" id="{3F39BEAE-25DB-4CE1-8A6A-E1F5FB1C0942}"/>
              </a:ext>
            </a:extLst>
          </p:cNvPr>
          <p:cNvSpPr>
            <a:spLocks noGrp="1"/>
          </p:cNvSpPr>
          <p:nvPr>
            <p:ph type="title"/>
          </p:nvPr>
        </p:nvSpPr>
        <p:spPr>
          <a:xfrm>
            <a:off x="658813" y="333375"/>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A5F1A30F-6DCF-4CE2-902E-4BC924698FF4}"/>
              </a:ext>
            </a:extLst>
          </p:cNvPr>
          <p:cNvSpPr txBox="1"/>
          <p:nvPr/>
        </p:nvSpPr>
        <p:spPr>
          <a:xfrm>
            <a:off x="395536" y="3144755"/>
            <a:ext cx="4608511" cy="3416320"/>
          </a:xfrm>
          <a:prstGeom prst="rect">
            <a:avLst/>
          </a:prstGeom>
          <a:noFill/>
        </p:spPr>
        <p:txBody>
          <a:bodyPr wrap="square" rtlCol="0">
            <a:spAutoFit/>
          </a:bodyPr>
          <a:lstStyle/>
          <a:p>
            <a:pPr marL="342900" indent="-342900">
              <a:buFont typeface="Arial" panose="020B0604020202020204" pitchFamily="34" charset="0"/>
              <a:buChar char="•"/>
            </a:pPr>
            <a:r>
              <a:rPr lang="hr-HR" dirty="0">
                <a:solidFill>
                  <a:schemeClr val="tx1"/>
                </a:solidFill>
              </a:rPr>
              <a:t>Izračunaj E</a:t>
            </a:r>
            <a:r>
              <a:rPr lang="hr-HR" baseline="-25000" dirty="0">
                <a:solidFill>
                  <a:schemeClr val="tx1"/>
                </a:solidFill>
              </a:rPr>
              <a:t>1</a:t>
            </a:r>
            <a:r>
              <a:rPr lang="hr-HR" dirty="0">
                <a:solidFill>
                  <a:schemeClr val="tx1"/>
                </a:solidFill>
              </a:rPr>
              <a:t>, E</a:t>
            </a:r>
            <a:r>
              <a:rPr lang="hr-HR" baseline="-25000" dirty="0">
                <a:solidFill>
                  <a:schemeClr val="tx1"/>
                </a:solidFill>
              </a:rPr>
              <a:t>2</a:t>
            </a:r>
            <a:r>
              <a:rPr lang="hr-HR" dirty="0">
                <a:solidFill>
                  <a:schemeClr val="tx1"/>
                </a:solidFill>
              </a:rPr>
              <a:t>, E</a:t>
            </a:r>
            <a:r>
              <a:rPr lang="hr-HR" baseline="-25000" dirty="0">
                <a:solidFill>
                  <a:schemeClr val="tx1"/>
                </a:solidFill>
              </a:rPr>
              <a:t>3</a:t>
            </a:r>
            <a:r>
              <a:rPr lang="hr-HR" dirty="0">
                <a:solidFill>
                  <a:schemeClr val="tx1"/>
                </a:solidFill>
              </a:rPr>
              <a:t> koeficijente (a</a:t>
            </a:r>
            <a:r>
              <a:rPr lang="hr-HR" baseline="-25000" dirty="0">
                <a:solidFill>
                  <a:schemeClr val="tx1"/>
                </a:solidFill>
              </a:rPr>
              <a:t>i</a:t>
            </a:r>
            <a:r>
              <a:rPr lang="hr-HR" dirty="0">
                <a:solidFill>
                  <a:schemeClr val="tx1"/>
                </a:solidFill>
              </a:rPr>
              <a:t>, b</a:t>
            </a:r>
            <a:r>
              <a:rPr lang="hr-HR" baseline="-25000" dirty="0">
                <a:solidFill>
                  <a:schemeClr val="tx1"/>
                </a:solidFill>
              </a:rPr>
              <a:t>i</a:t>
            </a:r>
            <a:r>
              <a:rPr lang="hr-HR" dirty="0">
                <a:solidFill>
                  <a:schemeClr val="tx1"/>
                </a:solidFill>
              </a:rPr>
              <a:t>, c</a:t>
            </a:r>
            <a:r>
              <a:rPr lang="hr-HR" baseline="-25000" dirty="0">
                <a:solidFill>
                  <a:schemeClr val="tx1"/>
                </a:solidFill>
              </a:rPr>
              <a:t>i</a:t>
            </a:r>
            <a:r>
              <a:rPr lang="hr-HR" dirty="0">
                <a:solidFill>
                  <a:schemeClr val="tx1"/>
                </a:solidFill>
              </a:rPr>
              <a:t>) iz projekcija vrhova trokuta</a:t>
            </a:r>
          </a:p>
          <a:p>
            <a:pPr marL="342900" indent="-342900">
              <a:buFont typeface="Arial" panose="020B0604020202020204" pitchFamily="34" charset="0"/>
              <a:buChar char="•"/>
            </a:pPr>
            <a:r>
              <a:rPr lang="hr-HR" dirty="0">
                <a:solidFill>
                  <a:schemeClr val="tx1"/>
                </a:solidFill>
                <a:sym typeface="Symbol" panose="05050102010706020507" pitchFamily="18" charset="2"/>
              </a:rPr>
              <a:t>Za svaki piksel (x,y)</a:t>
            </a:r>
          </a:p>
          <a:p>
            <a:pPr marL="800100" lvl="1" indent="-342900">
              <a:buFont typeface="Arial" panose="020B0604020202020204" pitchFamily="34" charset="0"/>
              <a:buChar char="•"/>
            </a:pPr>
            <a:r>
              <a:rPr lang="hr-HR" dirty="0">
                <a:solidFill>
                  <a:schemeClr val="tx1"/>
                </a:solidFill>
                <a:sym typeface="Symbol" panose="05050102010706020507" pitchFamily="18" charset="2"/>
              </a:rPr>
              <a:t>Evaluiraj funkcije rubova za središte piksela</a:t>
            </a:r>
          </a:p>
          <a:p>
            <a:pPr marL="800100" lvl="1" indent="-342900">
              <a:buFont typeface="Arial" panose="020B0604020202020204" pitchFamily="34" charset="0"/>
              <a:buChar char="•"/>
            </a:pPr>
            <a:r>
              <a:rPr lang="hr-HR" dirty="0">
                <a:solidFill>
                  <a:schemeClr val="tx1"/>
                </a:solidFill>
                <a:sym typeface="Symbol" panose="05050102010706020507" pitchFamily="18" charset="2"/>
              </a:rPr>
              <a:t>Ako su sve ne-negativne, piksel je unutra!</a:t>
            </a:r>
          </a:p>
          <a:p>
            <a:endParaRPr lang="hr-HR" dirty="0">
              <a:solidFill>
                <a:schemeClr val="tx1"/>
              </a:solidFill>
            </a:endParaRPr>
          </a:p>
        </p:txBody>
      </p:sp>
      <p:pic>
        <p:nvPicPr>
          <p:cNvPr id="5" name="Picture 4">
            <a:extLst>
              <a:ext uri="{FF2B5EF4-FFF2-40B4-BE49-F238E27FC236}">
                <a16:creationId xmlns:a16="http://schemas.microsoft.com/office/drawing/2014/main" id="{A4BAD3E2-B411-4F2B-82DA-A91DD0153B88}"/>
              </a:ext>
            </a:extLst>
          </p:cNvPr>
          <p:cNvPicPr>
            <a:picLocks noChangeAspect="1"/>
          </p:cNvPicPr>
          <p:nvPr/>
        </p:nvPicPr>
        <p:blipFill>
          <a:blip r:embed="rId3"/>
          <a:stretch>
            <a:fillRect/>
          </a:stretch>
        </p:blipFill>
        <p:spPr>
          <a:xfrm>
            <a:off x="4932040" y="3305704"/>
            <a:ext cx="3816424" cy="2622600"/>
          </a:xfrm>
          <a:prstGeom prst="rect">
            <a:avLst/>
          </a:prstGeom>
        </p:spPr>
      </p:pic>
      <p:sp>
        <p:nvSpPr>
          <p:cNvPr id="6" name="TextBox 5">
            <a:extLst>
              <a:ext uri="{FF2B5EF4-FFF2-40B4-BE49-F238E27FC236}">
                <a16:creationId xmlns:a16="http://schemas.microsoft.com/office/drawing/2014/main" id="{D8954418-20C7-40D3-9DFF-9357E7F4AA35}"/>
              </a:ext>
            </a:extLst>
          </p:cNvPr>
          <p:cNvSpPr txBox="1"/>
          <p:nvPr/>
        </p:nvSpPr>
        <p:spPr>
          <a:xfrm>
            <a:off x="3779912" y="6021288"/>
            <a:ext cx="4320480" cy="646331"/>
          </a:xfrm>
          <a:prstGeom prst="rect">
            <a:avLst/>
          </a:prstGeom>
          <a:noFill/>
        </p:spPr>
        <p:txBody>
          <a:bodyPr wrap="square" rtlCol="0">
            <a:spAutoFit/>
          </a:bodyPr>
          <a:lstStyle/>
          <a:p>
            <a:r>
              <a:rPr lang="hr-HR" sz="1800" dirty="0">
                <a:solidFill>
                  <a:srgbClr val="C00000"/>
                </a:solidFill>
              </a:rPr>
              <a:t>Ako je trokut mali, testiranje svih piksela znači mnogo nepotrebnih operacija…</a:t>
            </a:r>
          </a:p>
        </p:txBody>
      </p:sp>
      <p:sp>
        <p:nvSpPr>
          <p:cNvPr id="2" name="Rezervirano mjesto broja slajda 1">
            <a:extLst>
              <a:ext uri="{FF2B5EF4-FFF2-40B4-BE49-F238E27FC236}">
                <a16:creationId xmlns:a16="http://schemas.microsoft.com/office/drawing/2014/main" id="{7703C11F-4B6C-FE6B-0566-F54AAC70C4B8}"/>
              </a:ext>
            </a:extLst>
          </p:cNvPr>
          <p:cNvSpPr>
            <a:spLocks noGrp="1"/>
          </p:cNvSpPr>
          <p:nvPr>
            <p:ph type="sldNum" sz="quarter" idx="12"/>
          </p:nvPr>
        </p:nvSpPr>
        <p:spPr/>
        <p:txBody>
          <a:bodyPr/>
          <a:lstStyle/>
          <a:p>
            <a:fld id="{65A14E20-BA2A-43FD-BB4B-65CF80A0D6DA}" type="slidenum">
              <a:rPr lang="en-GB" altLang="sr-Latn-RS" smtClean="0"/>
              <a:pPr/>
              <a:t>50</a:t>
            </a:fld>
            <a:endParaRPr lang="en-GB" altLang="sr-Latn-RS"/>
          </a:p>
        </p:txBody>
      </p:sp>
    </p:spTree>
    <p:extLst>
      <p:ext uri="{BB962C8B-B14F-4D97-AF65-F5344CB8AC3E}">
        <p14:creationId xmlns:p14="http://schemas.microsoft.com/office/powerpoint/2010/main" val="23432040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2">
            <a:extLst>
              <a:ext uri="{FF2B5EF4-FFF2-40B4-BE49-F238E27FC236}">
                <a16:creationId xmlns:a16="http://schemas.microsoft.com/office/drawing/2014/main" id="{1F8CAA11-5BA0-4621-AF7A-1DB7059F4D9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B59F59AD-5C26-499B-B0AD-7467DBFE4143}"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28675" name="Text Box 12">
            <a:extLst>
              <a:ext uri="{FF2B5EF4-FFF2-40B4-BE49-F238E27FC236}">
                <a16:creationId xmlns:a16="http://schemas.microsoft.com/office/drawing/2014/main" id="{1352C7A4-2A38-400B-AF32-D54932B36789}"/>
              </a:ext>
            </a:extLst>
          </p:cNvPr>
          <p:cNvSpPr txBox="1">
            <a:spLocks noChangeArrowheads="1"/>
          </p:cNvSpPr>
          <p:nvPr/>
        </p:nvSpPr>
        <p:spPr bwMode="auto">
          <a:xfrm>
            <a:off x="539750" y="1484313"/>
            <a:ext cx="792003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marL="0" indent="0" algn="just" eaLnBrk="1" hangingPunct="1">
              <a:spcBef>
                <a:spcPct val="50000"/>
              </a:spcBef>
              <a:buClrTx/>
              <a:buSzTx/>
              <a:buNone/>
            </a:pPr>
            <a:r>
              <a:rPr lang="hr-HR" altLang="sr-Latn-RS" sz="2000" dirty="0">
                <a:latin typeface="Arial" panose="020B0604020202020204" pitchFamily="34" charset="0"/>
                <a:cs typeface="Arial" panose="020B0604020202020204" pitchFamily="34" charset="0"/>
              </a:rPr>
              <a:t>Ispunjavanje trokuta?</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Za svaki piksel provode se testovi sa 3 jednadžbe rubova</a:t>
            </a:r>
          </a:p>
          <a:p>
            <a:pPr algn="just" eaLnBrk="1" hangingPunct="1">
              <a:spcBef>
                <a:spcPct val="50000"/>
              </a:spcBef>
              <a:buClrTx/>
              <a:buSzTx/>
              <a:buFontTx/>
              <a:buChar char="•"/>
            </a:pPr>
            <a:r>
              <a:rPr lang="hr-HR" altLang="sr-Latn-RS" sz="2000" dirty="0">
                <a:latin typeface="Arial" panose="020B0604020202020204" pitchFamily="34" charset="0"/>
                <a:cs typeface="Arial" panose="020B0604020202020204" pitchFamily="34" charset="0"/>
              </a:rPr>
              <a:t>Ako su sva tri testa prošla -&gt; crtaj piksel</a:t>
            </a:r>
          </a:p>
        </p:txBody>
      </p:sp>
      <p:sp>
        <p:nvSpPr>
          <p:cNvPr id="28676" name="Rectangle 2">
            <a:extLst>
              <a:ext uri="{FF2B5EF4-FFF2-40B4-BE49-F238E27FC236}">
                <a16:creationId xmlns:a16="http://schemas.microsoft.com/office/drawing/2014/main" id="{3F39BEAE-25DB-4CE1-8A6A-E1F5FB1C0942}"/>
              </a:ext>
            </a:extLst>
          </p:cNvPr>
          <p:cNvSpPr>
            <a:spLocks noGrp="1"/>
          </p:cNvSpPr>
          <p:nvPr>
            <p:ph type="title"/>
          </p:nvPr>
        </p:nvSpPr>
        <p:spPr>
          <a:xfrm>
            <a:off x="658813" y="333375"/>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A5F1A30F-6DCF-4CE2-902E-4BC924698FF4}"/>
              </a:ext>
            </a:extLst>
          </p:cNvPr>
          <p:cNvSpPr txBox="1"/>
          <p:nvPr/>
        </p:nvSpPr>
        <p:spPr>
          <a:xfrm>
            <a:off x="395536" y="3144755"/>
            <a:ext cx="4608511" cy="2677656"/>
          </a:xfrm>
          <a:prstGeom prst="rect">
            <a:avLst/>
          </a:prstGeom>
          <a:noFill/>
        </p:spPr>
        <p:txBody>
          <a:bodyPr wrap="square" rtlCol="0">
            <a:spAutoFit/>
          </a:bodyPr>
          <a:lstStyle/>
          <a:p>
            <a:pPr marL="342900" indent="-342900">
              <a:buFont typeface="Arial" panose="020B0604020202020204" pitchFamily="34" charset="0"/>
              <a:buChar char="•"/>
            </a:pPr>
            <a:r>
              <a:rPr lang="hr-HR" dirty="0">
                <a:solidFill>
                  <a:schemeClr val="tx1"/>
                </a:solidFill>
              </a:rPr>
              <a:t>Poboljšanje: skeniraj samo piksele koji su u </a:t>
            </a:r>
            <a:r>
              <a:rPr lang="hr-HR" i="1" dirty="0">
                <a:solidFill>
                  <a:schemeClr val="tx1"/>
                </a:solidFill>
              </a:rPr>
              <a:t>screen bounding box</a:t>
            </a:r>
            <a:r>
              <a:rPr lang="hr-HR" dirty="0">
                <a:solidFill>
                  <a:schemeClr val="tx1"/>
                </a:solidFill>
              </a:rPr>
              <a:t> trokuta (okvir trokuta – </a:t>
            </a:r>
            <a:r>
              <a:rPr lang="hr-HR" i="1" dirty="0">
                <a:solidFill>
                  <a:schemeClr val="tx1"/>
                </a:solidFill>
              </a:rPr>
              <a:t>okt</a:t>
            </a:r>
            <a:r>
              <a:rPr lang="hr-HR" dirty="0">
                <a:solidFill>
                  <a:schemeClr val="tx1"/>
                </a:solidFill>
              </a:rPr>
              <a:t>)</a:t>
            </a:r>
          </a:p>
          <a:p>
            <a:pPr marL="342900" indent="-342900">
              <a:buFont typeface="Arial" panose="020B0604020202020204" pitchFamily="34" charset="0"/>
              <a:buChar char="•"/>
            </a:pPr>
            <a:r>
              <a:rPr lang="hr-HR" dirty="0">
                <a:solidFill>
                  <a:schemeClr val="tx1"/>
                </a:solidFill>
                <a:sym typeface="Symbol" panose="05050102010706020507" pitchFamily="18" charset="2"/>
              </a:rPr>
              <a:t>Kako definiramo </a:t>
            </a:r>
            <a:r>
              <a:rPr lang="hr-HR" i="1" dirty="0">
                <a:solidFill>
                  <a:schemeClr val="tx1"/>
                </a:solidFill>
                <a:sym typeface="Symbol" panose="05050102010706020507" pitchFamily="18" charset="2"/>
              </a:rPr>
              <a:t>okt</a:t>
            </a:r>
            <a:r>
              <a:rPr lang="hr-HR" dirty="0">
                <a:solidFill>
                  <a:schemeClr val="tx1"/>
                </a:solidFill>
                <a:sym typeface="Symbol" panose="05050102010706020507" pitchFamily="18" charset="2"/>
              </a:rPr>
              <a:t> ?</a:t>
            </a:r>
          </a:p>
          <a:p>
            <a:pPr marL="800100" lvl="1" indent="-342900">
              <a:buFont typeface="Arial" panose="020B0604020202020204" pitchFamily="34" charset="0"/>
              <a:buChar char="•"/>
            </a:pPr>
            <a:r>
              <a:rPr lang="hr-HR" dirty="0">
                <a:solidFill>
                  <a:schemeClr val="tx1"/>
                </a:solidFill>
                <a:sym typeface="Symbol" panose="05050102010706020507" pitchFamily="18" charset="2"/>
              </a:rPr>
              <a:t>x</a:t>
            </a:r>
            <a:r>
              <a:rPr lang="hr-HR" baseline="-25000" dirty="0">
                <a:solidFill>
                  <a:schemeClr val="tx1"/>
                </a:solidFill>
                <a:sym typeface="Symbol" panose="05050102010706020507" pitchFamily="18" charset="2"/>
              </a:rPr>
              <a:t>min</a:t>
            </a:r>
            <a:r>
              <a:rPr lang="hr-HR" dirty="0">
                <a:solidFill>
                  <a:schemeClr val="tx1"/>
                </a:solidFill>
                <a:sym typeface="Symbol" panose="05050102010706020507" pitchFamily="18" charset="2"/>
              </a:rPr>
              <a:t>, x</a:t>
            </a:r>
            <a:r>
              <a:rPr lang="hr-HR" baseline="-25000" dirty="0">
                <a:solidFill>
                  <a:schemeClr val="tx1"/>
                </a:solidFill>
                <a:sym typeface="Symbol" panose="05050102010706020507" pitchFamily="18" charset="2"/>
              </a:rPr>
              <a:t>max</a:t>
            </a:r>
            <a:r>
              <a:rPr lang="hr-HR" dirty="0">
                <a:solidFill>
                  <a:schemeClr val="tx1"/>
                </a:solidFill>
                <a:sym typeface="Symbol" panose="05050102010706020507" pitchFamily="18" charset="2"/>
              </a:rPr>
              <a:t>, y</a:t>
            </a:r>
            <a:r>
              <a:rPr lang="hr-HR" baseline="-25000" dirty="0">
                <a:solidFill>
                  <a:schemeClr val="tx1"/>
                </a:solidFill>
                <a:sym typeface="Symbol" panose="05050102010706020507" pitchFamily="18" charset="2"/>
              </a:rPr>
              <a:t>min</a:t>
            </a:r>
            <a:r>
              <a:rPr lang="hr-HR" dirty="0">
                <a:solidFill>
                  <a:schemeClr val="tx1"/>
                </a:solidFill>
                <a:sym typeface="Symbol" panose="05050102010706020507" pitchFamily="18" charset="2"/>
              </a:rPr>
              <a:t>, y</a:t>
            </a:r>
            <a:r>
              <a:rPr lang="hr-HR" baseline="-25000" dirty="0">
                <a:solidFill>
                  <a:schemeClr val="tx1"/>
                </a:solidFill>
                <a:sym typeface="Symbol" panose="05050102010706020507" pitchFamily="18" charset="2"/>
              </a:rPr>
              <a:t>max</a:t>
            </a:r>
            <a:r>
              <a:rPr lang="hr-HR" dirty="0">
                <a:solidFill>
                  <a:schemeClr val="tx1"/>
                </a:solidFill>
                <a:sym typeface="Symbol" panose="05050102010706020507" pitchFamily="18" charset="2"/>
              </a:rPr>
              <a:t> projiciranih vrhova trokuta</a:t>
            </a:r>
          </a:p>
          <a:p>
            <a:pPr lvl="1"/>
            <a:endParaRPr lang="hr-HR" dirty="0">
              <a:solidFill>
                <a:schemeClr val="tx1"/>
              </a:solidFill>
              <a:sym typeface="Symbol" panose="05050102010706020507" pitchFamily="18" charset="2"/>
            </a:endParaRPr>
          </a:p>
        </p:txBody>
      </p:sp>
      <p:pic>
        <p:nvPicPr>
          <p:cNvPr id="3" name="Picture 2">
            <a:extLst>
              <a:ext uri="{FF2B5EF4-FFF2-40B4-BE49-F238E27FC236}">
                <a16:creationId xmlns:a16="http://schemas.microsoft.com/office/drawing/2014/main" id="{314FD759-9874-485B-AF65-9A9BE629CB76}"/>
              </a:ext>
            </a:extLst>
          </p:cNvPr>
          <p:cNvPicPr>
            <a:picLocks noChangeAspect="1"/>
          </p:cNvPicPr>
          <p:nvPr/>
        </p:nvPicPr>
        <p:blipFill>
          <a:blip r:embed="rId3"/>
          <a:stretch>
            <a:fillRect/>
          </a:stretch>
        </p:blipFill>
        <p:spPr>
          <a:xfrm>
            <a:off x="4953242" y="3249432"/>
            <a:ext cx="3939238" cy="2561134"/>
          </a:xfrm>
          <a:prstGeom prst="rect">
            <a:avLst/>
          </a:prstGeom>
        </p:spPr>
      </p:pic>
      <p:sp>
        <p:nvSpPr>
          <p:cNvPr id="4" name="TextBox 3">
            <a:extLst>
              <a:ext uri="{FF2B5EF4-FFF2-40B4-BE49-F238E27FC236}">
                <a16:creationId xmlns:a16="http://schemas.microsoft.com/office/drawing/2014/main" id="{0E7F5B6B-9D73-4A1A-88F9-700DA8308AA3}"/>
              </a:ext>
            </a:extLst>
          </p:cNvPr>
          <p:cNvSpPr txBox="1"/>
          <p:nvPr/>
        </p:nvSpPr>
        <p:spPr>
          <a:xfrm>
            <a:off x="395536" y="5733256"/>
            <a:ext cx="7200800" cy="830997"/>
          </a:xfrm>
          <a:prstGeom prst="rect">
            <a:avLst/>
          </a:prstGeom>
          <a:noFill/>
        </p:spPr>
        <p:txBody>
          <a:bodyPr wrap="square" rtlCol="0">
            <a:spAutoFit/>
          </a:bodyPr>
          <a:lstStyle/>
          <a:p>
            <a:r>
              <a:rPr lang="hr-HR" dirty="0">
                <a:solidFill>
                  <a:schemeClr val="tx1"/>
                </a:solidFill>
                <a:sym typeface="Symbol" panose="05050102010706020507" pitchFamily="18" charset="2"/>
              </a:rPr>
              <a:t>Moguća i dodatna poboljšanja…(ispitivanje blokova piksela, redoslijed testiranja piksela,…)</a:t>
            </a:r>
          </a:p>
        </p:txBody>
      </p:sp>
      <p:sp>
        <p:nvSpPr>
          <p:cNvPr id="2" name="Rezervirano mjesto broja slajda 1">
            <a:extLst>
              <a:ext uri="{FF2B5EF4-FFF2-40B4-BE49-F238E27FC236}">
                <a16:creationId xmlns:a16="http://schemas.microsoft.com/office/drawing/2014/main" id="{3F82DD84-33F2-FC91-7A77-BCE3C0D6366B}"/>
              </a:ext>
            </a:extLst>
          </p:cNvPr>
          <p:cNvSpPr>
            <a:spLocks noGrp="1"/>
          </p:cNvSpPr>
          <p:nvPr>
            <p:ph type="sldNum" sz="quarter" idx="12"/>
          </p:nvPr>
        </p:nvSpPr>
        <p:spPr/>
        <p:txBody>
          <a:bodyPr/>
          <a:lstStyle/>
          <a:p>
            <a:fld id="{65A14E20-BA2A-43FD-BB4B-65CF80A0D6DA}" type="slidenum">
              <a:rPr lang="en-GB" altLang="sr-Latn-RS" smtClean="0"/>
              <a:pPr/>
              <a:t>51</a:t>
            </a:fld>
            <a:endParaRPr lang="en-GB" altLang="sr-Latn-RS"/>
          </a:p>
        </p:txBody>
      </p:sp>
    </p:spTree>
    <p:extLst>
      <p:ext uri="{BB962C8B-B14F-4D97-AF65-F5344CB8AC3E}">
        <p14:creationId xmlns:p14="http://schemas.microsoft.com/office/powerpoint/2010/main" val="23504037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2">
            <a:extLst>
              <a:ext uri="{FF2B5EF4-FFF2-40B4-BE49-F238E27FC236}">
                <a16:creationId xmlns:a16="http://schemas.microsoft.com/office/drawing/2014/main" id="{1F8CAA11-5BA0-4621-AF7A-1DB7059F4D9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50000"/>
              </a:spcBef>
              <a:buClrTx/>
              <a:buSzTx/>
              <a:buFontTx/>
              <a:buNone/>
            </a:pPr>
            <a:fld id="{55BB2ABC-D9E1-4599-B609-45EBD6CE617F}" type="datetime1">
              <a:rPr lang="hr-HR" altLang="sr-Latn-RS" sz="1400" smtClean="0">
                <a:latin typeface="Times New Roman" panose="02020603050405020304" pitchFamily="18" charset="0"/>
              </a:rPr>
              <a:t>6.11.2025.</a:t>
            </a:fld>
            <a:endParaRPr lang="en-GB" altLang="sr-Latn-RS" sz="1400">
              <a:latin typeface="Times New Roman" panose="02020603050405020304" pitchFamily="18" charset="0"/>
            </a:endParaRPr>
          </a:p>
        </p:txBody>
      </p:sp>
      <p:sp>
        <p:nvSpPr>
          <p:cNvPr id="28675" name="Text Box 12">
            <a:extLst>
              <a:ext uri="{FF2B5EF4-FFF2-40B4-BE49-F238E27FC236}">
                <a16:creationId xmlns:a16="http://schemas.microsoft.com/office/drawing/2014/main" id="{1352C7A4-2A38-400B-AF32-D54932B36789}"/>
              </a:ext>
            </a:extLst>
          </p:cNvPr>
          <p:cNvSpPr txBox="1">
            <a:spLocks noChangeArrowheads="1"/>
          </p:cNvSpPr>
          <p:nvPr/>
        </p:nvSpPr>
        <p:spPr bwMode="auto">
          <a:xfrm>
            <a:off x="539750" y="1484313"/>
            <a:ext cx="7920038"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50000"/>
              </a:spcBef>
              <a:buClrTx/>
              <a:buSzTx/>
              <a:buFontTx/>
              <a:buChar char="•"/>
            </a:pPr>
            <a:r>
              <a:rPr lang="hr-HR" altLang="sr-Latn-RS" sz="2000">
                <a:latin typeface="Arial" panose="020B0604020202020204" pitchFamily="34" charset="0"/>
                <a:cs typeface="Arial" panose="020B0604020202020204" pitchFamily="34" charset="0"/>
              </a:rPr>
              <a:t>U slučaju ispunjavanja primitivnog oblika </a:t>
            </a:r>
            <a:r>
              <a:rPr lang="hr-HR" altLang="sr-Latn-RS" sz="2000">
                <a:solidFill>
                  <a:srgbClr val="0070C0"/>
                </a:solidFill>
                <a:latin typeface="Arial" panose="020B0604020202020204" pitchFamily="34" charset="0"/>
                <a:cs typeface="Arial" panose="020B0604020202020204" pitchFamily="34" charset="0"/>
              </a:rPr>
              <a:t>uzorkom</a:t>
            </a:r>
            <a:r>
              <a:rPr lang="hr-HR" altLang="sr-Latn-RS" sz="2000">
                <a:latin typeface="Arial" panose="020B0604020202020204" pitchFamily="34" charset="0"/>
                <a:cs typeface="Arial" panose="020B0604020202020204" pitchFamily="34" charset="0"/>
              </a:rPr>
              <a:t> algoritam se upotpunjuje dijelom koji upravlja izborom vrijednosti pojedinog piksela. </a:t>
            </a:r>
          </a:p>
          <a:p>
            <a:pPr algn="just" eaLnBrk="1" hangingPunct="1">
              <a:spcBef>
                <a:spcPct val="50000"/>
              </a:spcBef>
              <a:buClrTx/>
              <a:buSzTx/>
              <a:buFontTx/>
              <a:buChar char="•"/>
            </a:pPr>
            <a:r>
              <a:rPr lang="hr-HR" altLang="sr-Latn-RS" sz="2000">
                <a:latin typeface="Arial" panose="020B0604020202020204" pitchFamily="34" charset="0"/>
                <a:cs typeface="Arial" panose="020B0604020202020204" pitchFamily="34" charset="0"/>
              </a:rPr>
              <a:t>Vrijednosti pojedinih piksela preuzimaju se određenim redoslijedom iz dijela memorije u kojem je definiran uzorak.</a:t>
            </a:r>
          </a:p>
        </p:txBody>
      </p:sp>
      <p:sp>
        <p:nvSpPr>
          <p:cNvPr id="28676" name="Rectangle 2">
            <a:extLst>
              <a:ext uri="{FF2B5EF4-FFF2-40B4-BE49-F238E27FC236}">
                <a16:creationId xmlns:a16="http://schemas.microsoft.com/office/drawing/2014/main" id="{3F39BEAE-25DB-4CE1-8A6A-E1F5FB1C0942}"/>
              </a:ext>
            </a:extLst>
          </p:cNvPr>
          <p:cNvSpPr>
            <a:spLocks noGrp="1"/>
          </p:cNvSpPr>
          <p:nvPr>
            <p:ph type="title"/>
          </p:nvPr>
        </p:nvSpPr>
        <p:spPr>
          <a:xfrm>
            <a:off x="658813" y="333375"/>
            <a:ext cx="7772400" cy="990600"/>
          </a:xfrm>
        </p:spPr>
        <p:txBody>
          <a:bodyPr/>
          <a:lstStyle/>
          <a:p>
            <a:pPr eaLnBrk="1" hangingPunct="1"/>
            <a:r>
              <a:rPr lang="hr-HR" altLang="sr-Latn-RS" sz="2800" b="1">
                <a:solidFill>
                  <a:schemeClr val="tx1"/>
                </a:solidFill>
                <a:latin typeface="Arial" panose="020B0604020202020204" pitchFamily="34" charset="0"/>
                <a:cs typeface="Arial" panose="020B0604020202020204" pitchFamily="34" charset="0"/>
              </a:rPr>
              <a:t>Ispunjavanje primitivnih oblika</a:t>
            </a:r>
            <a:endParaRPr lang="en-GB" altLang="sr-Latn-RS" sz="2800" b="1">
              <a:solidFill>
                <a:schemeClr val="tx1"/>
              </a:solidFill>
              <a:latin typeface="Arial" panose="020B0604020202020204" pitchFamily="34" charset="0"/>
              <a:cs typeface="Arial" panose="020B0604020202020204" pitchFamily="34" charset="0"/>
            </a:endParaRPr>
          </a:p>
        </p:txBody>
      </p:sp>
      <p:sp>
        <p:nvSpPr>
          <p:cNvPr id="2" name="Rezervirano mjesto broja slajda 1">
            <a:extLst>
              <a:ext uri="{FF2B5EF4-FFF2-40B4-BE49-F238E27FC236}">
                <a16:creationId xmlns:a16="http://schemas.microsoft.com/office/drawing/2014/main" id="{0DA5A462-5AA8-D2CF-8067-1691AF4997C4}"/>
              </a:ext>
            </a:extLst>
          </p:cNvPr>
          <p:cNvSpPr>
            <a:spLocks noGrp="1"/>
          </p:cNvSpPr>
          <p:nvPr>
            <p:ph type="sldNum" sz="quarter" idx="12"/>
          </p:nvPr>
        </p:nvSpPr>
        <p:spPr/>
        <p:txBody>
          <a:bodyPr/>
          <a:lstStyle/>
          <a:p>
            <a:fld id="{65A14E20-BA2A-43FD-BB4B-65CF80A0D6DA}" type="slidenum">
              <a:rPr lang="en-GB" altLang="sr-Latn-RS" smtClean="0"/>
              <a:pPr/>
              <a:t>52</a:t>
            </a:fld>
            <a:endParaRPr lang="en-GB" altLang="sr-Latn-RS"/>
          </a:p>
        </p:txBody>
      </p:sp>
    </p:spTree>
    <p:extLst>
      <p:ext uri="{BB962C8B-B14F-4D97-AF65-F5344CB8AC3E}">
        <p14:creationId xmlns:p14="http://schemas.microsoft.com/office/powerpoint/2010/main" val="42141885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5"/>
</p:tagLst>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1983</TotalTime>
  <Words>3209</Words>
  <Application>Microsoft Office PowerPoint</Application>
  <PresentationFormat>Prikaz na zaslonu (4:3)</PresentationFormat>
  <Paragraphs>560</Paragraphs>
  <Slides>52</Slides>
  <Notes>42</Notes>
  <HiddenSlides>5</HiddenSlides>
  <MMClips>0</MMClips>
  <ScaleCrop>false</ScaleCrop>
  <HeadingPairs>
    <vt:vector size="8" baseType="variant">
      <vt:variant>
        <vt:lpstr>Korišteni fontovi</vt:lpstr>
      </vt:variant>
      <vt:variant>
        <vt:i4>8</vt:i4>
      </vt:variant>
      <vt:variant>
        <vt:lpstr>Tema</vt:lpstr>
      </vt:variant>
      <vt:variant>
        <vt:i4>1</vt:i4>
      </vt:variant>
      <vt:variant>
        <vt:lpstr>Uloženi OLE poslužitelji</vt:lpstr>
      </vt:variant>
      <vt:variant>
        <vt:i4>2</vt:i4>
      </vt:variant>
      <vt:variant>
        <vt:lpstr>Naslovi slajdova</vt:lpstr>
      </vt:variant>
      <vt:variant>
        <vt:i4>52</vt:i4>
      </vt:variant>
    </vt:vector>
  </HeadingPairs>
  <TitlesOfParts>
    <vt:vector size="63" baseType="lpstr">
      <vt:lpstr>Arial</vt:lpstr>
      <vt:lpstr>Calibri</vt:lpstr>
      <vt:lpstr>Calibri Light</vt:lpstr>
      <vt:lpstr>Cambria Math</vt:lpstr>
      <vt:lpstr>Courier New</vt:lpstr>
      <vt:lpstr>Franklin Gothic Book</vt:lpstr>
      <vt:lpstr>Symbol</vt:lpstr>
      <vt:lpstr>Times New Roman</vt:lpstr>
      <vt:lpstr>Tema sustava Office</vt:lpstr>
      <vt:lpstr>Equation</vt:lpstr>
      <vt:lpstr>Equation.3</vt:lpstr>
      <vt:lpstr>Računalna grafika</vt:lpstr>
      <vt:lpstr>2D Cohen – Sutherland algoritam odrezivanja (dodatak s prošlog predavanja) </vt:lpstr>
      <vt:lpstr>3D Cohen-Sutherland algoritam odrezivanja</vt:lpstr>
      <vt:lpstr>3D Cohen-Sutherland algoritam odrezivanja</vt:lpstr>
      <vt:lpstr>3D Cohen-Sutherland algoritam odrezivanja</vt:lpstr>
      <vt:lpstr>3D Cohen-Sutherland algoritam odrezivanja</vt:lpstr>
      <vt:lpstr>3D Cohen-Sutherland algoritam odrezivanja</vt:lpstr>
      <vt:lpstr>3D Cohen-Sutherland algoritam odrezivanja</vt:lpstr>
      <vt:lpstr>3D Cohen-Sutherland algoritam odrezivanja</vt:lpstr>
      <vt:lpstr>3D Cohen-Sutherland algoritam odrezivanja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PowerPoint prezentacija</vt:lpstr>
      <vt:lpstr>Ispunjavanje primitivnih oblika</vt:lpstr>
      <vt:lpstr>Ispunjavanje primitivnih oblika</vt:lpstr>
      <vt:lpstr>Ispunjavanje primitivnih oblika</vt:lpstr>
      <vt:lpstr>Ispunjavanje primitivnih oblika</vt:lpstr>
      <vt:lpstr>Ispunjavanje primitivnih oblika</vt:lpstr>
      <vt:lpstr>Ispunjavanje primitivnih oblika</vt:lpstr>
      <vt:lpstr>Ispunjavanje primitivnih oblika</vt:lpstr>
      <vt:lpstr>Ispunjavanje primitivnih oblika</vt:lpstr>
      <vt:lpstr>Ispunjavanje primitivnih oblika</vt:lpstr>
      <vt:lpstr>Ispunjavanje primitivnih oblika</vt:lpstr>
      <vt:lpstr>Ispunjavanje primitivnih oblika</vt:lpstr>
      <vt:lpstr>Ispunjavanje primitivnih oblika</vt:lpstr>
      <vt:lpstr>Ispunjavanje primitivnih oblika</vt:lpstr>
      <vt:lpstr>Ispunjavanje primitivnih oblika</vt:lpstr>
      <vt:lpstr>Ispunjavanje primitivnih oblika</vt:lpstr>
    </vt:vector>
  </TitlesOfParts>
  <Company>University of Edinburgh, Division of Informatics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Graphics</dc:title>
  <dc:creator>McKenzie</dc:creator>
  <cp:lastModifiedBy>Vladan Papić</cp:lastModifiedBy>
  <cp:revision>475</cp:revision>
  <dcterms:created xsi:type="dcterms:W3CDTF">2000-10-04T12:12:17Z</dcterms:created>
  <dcterms:modified xsi:type="dcterms:W3CDTF">2025-11-06T13:49:48Z</dcterms:modified>
</cp:coreProperties>
</file>